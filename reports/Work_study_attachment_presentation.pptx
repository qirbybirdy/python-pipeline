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9" r:id="rId4"/>
    <p:sldId id="274" r:id="rId5"/>
    <p:sldId id="268" r:id="rId6"/>
    <p:sldId id="276" r:id="rId7"/>
    <p:sldId id="277" r:id="rId8"/>
    <p:sldId id="264" r:id="rId9"/>
    <p:sldId id="265" r:id="rId10"/>
    <p:sldId id="266" r:id="rId11"/>
    <p:sldId id="267" r:id="rId12"/>
    <p:sldId id="270" r:id="rId13"/>
    <p:sldId id="260" r:id="rId14"/>
    <p:sldId id="261" r:id="rId15"/>
    <p:sldId id="262" r:id="rId16"/>
    <p:sldId id="275" r:id="rId17"/>
    <p:sldId id="271" r:id="rId18"/>
    <p:sldId id="272" r:id="rId19"/>
    <p:sldId id="273"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33" d="100"/>
          <a:sy n="33" d="100"/>
        </p:scale>
        <p:origin x="-54" y="348"/>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727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config.py/"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visualize.py/" TargetMode="External"/><Relationship Id="rId4" Type="http://schemas.openxmlformats.org/officeDocument/2006/relationships/hyperlink" Target="http://ingest.py/"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clean.py/"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placement, and the two-week window this deck covers.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Slide 1: The panel wanted to see if I could take messy, raw data from a real survey and clean it. I was given the Guyana </a:t>
            </a:r>
            <a:r>
              <a:rPr lang="en-US" sz="1200" b="0" i="0" u="none" strike="noStrike" kern="1200" dirty="0" err="1">
                <a:solidFill>
                  <a:schemeClr val="tx1"/>
                </a:solidFill>
                <a:effectLst/>
                <a:latin typeface="+mn-lt"/>
                <a:ea typeface="+mn-ea"/>
                <a:cs typeface="+mn-cs"/>
              </a:rPr>
              <a:t>Labour</a:t>
            </a:r>
            <a:r>
              <a:rPr lang="en-US" sz="1200" b="0" i="0" u="none" strike="noStrike" kern="1200" dirty="0">
                <a:solidFill>
                  <a:schemeClr val="tx1"/>
                </a:solidFill>
                <a:effectLst/>
                <a:latin typeface="+mn-lt"/>
                <a:ea typeface="+mn-ea"/>
                <a:cs typeface="+mn-cs"/>
              </a:rPr>
              <a:t> Force Survey (2017, Quarter 4) and the data was split into two tracks...</a:t>
            </a:r>
            <a:r>
              <a:rPr lang="en-US" sz="1200" b="0" i="0" u="none" strike="noStrike" kern="1200" dirty="0" err="1">
                <a:solidFill>
                  <a:schemeClr val="tx1"/>
                </a:solidFill>
                <a:effectLst/>
                <a:latin typeface="+mn-lt"/>
                <a:ea typeface="+mn-ea"/>
                <a:cs typeface="+mn-cs"/>
              </a:rPr>
              <a:t>ind</a:t>
            </a:r>
            <a:r>
              <a:rPr lang="en-US" sz="1200" b="0" i="0" u="none" strike="noStrike" kern="1200" dirty="0">
                <a:solidFill>
                  <a:schemeClr val="tx1"/>
                </a:solidFill>
                <a:effectLst/>
                <a:latin typeface="+mn-lt"/>
                <a:ea typeface="+mn-ea"/>
                <a:cs typeface="+mn-cs"/>
              </a:rPr>
              <a:t> (individual data with 175 columns) and </a:t>
            </a:r>
            <a:r>
              <a:rPr lang="en-US" sz="1200" b="0" i="0" u="none" strike="noStrike" kern="1200" dirty="0" err="1">
                <a:solidFill>
                  <a:schemeClr val="tx1"/>
                </a:solidFill>
                <a:effectLst/>
                <a:latin typeface="+mn-lt"/>
                <a:ea typeface="+mn-ea"/>
                <a:cs typeface="+mn-cs"/>
              </a:rPr>
              <a:t>emig</a:t>
            </a:r>
            <a:r>
              <a:rPr lang="en-US" sz="1200" b="0" i="0" u="none" strike="noStrike" kern="1200" dirty="0">
                <a:solidFill>
                  <a:schemeClr val="tx1"/>
                </a:solidFill>
                <a:effectLst/>
                <a:latin typeface="+mn-lt"/>
                <a:ea typeface="+mn-ea"/>
                <a:cs typeface="+mn-cs"/>
              </a:rPr>
              <a:t> (emigration module data with 28 columns). They were to be cleaned separately and never merged together in this phase. The goal was to write a command that runs all cleaning steps in the correct order automatically and at every stage of the process, recording/logging before and after it runs. This phase would stop once I made a list of problems found in the data (a problem inventory) and actual cleaning would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pipeline build.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pPr rtl="0"/>
            <a:r>
              <a:rPr lang="en-US" sz="1200" b="0" i="0" u="none" strike="noStrike" kern="1200" dirty="0">
                <a:solidFill>
                  <a:schemeClr val="tx1"/>
                </a:solidFill>
                <a:effectLst/>
                <a:latin typeface="+mn-lt"/>
                <a:ea typeface="+mn-ea"/>
                <a:cs typeface="+mn-cs"/>
              </a:rPr>
              <a:t>I started a code repository on </a:t>
            </a:r>
            <a:r>
              <a:rPr lang="en-US" sz="1200" b="0" i="0" u="none" strike="noStrike" kern="1200" dirty="0" err="1">
                <a:solidFill>
                  <a:schemeClr val="tx1"/>
                </a:solidFill>
                <a:effectLst/>
                <a:latin typeface="+mn-lt"/>
                <a:ea typeface="+mn-ea"/>
                <a:cs typeface="+mn-cs"/>
              </a:rPr>
              <a:t>Github</a:t>
            </a:r>
            <a:r>
              <a:rPr lang="en-US" sz="1200" b="0" i="0" u="none" strike="noStrike" kern="1200" dirty="0">
                <a:solidFill>
                  <a:schemeClr val="tx1"/>
                </a:solidFill>
                <a:effectLst/>
                <a:latin typeface="+mn-lt"/>
                <a:ea typeface="+mn-ea"/>
                <a:cs typeface="+mn-cs"/>
              </a:rPr>
              <a:t> and </a:t>
            </a:r>
            <a:r>
              <a:rPr lang="en-US" sz="1200" b="0" i="0" u="none" strike="noStrike" kern="1200" dirty="0" err="1">
                <a:solidFill>
                  <a:schemeClr val="tx1"/>
                </a:solidFill>
                <a:effectLst/>
                <a:latin typeface="+mn-lt"/>
                <a:ea typeface="+mn-ea"/>
                <a:cs typeface="+mn-cs"/>
              </a:rPr>
              <a:t>organised</a:t>
            </a:r>
            <a:r>
              <a:rPr lang="en-US" sz="1200" b="0" i="0" u="none" strike="noStrike" kern="1200" dirty="0">
                <a:solidFill>
                  <a:schemeClr val="tx1"/>
                </a:solidFill>
                <a:effectLst/>
                <a:latin typeface="+mn-lt"/>
                <a:ea typeface="+mn-ea"/>
                <a:cs typeface="+mn-cs"/>
              </a:rPr>
              <a:t> my workspace into three clear folders ( Data, Scripts and Outputs). Then I created a </a:t>
            </a:r>
            <a:r>
              <a:rPr lang="en-US" sz="1200" b="0" i="0" u="sng" kern="1200" dirty="0">
                <a:solidFill>
                  <a:schemeClr val="tx1"/>
                </a:solidFill>
                <a:effectLst/>
                <a:latin typeface="+mn-lt"/>
                <a:ea typeface="+mn-ea"/>
                <a:cs typeface="+mn-cs"/>
                <a:hlinkClick r:id="rId3"/>
              </a:rPr>
              <a:t>config.py</a:t>
            </a:r>
            <a:r>
              <a:rPr lang="en-US" sz="1200" b="0" i="0" u="none" strike="noStrike" kern="1200" dirty="0">
                <a:solidFill>
                  <a:schemeClr val="tx1"/>
                </a:solidFill>
                <a:effectLst/>
                <a:latin typeface="+mn-lt"/>
                <a:ea typeface="+mn-ea"/>
                <a:cs typeface="+mn-cs"/>
              </a:rPr>
              <a:t> to keep all file paths </a:t>
            </a:r>
            <a:r>
              <a:rPr lang="en-US" sz="1200" b="0" i="0" u="none" strike="noStrike" kern="1200" dirty="0" err="1">
                <a:solidFill>
                  <a:schemeClr val="tx1"/>
                </a:solidFill>
                <a:effectLst/>
                <a:latin typeface="+mn-lt"/>
                <a:ea typeface="+mn-ea"/>
                <a:cs typeface="+mn-cs"/>
              </a:rPr>
              <a:t>organised</a:t>
            </a:r>
            <a:r>
              <a:rPr lang="en-US" sz="1200" b="0" i="0" u="none" strike="noStrike" kern="1200" dirty="0">
                <a:solidFill>
                  <a:schemeClr val="tx1"/>
                </a:solidFill>
                <a:effectLst/>
                <a:latin typeface="+mn-lt"/>
                <a:ea typeface="+mn-ea"/>
                <a:cs typeface="+mn-cs"/>
              </a:rPr>
              <a:t> in one place and an </a:t>
            </a:r>
            <a:r>
              <a:rPr lang="en-US" sz="1200" b="0" i="0" u="sng" kern="1200" dirty="0">
                <a:solidFill>
                  <a:schemeClr val="tx1"/>
                </a:solidFill>
                <a:effectLst/>
                <a:latin typeface="+mn-lt"/>
                <a:ea typeface="+mn-ea"/>
                <a:cs typeface="+mn-cs"/>
                <a:hlinkClick r:id="rId4"/>
              </a:rPr>
              <a:t>ingest.py</a:t>
            </a:r>
            <a:r>
              <a:rPr lang="en-US" sz="1200" b="0" i="0" u="none" strike="noStrike" kern="1200" dirty="0">
                <a:solidFill>
                  <a:schemeClr val="tx1"/>
                </a:solidFill>
                <a:effectLst/>
                <a:latin typeface="+mn-lt"/>
                <a:ea typeface="+mn-ea"/>
                <a:cs typeface="+mn-cs"/>
              </a:rPr>
              <a:t> (with Claude) to start loading the data. I successfully recovered from a git history rewrite mistake without losing any work thanks to </a:t>
            </a:r>
            <a:r>
              <a:rPr lang="en-US" sz="1200" b="0" i="0" u="none" strike="noStrike" kern="1200" dirty="0" err="1">
                <a:solidFill>
                  <a:schemeClr val="tx1"/>
                </a:solidFill>
                <a:effectLst/>
                <a:latin typeface="+mn-lt"/>
                <a:ea typeface="+mn-ea"/>
                <a:cs typeface="+mn-cs"/>
              </a:rPr>
              <a:t>claude</a:t>
            </a:r>
            <a:r>
              <a:rPr lang="en-US" sz="1200" b="0" i="0" u="none" strike="noStrike" kern="1200" dirty="0">
                <a:solidFill>
                  <a:schemeClr val="tx1"/>
                </a:solidFill>
                <a:effectLst/>
                <a:latin typeface="+mn-lt"/>
                <a:ea typeface="+mn-ea"/>
                <a:cs typeface="+mn-cs"/>
              </a:rPr>
              <a:t> and rebuilt the folder structure cleaner halfway through the week. A breakthrough this week involved my </a:t>
            </a:r>
            <a:r>
              <a:rPr lang="en-US" sz="1200" b="0" i="0" u="sng" kern="1200" dirty="0">
                <a:solidFill>
                  <a:schemeClr val="tx1"/>
                </a:solidFill>
                <a:effectLst/>
                <a:latin typeface="+mn-lt"/>
                <a:ea typeface="+mn-ea"/>
                <a:cs typeface="+mn-cs"/>
                <a:hlinkClick r:id="rId4"/>
              </a:rPr>
              <a:t>ingest.py</a:t>
            </a:r>
            <a:r>
              <a:rPr lang="en-US" sz="1200" b="0" i="0" u="none" strike="noStrike" kern="1200" dirty="0">
                <a:solidFill>
                  <a:schemeClr val="tx1"/>
                </a:solidFill>
                <a:effectLst/>
                <a:latin typeface="+mn-lt"/>
                <a:ea typeface="+mn-ea"/>
                <a:cs typeface="+mn-cs"/>
              </a:rPr>
              <a:t> successfully figuring out the correct data types automatically, saving me from typing them manually and loading the dataset with zero broken or missing values (</a:t>
            </a:r>
            <a:r>
              <a:rPr lang="en-US" sz="1200" b="0" i="0" u="none" strike="noStrike" kern="1200" dirty="0" err="1">
                <a:solidFill>
                  <a:schemeClr val="tx1"/>
                </a:solidFill>
                <a:effectLst/>
                <a:latin typeface="+mn-lt"/>
                <a:ea typeface="+mn-ea"/>
                <a:cs typeface="+mn-cs"/>
              </a:rPr>
              <a:t>NaNs</a:t>
            </a:r>
            <a:r>
              <a:rPr lang="en-US" sz="1200" b="0" i="0" u="none" strike="noStrike" kern="1200" dirty="0">
                <a:solidFill>
                  <a:schemeClr val="tx1"/>
                </a:solidFill>
                <a:effectLst/>
                <a:latin typeface="+mn-lt"/>
                <a:ea typeface="+mn-ea"/>
                <a:cs typeface="+mn-cs"/>
              </a:rPr>
              <a:t>)</a:t>
            </a:r>
            <a:endParaRPr lang="en-US" dirty="0">
              <a:effectLst/>
            </a:endParaRPr>
          </a:p>
          <a:p>
            <a:pPr rtl="0"/>
            <a:r>
              <a:rPr lang="en-US" sz="1200" b="0" i="0" u="none" strike="noStrike" kern="1200" dirty="0">
                <a:solidFill>
                  <a:schemeClr val="tx1"/>
                </a:solidFill>
                <a:effectLst/>
                <a:latin typeface="+mn-lt"/>
                <a:ea typeface="+mn-ea"/>
                <a:cs typeface="+mn-cs"/>
              </a:rPr>
              <a:t>I mapped out which columns were missing information and confirmed certain gaps like q1_15/16 were built-in on purpose rather than being mistakes. I searched for duplicate people and checked if age, weight or hours made sense. No duplicate people were found and unusual numbers were just hidden codes for missing data (-1). I took a baseline look at the numbers before touching anything...showing a nearly even sex split (51.1%/48.9%) and noted that employees make up 66.2% of the status. I </a:t>
            </a:r>
            <a:r>
              <a:rPr lang="en-US" sz="1200" b="0" i="0" u="none" strike="noStrike" kern="1200" dirty="0" err="1">
                <a:solidFill>
                  <a:schemeClr val="tx1"/>
                </a:solidFill>
                <a:effectLst/>
                <a:latin typeface="+mn-lt"/>
                <a:ea typeface="+mn-ea"/>
                <a:cs typeface="+mn-cs"/>
              </a:rPr>
              <a:t>realised</a:t>
            </a:r>
            <a:r>
              <a:rPr lang="en-US" sz="1200" b="0" i="0" u="none" strike="noStrike" kern="1200" dirty="0">
                <a:solidFill>
                  <a:schemeClr val="tx1"/>
                </a:solidFill>
                <a:effectLst/>
                <a:latin typeface="+mn-lt"/>
                <a:ea typeface="+mn-ea"/>
                <a:cs typeface="+mn-cs"/>
              </a:rPr>
              <a:t> the datasets do not contain real dates, category columns use text instead of numbers and all reports are generated automatically by code rather than typed by hand. The diagnostic script only reports problems and never actually changes any data values.</a:t>
            </a:r>
            <a:endParaRPr lang="en-US" dirty="0">
              <a:effectLst/>
            </a:endParaRPr>
          </a:p>
          <a:p>
            <a:pPr rtl="0"/>
            <a:r>
              <a:rPr lang="en-US" sz="1200" b="0" i="0" u="none" strike="noStrike" kern="1200" dirty="0">
                <a:solidFill>
                  <a:schemeClr val="tx1"/>
                </a:solidFill>
                <a:effectLst/>
                <a:latin typeface="+mn-lt"/>
                <a:ea typeface="+mn-ea"/>
                <a:cs typeface="+mn-cs"/>
              </a:rPr>
              <a:t>Slide 4: I used </a:t>
            </a:r>
            <a:r>
              <a:rPr lang="en-US" sz="1200" b="0" i="0" u="none" strike="noStrike" kern="1200" dirty="0" err="1">
                <a:solidFill>
                  <a:schemeClr val="tx1"/>
                </a:solidFill>
                <a:effectLst/>
                <a:latin typeface="+mn-lt"/>
                <a:ea typeface="+mn-ea"/>
                <a:cs typeface="+mn-cs"/>
              </a:rPr>
              <a:t>claude</a:t>
            </a:r>
            <a:r>
              <a:rPr lang="en-US" sz="1200" b="0" i="0" u="none" strike="noStrike" kern="1200" dirty="0">
                <a:solidFill>
                  <a:schemeClr val="tx1"/>
                </a:solidFill>
                <a:effectLst/>
                <a:latin typeface="+mn-lt"/>
                <a:ea typeface="+mn-ea"/>
                <a:cs typeface="+mn-cs"/>
              </a:rPr>
              <a:t> to create a script named </a:t>
            </a:r>
            <a:r>
              <a:rPr lang="en-US" sz="1200" b="0" i="0" u="sng" kern="1200" dirty="0">
                <a:solidFill>
                  <a:schemeClr val="tx1"/>
                </a:solidFill>
                <a:effectLst/>
                <a:latin typeface="+mn-lt"/>
                <a:ea typeface="+mn-ea"/>
                <a:cs typeface="+mn-cs"/>
                <a:hlinkClick r:id="rId5"/>
              </a:rPr>
              <a:t>visualize.py</a:t>
            </a:r>
            <a:r>
              <a:rPr lang="en-US" sz="1200" b="0" i="0" u="none" strike="noStrike" kern="1200" dirty="0">
                <a:solidFill>
                  <a:schemeClr val="tx1"/>
                </a:solidFill>
                <a:effectLst/>
                <a:latin typeface="+mn-lt"/>
                <a:ea typeface="+mn-ea"/>
                <a:cs typeface="+mn-cs"/>
              </a:rPr>
              <a:t> to create these charts directly from the core numbers, ensuring the charts and written reports never disagree or drift. Out of the 13,853 respondents, the data shows a nearly even split. Out of 13,841 respondents, it groups people into age </a:t>
            </a:r>
            <a:r>
              <a:rPr lang="en-US" sz="1200" b="0" i="0" u="none" strike="noStrike" kern="1200" dirty="0" err="1">
                <a:solidFill>
                  <a:schemeClr val="tx1"/>
                </a:solidFill>
                <a:effectLst/>
                <a:latin typeface="+mn-lt"/>
                <a:ea typeface="+mn-ea"/>
                <a:cs typeface="+mn-cs"/>
              </a:rPr>
              <a:t>brackets..showing</a:t>
            </a:r>
            <a:r>
              <a:rPr lang="en-US" sz="1200" b="0" i="0" u="none" strike="noStrike" kern="1200" dirty="0">
                <a:solidFill>
                  <a:schemeClr val="tx1"/>
                </a:solidFill>
                <a:effectLst/>
                <a:latin typeface="+mn-lt"/>
                <a:ea typeface="+mn-ea"/>
                <a:cs typeface="+mn-cs"/>
              </a:rPr>
              <a:t> the spread from children (0-14) up to seniors (65+). Out of 4,789 people with a main job, the vast majority (66.2%) are regular employees, while the rest are self employed or unpaid family workers.</a:t>
            </a:r>
            <a:endParaRPr lang="en-US" dirty="0">
              <a:effectLst/>
            </a:endParaRPr>
          </a:p>
          <a:p>
            <a:endParaRPr lang="en-US" dirty="0"/>
          </a:p>
        </p:txBody>
      </p:sp>
    </p:spTree>
    <p:extLst>
      <p:ext uri="{BB962C8B-B14F-4D97-AF65-F5344CB8AC3E}">
        <p14:creationId xmlns:p14="http://schemas.microsoft.com/office/powerpoint/2010/main" val="2027557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Slide 9: </a:t>
            </a:r>
            <a:r>
              <a:rPr lang="en-US" sz="1200" b="1" i="0" u="none" strike="noStrike" kern="1200" dirty="0">
                <a:solidFill>
                  <a:schemeClr val="tx1"/>
                </a:solidFill>
                <a:effectLst/>
                <a:latin typeface="+mn-lt"/>
                <a:ea typeface="+mn-ea"/>
                <a:cs typeface="+mn-cs"/>
              </a:rPr>
              <a:t>Age:</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12 rows</a:t>
            </a:r>
            <a:r>
              <a:rPr lang="en-US" sz="1200" b="0" i="0" u="none" strike="noStrike" kern="1200" dirty="0">
                <a:solidFill>
                  <a:schemeClr val="tx1"/>
                </a:solidFill>
                <a:effectLst/>
                <a:latin typeface="+mn-lt"/>
                <a:ea typeface="+mn-ea"/>
                <a:cs typeface="+mn-cs"/>
              </a:rPr>
              <a:t> use -1 as a hidden code meaning "don't know".</a:t>
            </a:r>
            <a:endParaRPr lang="en-US" dirty="0">
              <a:effectLst/>
            </a:endParaRPr>
          </a:p>
          <a:p>
            <a:pPr rtl="0"/>
            <a:r>
              <a:rPr lang="en-US" sz="1200" b="1" i="0" u="none" strike="noStrike" kern="1200" dirty="0">
                <a:solidFill>
                  <a:schemeClr val="tx1"/>
                </a:solidFill>
                <a:effectLst/>
                <a:latin typeface="+mn-lt"/>
                <a:ea typeface="+mn-ea"/>
                <a:cs typeface="+mn-cs"/>
              </a:rPr>
              <a:t>Hours worked:</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88 rows</a:t>
            </a:r>
            <a:r>
              <a:rPr lang="en-US" sz="1200" b="0" i="0" u="none" strike="noStrike" kern="1200" dirty="0">
                <a:solidFill>
                  <a:schemeClr val="tx1"/>
                </a:solidFill>
                <a:effectLst/>
                <a:latin typeface="+mn-lt"/>
                <a:ea typeface="+mn-ea"/>
                <a:cs typeface="+mn-cs"/>
              </a:rPr>
              <a:t> use 99 as a maximum limit code, and about </a:t>
            </a:r>
            <a:r>
              <a:rPr lang="en-US" sz="1200" b="1" i="0" u="none" strike="noStrike" kern="1200" dirty="0">
                <a:solidFill>
                  <a:schemeClr val="tx1"/>
                </a:solidFill>
                <a:effectLst/>
                <a:latin typeface="+mn-lt"/>
                <a:ea typeface="+mn-ea"/>
                <a:cs typeface="+mn-cs"/>
              </a:rPr>
              <a:t>110 rows</a:t>
            </a:r>
            <a:r>
              <a:rPr lang="en-US" sz="1200" b="0" i="0" u="none" strike="noStrike" kern="1200" dirty="0">
                <a:solidFill>
                  <a:schemeClr val="tx1"/>
                </a:solidFill>
                <a:effectLst/>
                <a:latin typeface="+mn-lt"/>
                <a:ea typeface="+mn-ea"/>
                <a:cs typeface="+mn-cs"/>
              </a:rPr>
              <a:t> use the -1 missing code across multiple columns.</a:t>
            </a:r>
            <a:endParaRPr lang="en-US" dirty="0">
              <a:effectLst/>
            </a:endParaRPr>
          </a:p>
          <a:p>
            <a:pPr rtl="0"/>
            <a:r>
              <a:rPr lang="en-US" sz="1200" b="1" i="0" u="none" strike="noStrike" kern="1200" dirty="0">
                <a:solidFill>
                  <a:schemeClr val="tx1"/>
                </a:solidFill>
                <a:effectLst/>
                <a:latin typeface="+mn-lt"/>
                <a:ea typeface="+mn-ea"/>
                <a:cs typeface="+mn-cs"/>
              </a:rPr>
              <a:t>Industry (ISIC):</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206 rows</a:t>
            </a:r>
            <a:r>
              <a:rPr lang="en-US" sz="1200" b="0" i="0" u="none" strike="noStrike" kern="1200" dirty="0">
                <a:solidFill>
                  <a:schemeClr val="tx1"/>
                </a:solidFill>
                <a:effectLst/>
                <a:latin typeface="+mn-lt"/>
                <a:ea typeface="+mn-ea"/>
                <a:cs typeface="+mn-cs"/>
              </a:rPr>
              <a:t> accidentally lost their starting zero when exported.</a:t>
            </a:r>
            <a:endParaRPr lang="en-US" dirty="0">
              <a:effectLst/>
            </a:endParaRPr>
          </a:p>
          <a:p>
            <a:pPr rtl="0"/>
            <a:r>
              <a:rPr lang="en-US" sz="1200" b="1" i="0" u="none" strike="noStrike" kern="1200" dirty="0">
                <a:solidFill>
                  <a:schemeClr val="tx1"/>
                </a:solidFill>
                <a:effectLst/>
                <a:latin typeface="+mn-lt"/>
                <a:ea typeface="+mn-ea"/>
                <a:cs typeface="+mn-cs"/>
              </a:rPr>
              <a:t>Occupation (ISCO):</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12 rows</a:t>
            </a:r>
            <a:r>
              <a:rPr lang="en-US" sz="1200" b="0" i="0" u="none" strike="noStrike" kern="1200" dirty="0">
                <a:solidFill>
                  <a:schemeClr val="tx1"/>
                </a:solidFill>
                <a:effectLst/>
                <a:latin typeface="+mn-lt"/>
                <a:ea typeface="+mn-ea"/>
                <a:cs typeface="+mn-cs"/>
              </a:rPr>
              <a:t> have the same code length issue (not 4 digits).</a:t>
            </a:r>
            <a:endParaRPr lang="en-US" dirty="0">
              <a:effectLst/>
            </a:endParaRPr>
          </a:p>
          <a:p>
            <a:pPr rtl="0"/>
            <a:r>
              <a:rPr lang="en-US" sz="1200" b="1" i="0" u="none" strike="noStrike" kern="1200" dirty="0" err="1">
                <a:solidFill>
                  <a:schemeClr val="tx1"/>
                </a:solidFill>
                <a:effectLst/>
                <a:latin typeface="+mn-lt"/>
                <a:ea typeface="+mn-ea"/>
                <a:cs typeface="+mn-cs"/>
              </a:rPr>
              <a:t>panelid</a:t>
            </a:r>
            <a:r>
              <a:rPr lang="en-US" sz="1200" b="1" i="0" u="none" strike="noStrike"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rPr>
              <a:t> All </a:t>
            </a:r>
            <a:r>
              <a:rPr lang="en-US" sz="1200" b="1" i="0" u="none" strike="noStrike" kern="1200" dirty="0">
                <a:solidFill>
                  <a:schemeClr val="tx1"/>
                </a:solidFill>
                <a:effectLst/>
                <a:latin typeface="+mn-lt"/>
                <a:ea typeface="+mn-ea"/>
                <a:cs typeface="+mn-cs"/>
              </a:rPr>
              <a:t>13,853 rows</a:t>
            </a:r>
            <a:r>
              <a:rPr lang="en-US" sz="1200" b="0" i="0" u="none" strike="noStrike" kern="1200" dirty="0">
                <a:solidFill>
                  <a:schemeClr val="tx1"/>
                </a:solidFill>
                <a:effectLst/>
                <a:latin typeface="+mn-lt"/>
                <a:ea typeface="+mn-ea"/>
                <a:cs typeface="+mn-cs"/>
              </a:rPr>
              <a:t> are named like a unique ID, but there are only 18 actual distinct values—so it has been flagged to make sure nobody accidentally uses it to merge datasets together.</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Slide 5: Moving past just finding problems, week 2 was about actually starting to clean the data safely. With the guidance of Imran and Nicholas, I created a </a:t>
            </a:r>
            <a:r>
              <a:rPr lang="en-US" sz="1200" b="0" i="0" u="none" strike="noStrike" kern="1200" dirty="0">
                <a:solidFill>
                  <a:schemeClr val="tx1"/>
                </a:solidFill>
                <a:effectLst/>
                <a:latin typeface="+mn-lt"/>
                <a:ea typeface="+mn-ea"/>
                <a:cs typeface="+mn-cs"/>
                <a:hlinkClick r:id="rId3"/>
              </a:rPr>
              <a:t>Clean.py</a:t>
            </a:r>
            <a:r>
              <a:rPr lang="en-US" sz="1200" b="0" i="0" u="none" strike="noStrike" kern="1200" dirty="0">
                <a:solidFill>
                  <a:schemeClr val="tx1"/>
                </a:solidFill>
                <a:effectLst/>
                <a:latin typeface="+mn-lt"/>
                <a:ea typeface="+mn-ea"/>
                <a:cs typeface="+mn-cs"/>
              </a:rPr>
              <a:t> to get rid of any exact duplicate people in the dataset. You automatically converted placeholder codes that meant "missing </a:t>
            </a:r>
            <a:r>
              <a:rPr lang="en-US" sz="1200" b="0" i="0" u="none" strike="noStrike" kern="1200" dirty="0" err="1">
                <a:solidFill>
                  <a:schemeClr val="tx1"/>
                </a:solidFill>
                <a:effectLst/>
                <a:latin typeface="+mn-lt"/>
                <a:ea typeface="+mn-ea"/>
                <a:cs typeface="+mn-cs"/>
              </a:rPr>
              <a:t>data"..specifically</a:t>
            </a:r>
            <a:r>
              <a:rPr lang="en-US" sz="1200" b="0" i="0" u="none" strike="noStrike" kern="1200" dirty="0">
                <a:solidFill>
                  <a:schemeClr val="tx1"/>
                </a:solidFill>
                <a:effectLst/>
                <a:latin typeface="+mn-lt"/>
                <a:ea typeface="+mn-ea"/>
                <a:cs typeface="+mn-cs"/>
              </a:rPr>
              <a:t> -1 for age and 99 for hours...into proper missing values (</a:t>
            </a:r>
            <a:r>
              <a:rPr lang="en-US" sz="1200" b="0" i="0" u="none" strike="noStrike" kern="1200" dirty="0" err="1">
                <a:solidFill>
                  <a:schemeClr val="tx1"/>
                </a:solidFill>
                <a:effectLst/>
                <a:latin typeface="+mn-lt"/>
                <a:ea typeface="+mn-ea"/>
                <a:cs typeface="+mn-cs"/>
              </a:rPr>
              <a:t>NaN</a:t>
            </a:r>
            <a:r>
              <a:rPr lang="en-US" sz="1200" b="0" i="0" u="none" strike="noStrike" kern="1200" dirty="0">
                <a:solidFill>
                  <a:schemeClr val="tx1"/>
                </a:solidFill>
                <a:effectLst/>
                <a:latin typeface="+mn-lt"/>
                <a:ea typeface="+mn-ea"/>
                <a:cs typeface="+mn-cs"/>
              </a:rPr>
              <a:t>). I made a problem_inventory.py to count and tack issues across categories like sex, age, hours, industry and occupation and spotted another weird code (99 in q3_05) and safely flagged it for review instead of guessing how to fix it. Every single change and flag is saved into a review file (*_flagged_for_review.csv) and fully logged before and after, ensuring nothing was altered </a:t>
            </a:r>
            <a:r>
              <a:rPr lang="en-US" sz="1200" b="0" i="0" u="none" strike="noStrike" kern="1200" dirty="0" err="1">
                <a:solidFill>
                  <a:schemeClr val="tx1"/>
                </a:solidFill>
                <a:effectLst/>
                <a:latin typeface="+mn-lt"/>
                <a:ea typeface="+mn-ea"/>
                <a:cs typeface="+mn-cs"/>
              </a:rPr>
              <a:t>bliindly</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Slide 6: A sentinel is a fake placeholder number (such as a code for "don't know" rather than a real answer. Finding one meant I had to carefully check the data instead of blindly guessing what it means. I found two sentinels. </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- 88 rows used the number 99 for weekly hours as a maximum limit code. Cleaning this up instantly fixed several hours-mismatch errors in the dataset.</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 The code -1 was used to mean "don't know" or missing data. This was found and cleaned across age rows (12 rows) and multiple hours columns (about 110 rows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Slide 7: When I exported the dataset, some job and industry codes accidentally lost </a:t>
            </a:r>
            <a:r>
              <a:rPr lang="en-US" sz="1200" b="0" i="0" u="none" strike="noStrike" kern="1200" dirty="0" err="1">
                <a:solidFill>
                  <a:schemeClr val="tx1"/>
                </a:solidFill>
                <a:effectLst/>
                <a:latin typeface="+mn-lt"/>
                <a:ea typeface="+mn-ea"/>
                <a:cs typeface="+mn-cs"/>
              </a:rPr>
              <a:t>ther</a:t>
            </a:r>
            <a:r>
              <a:rPr lang="en-US" sz="1200" b="0" i="0" u="none" strike="noStrike" kern="1200" dirty="0">
                <a:solidFill>
                  <a:schemeClr val="tx1"/>
                </a:solidFill>
                <a:effectLst/>
                <a:latin typeface="+mn-lt"/>
                <a:ea typeface="+mn-ea"/>
                <a:cs typeface="+mn-cs"/>
              </a:rPr>
              <a:t> leading zero (for example, turning 0729 into 729). If this went unnoticed, it would have secretly assigned those rows to the completely wrong industry categories. So I added a rule to automatically pad every code back out to 4 digits with a zero before reading it. It worked perfectly—</a:t>
            </a:r>
            <a:r>
              <a:rPr lang="en-US" sz="1200" b="1" i="0" u="none" strike="noStrike" kern="1200" dirty="0">
                <a:solidFill>
                  <a:schemeClr val="tx1"/>
                </a:solidFill>
                <a:effectLst/>
                <a:latin typeface="+mn-lt"/>
                <a:ea typeface="+mn-ea"/>
                <a:cs typeface="+mn-cs"/>
              </a:rPr>
              <a:t>0 out of 4,789</a:t>
            </a:r>
            <a:r>
              <a:rPr lang="en-US" sz="1200" b="0" i="0" u="none" strike="noStrike" kern="1200" dirty="0">
                <a:solidFill>
                  <a:schemeClr val="tx1"/>
                </a:solidFill>
                <a:effectLst/>
                <a:latin typeface="+mn-lt"/>
                <a:ea typeface="+mn-ea"/>
                <a:cs typeface="+mn-cs"/>
              </a:rPr>
              <a:t> rows failed to classify after applying the fix.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Slide 8: Because the enumerators typed job descriptions and titles by hand, things were written inconsistently with typos, extra spaces or different </a:t>
            </a:r>
            <a:r>
              <a:rPr lang="en-US" sz="1200" b="0" i="0" u="none" strike="noStrike" kern="1200" dirty="0" err="1">
                <a:solidFill>
                  <a:schemeClr val="tx1"/>
                </a:solidFill>
                <a:effectLst/>
                <a:latin typeface="+mn-lt"/>
                <a:ea typeface="+mn-ea"/>
                <a:cs typeface="+mn-cs"/>
              </a:rPr>
              <a:t>capitalisation</a:t>
            </a:r>
            <a:r>
              <a:rPr lang="en-US" sz="1200" b="0" i="0" u="none" strike="noStrike" kern="1200" dirty="0">
                <a:solidFill>
                  <a:schemeClr val="tx1"/>
                </a:solidFill>
                <a:effectLst/>
                <a:latin typeface="+mn-lt"/>
                <a:ea typeface="+mn-ea"/>
                <a:cs typeface="+mn-cs"/>
              </a:rPr>
              <a:t>. Near-duplicates were found automatically, but only merged if they reached a very high 0.98 similarity threshold. Anything in the noisier 0.90 to 0.97 </a:t>
            </a:r>
            <a:r>
              <a:rPr lang="en-US" sz="1200" b="0" i="0" u="none" strike="noStrike" kern="1200" dirty="0" err="1">
                <a:solidFill>
                  <a:schemeClr val="tx1"/>
                </a:solidFill>
                <a:effectLst/>
                <a:latin typeface="+mn-lt"/>
                <a:ea typeface="+mn-ea"/>
                <a:cs typeface="+mn-cs"/>
              </a:rPr>
              <a:t>siimilarity</a:t>
            </a:r>
            <a:r>
              <a:rPr lang="en-US" sz="1200" b="0" i="0" u="none" strike="noStrike" kern="1200" dirty="0">
                <a:solidFill>
                  <a:schemeClr val="tx1"/>
                </a:solidFill>
                <a:effectLst/>
                <a:latin typeface="+mn-lt"/>
                <a:ea typeface="+mn-ea"/>
                <a:cs typeface="+mn-cs"/>
              </a:rPr>
              <a:t> range was left unmerged and flagged for myself to review to prevent the computer from guessing incorrectly. A total of 436 variants were successfully cleaned up and merged into their most common form across 648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a:t>
            </a:r>
            <a:r>
              <a:rPr lang="en-US" sz="1200" b="0" i="0" u="none" strike="noStrike" kern="1200" dirty="0">
                <a:solidFill>
                  <a:schemeClr val="tx1"/>
                </a:solidFill>
                <a:effectLst/>
                <a:latin typeface="+mn-lt"/>
                <a:ea typeface="+mn-ea"/>
                <a:cs typeface="+mn-cs"/>
              </a:rPr>
              <a:t>I tested the error checking system to see if it actually spotted mistakes if they happened. They found four blind spots where the code was failing to catch errors and fixed them.</a:t>
            </a:r>
            <a:br>
              <a:rPr lang="en-US" sz="1200" b="0" i="0" u="none" strike="noStrike" kern="1200" dirty="0">
                <a:solidFill>
                  <a:schemeClr val="tx1"/>
                </a:solidFill>
                <a:effectLst/>
                <a:latin typeface="+mn-lt"/>
                <a:ea typeface="+mn-ea"/>
                <a:cs typeface="+mn-cs"/>
              </a:rPr>
            </a:br>
            <a:r>
              <a:rPr lang="en-US" sz="1200" b="1" i="0" u="none" strike="noStrike" kern="1200" dirty="0">
                <a:solidFill>
                  <a:schemeClr val="tx1"/>
                </a:solidFill>
                <a:effectLst/>
                <a:latin typeface="+mn-lt"/>
                <a:ea typeface="+mn-ea"/>
                <a:cs typeface="+mn-cs"/>
              </a:rPr>
              <a:t>01. Ordering Bug:</a:t>
            </a:r>
            <a:r>
              <a:rPr lang="en-US" sz="1200" b="0" i="0" u="none" strike="noStrike" kern="1200" dirty="0">
                <a:solidFill>
                  <a:schemeClr val="tx1"/>
                </a:solidFill>
                <a:effectLst/>
                <a:latin typeface="+mn-lt"/>
                <a:ea typeface="+mn-ea"/>
                <a:cs typeface="+mn-cs"/>
              </a:rPr>
              <a:t> A check ran </a:t>
            </a:r>
            <a:r>
              <a:rPr lang="en-US" sz="1200" b="0" i="1" u="none" strike="noStrike" kern="1200" dirty="0">
                <a:solidFill>
                  <a:schemeClr val="tx1"/>
                </a:solidFill>
                <a:effectLst/>
                <a:latin typeface="+mn-lt"/>
                <a:ea typeface="+mn-ea"/>
                <a:cs typeface="+mn-cs"/>
              </a:rPr>
              <a:t>after</a:t>
            </a:r>
            <a:r>
              <a:rPr lang="en-US" sz="1200" b="0" i="0" u="none" strike="noStrike" kern="1200" dirty="0">
                <a:solidFill>
                  <a:schemeClr val="tx1"/>
                </a:solidFill>
                <a:effectLst/>
                <a:latin typeface="+mn-lt"/>
                <a:ea typeface="+mn-ea"/>
                <a:cs typeface="+mn-cs"/>
              </a:rPr>
              <a:t> the data was already fixed, meaning it couldn't see the original error anymore. </a:t>
            </a:r>
            <a:r>
              <a:rPr lang="en-US" sz="1200" b="0" i="1" u="none" strike="noStrike" kern="1200" dirty="0">
                <a:solidFill>
                  <a:schemeClr val="tx1"/>
                </a:solidFill>
                <a:effectLst/>
                <a:latin typeface="+mn-lt"/>
                <a:ea typeface="+mn-ea"/>
                <a:cs typeface="+mn-cs"/>
              </a:rPr>
              <a:t>Fix:</a:t>
            </a:r>
            <a:r>
              <a:rPr lang="en-US" sz="1200" b="0" i="0" u="none" strike="noStrike" kern="1200" dirty="0">
                <a:solidFill>
                  <a:schemeClr val="tx1"/>
                </a:solidFill>
                <a:effectLst/>
                <a:latin typeface="+mn-lt"/>
                <a:ea typeface="+mn-ea"/>
                <a:cs typeface="+mn-cs"/>
              </a:rPr>
              <a:t> They made it run on the raw data first.</a:t>
            </a:r>
            <a:endParaRPr lang="en-US" dirty="0">
              <a:effectLst/>
            </a:endParaRPr>
          </a:p>
          <a:p>
            <a:pPr rtl="0"/>
            <a:r>
              <a:rPr lang="en-US" sz="1200" b="1" i="0" u="none" strike="noStrike" kern="1200" dirty="0">
                <a:solidFill>
                  <a:schemeClr val="tx1"/>
                </a:solidFill>
                <a:effectLst/>
                <a:latin typeface="+mn-lt"/>
                <a:ea typeface="+mn-ea"/>
                <a:cs typeface="+mn-cs"/>
              </a:rPr>
              <a:t>02. Tautological Check:</a:t>
            </a:r>
            <a:r>
              <a:rPr lang="en-US" sz="1200" b="0" i="0" u="none" strike="noStrike" kern="1200" dirty="0">
                <a:solidFill>
                  <a:schemeClr val="tx1"/>
                </a:solidFill>
                <a:effectLst/>
                <a:latin typeface="+mn-lt"/>
                <a:ea typeface="+mn-ea"/>
                <a:cs typeface="+mn-cs"/>
              </a:rPr>
              <a:t> A check was comparing a total to itself, which always looks "correct" and can never fail. </a:t>
            </a:r>
            <a:r>
              <a:rPr lang="en-US" sz="1200" b="0" i="1" u="none" strike="noStrike" kern="1200" dirty="0">
                <a:solidFill>
                  <a:schemeClr val="tx1"/>
                </a:solidFill>
                <a:effectLst/>
                <a:latin typeface="+mn-lt"/>
                <a:ea typeface="+mn-ea"/>
                <a:cs typeface="+mn-cs"/>
              </a:rPr>
              <a:t>Fix:</a:t>
            </a:r>
            <a:r>
              <a:rPr lang="en-US" sz="1200" b="0" i="0" u="none" strike="noStrike" kern="1200" dirty="0">
                <a:solidFill>
                  <a:schemeClr val="tx1"/>
                </a:solidFill>
                <a:effectLst/>
                <a:latin typeface="+mn-lt"/>
                <a:ea typeface="+mn-ea"/>
                <a:cs typeface="+mn-cs"/>
              </a:rPr>
              <a:t> They changed it to recalculate the total properly from scratch.</a:t>
            </a:r>
            <a:endParaRPr lang="en-US" dirty="0">
              <a:effectLst/>
            </a:endParaRPr>
          </a:p>
          <a:p>
            <a:pPr rtl="0"/>
            <a:r>
              <a:rPr lang="en-US" sz="1200" b="1" i="0" u="none" strike="noStrike" kern="1200" dirty="0">
                <a:solidFill>
                  <a:schemeClr val="tx1"/>
                </a:solidFill>
                <a:effectLst/>
                <a:latin typeface="+mn-lt"/>
                <a:ea typeface="+mn-ea"/>
                <a:cs typeface="+mn-cs"/>
              </a:rPr>
              <a:t>03. Sentinel Not Generalized:</a:t>
            </a:r>
            <a:r>
              <a:rPr lang="en-US" sz="1200" b="0" i="0" u="none" strike="noStrike" kern="1200" dirty="0">
                <a:solidFill>
                  <a:schemeClr val="tx1"/>
                </a:solidFill>
                <a:effectLst/>
                <a:latin typeface="+mn-lt"/>
                <a:ea typeface="+mn-ea"/>
                <a:cs typeface="+mn-cs"/>
              </a:rPr>
              <a:t> A fix for the -1 missing code was only working for age and was accidentally ignored in 7 other hours columns. </a:t>
            </a:r>
            <a:r>
              <a:rPr lang="en-US" sz="1200" b="0" i="1" u="none" strike="noStrike" kern="1200" dirty="0">
                <a:solidFill>
                  <a:schemeClr val="tx1"/>
                </a:solidFill>
                <a:effectLst/>
                <a:latin typeface="+mn-lt"/>
                <a:ea typeface="+mn-ea"/>
                <a:cs typeface="+mn-cs"/>
              </a:rPr>
              <a:t>Fix:</a:t>
            </a:r>
            <a:r>
              <a:rPr lang="en-US" sz="1200" b="0" i="0" u="none" strike="noStrike" kern="1200" dirty="0">
                <a:solidFill>
                  <a:schemeClr val="tx1"/>
                </a:solidFill>
                <a:effectLst/>
                <a:latin typeface="+mn-lt"/>
                <a:ea typeface="+mn-ea"/>
                <a:cs typeface="+mn-cs"/>
              </a:rPr>
              <a:t> They applied the fix across all columns.</a:t>
            </a:r>
            <a:endParaRPr lang="en-US" dirty="0">
              <a:effectLst/>
            </a:endParaRPr>
          </a:p>
          <a:p>
            <a:pPr rtl="0"/>
            <a:r>
              <a:rPr lang="en-US" sz="1200" b="1" i="0" u="none" strike="noStrike" kern="1200" dirty="0">
                <a:solidFill>
                  <a:schemeClr val="tx1"/>
                </a:solidFill>
                <a:effectLst/>
                <a:latin typeface="+mn-lt"/>
                <a:ea typeface="+mn-ea"/>
                <a:cs typeface="+mn-cs"/>
              </a:rPr>
              <a:t>04. Wrong Rows Inspected:</a:t>
            </a:r>
            <a:r>
              <a:rPr lang="en-US" sz="1200" b="0" i="0" u="none" strike="noStrike" kern="1200" dirty="0">
                <a:solidFill>
                  <a:schemeClr val="tx1"/>
                </a:solidFill>
                <a:effectLst/>
                <a:latin typeface="+mn-lt"/>
                <a:ea typeface="+mn-ea"/>
                <a:cs typeface="+mn-cs"/>
              </a:rPr>
              <a:t> A check missed blank answers entirely instead of checking them. </a:t>
            </a:r>
            <a:r>
              <a:rPr lang="en-US" sz="1200" b="0" i="1" u="none" strike="noStrike" kern="1200" dirty="0">
                <a:solidFill>
                  <a:schemeClr val="tx1"/>
                </a:solidFill>
                <a:effectLst/>
                <a:latin typeface="+mn-lt"/>
                <a:ea typeface="+mn-ea"/>
                <a:cs typeface="+mn-cs"/>
              </a:rPr>
              <a:t>Fix:</a:t>
            </a:r>
            <a:r>
              <a:rPr lang="en-US" sz="1200" b="0" i="0" u="none" strike="noStrike" kern="1200" dirty="0">
                <a:solidFill>
                  <a:schemeClr val="tx1"/>
                </a:solidFill>
                <a:effectLst/>
                <a:latin typeface="+mn-lt"/>
                <a:ea typeface="+mn-ea"/>
                <a:cs typeface="+mn-cs"/>
              </a:rPr>
              <a:t> They updated the code to inspect those blanks, dropping remaining errors to zero.</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Slide 3: I mapped out which columns were missing information and confirmed certain gaps like q1_15/16 were built-in on purpose rather than being mistakes. I searched for duplicate people and checked if age, weight or hours made sense. No duplicate people were found and unusual numbers were just hidden codes for missing data (-1). I took a baseline look at the numbers before touching anything...showing a nearly even sex split (51.1%/48.9%) and noted that employees make up 66.2% of the status. I </a:t>
            </a:r>
            <a:r>
              <a:rPr lang="en-US" sz="1200" b="0" i="0" u="none" strike="noStrike" kern="1200" dirty="0" err="1">
                <a:solidFill>
                  <a:schemeClr val="tx1"/>
                </a:solidFill>
                <a:effectLst/>
                <a:latin typeface="+mn-lt"/>
                <a:ea typeface="+mn-ea"/>
                <a:cs typeface="+mn-cs"/>
              </a:rPr>
              <a:t>realised</a:t>
            </a:r>
            <a:r>
              <a:rPr lang="en-US" sz="1200" b="0" i="0" u="none" strike="noStrike" kern="1200" dirty="0">
                <a:solidFill>
                  <a:schemeClr val="tx1"/>
                </a:solidFill>
                <a:effectLst/>
                <a:latin typeface="+mn-lt"/>
                <a:ea typeface="+mn-ea"/>
                <a:cs typeface="+mn-cs"/>
              </a:rPr>
              <a:t> the datasets do not contain real dates, category columns use text instead of numbers and all reports are generated automatically by code rather than typed by hand. The diagnostic script only reports problems and never actually changes any data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3452-6BCF-E324-B409-9D2F2616C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2E127-A49D-DBE4-16E6-24F76475B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4247B1-B068-2464-755C-A6FEBDAE3B90}"/>
              </a:ext>
            </a:extLst>
          </p:cNvPr>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Slide 9: </a:t>
            </a:r>
            <a:r>
              <a:rPr lang="en-US" sz="1200" b="1" i="0" u="none" strike="noStrike" kern="1200" dirty="0">
                <a:solidFill>
                  <a:schemeClr val="tx1"/>
                </a:solidFill>
                <a:effectLst/>
                <a:latin typeface="+mn-lt"/>
                <a:ea typeface="+mn-ea"/>
                <a:cs typeface="+mn-cs"/>
              </a:rPr>
              <a:t>Age:</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12 rows</a:t>
            </a:r>
            <a:r>
              <a:rPr lang="en-US" sz="1200" b="0" i="0" u="none" strike="noStrike" kern="1200" dirty="0">
                <a:solidFill>
                  <a:schemeClr val="tx1"/>
                </a:solidFill>
                <a:effectLst/>
                <a:latin typeface="+mn-lt"/>
                <a:ea typeface="+mn-ea"/>
                <a:cs typeface="+mn-cs"/>
              </a:rPr>
              <a:t> use -1 as a hidden code meaning "don't know".</a:t>
            </a:r>
            <a:endParaRPr lang="en-US" dirty="0">
              <a:effectLst/>
            </a:endParaRPr>
          </a:p>
          <a:p>
            <a:pPr rtl="0"/>
            <a:r>
              <a:rPr lang="en-US" sz="1200" b="1" i="0" u="none" strike="noStrike" kern="1200" dirty="0">
                <a:solidFill>
                  <a:schemeClr val="tx1"/>
                </a:solidFill>
                <a:effectLst/>
                <a:latin typeface="+mn-lt"/>
                <a:ea typeface="+mn-ea"/>
                <a:cs typeface="+mn-cs"/>
              </a:rPr>
              <a:t>Hours worked:</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88 rows</a:t>
            </a:r>
            <a:r>
              <a:rPr lang="en-US" sz="1200" b="0" i="0" u="none" strike="noStrike" kern="1200" dirty="0">
                <a:solidFill>
                  <a:schemeClr val="tx1"/>
                </a:solidFill>
                <a:effectLst/>
                <a:latin typeface="+mn-lt"/>
                <a:ea typeface="+mn-ea"/>
                <a:cs typeface="+mn-cs"/>
              </a:rPr>
              <a:t> use 99 as a maximum limit code, and about </a:t>
            </a:r>
            <a:r>
              <a:rPr lang="en-US" sz="1200" b="1" i="0" u="none" strike="noStrike" kern="1200" dirty="0">
                <a:solidFill>
                  <a:schemeClr val="tx1"/>
                </a:solidFill>
                <a:effectLst/>
                <a:latin typeface="+mn-lt"/>
                <a:ea typeface="+mn-ea"/>
                <a:cs typeface="+mn-cs"/>
              </a:rPr>
              <a:t>110 rows</a:t>
            </a:r>
            <a:r>
              <a:rPr lang="en-US" sz="1200" b="0" i="0" u="none" strike="noStrike" kern="1200" dirty="0">
                <a:solidFill>
                  <a:schemeClr val="tx1"/>
                </a:solidFill>
                <a:effectLst/>
                <a:latin typeface="+mn-lt"/>
                <a:ea typeface="+mn-ea"/>
                <a:cs typeface="+mn-cs"/>
              </a:rPr>
              <a:t> use the -1 missing code across multiple columns.</a:t>
            </a:r>
            <a:endParaRPr lang="en-US" dirty="0">
              <a:effectLst/>
            </a:endParaRPr>
          </a:p>
          <a:p>
            <a:pPr rtl="0"/>
            <a:r>
              <a:rPr lang="en-US" sz="1200" b="1" i="0" u="none" strike="noStrike" kern="1200" dirty="0">
                <a:solidFill>
                  <a:schemeClr val="tx1"/>
                </a:solidFill>
                <a:effectLst/>
                <a:latin typeface="+mn-lt"/>
                <a:ea typeface="+mn-ea"/>
                <a:cs typeface="+mn-cs"/>
              </a:rPr>
              <a:t>Industry (ISIC):</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206 rows</a:t>
            </a:r>
            <a:r>
              <a:rPr lang="en-US" sz="1200" b="0" i="0" u="none" strike="noStrike" kern="1200" dirty="0">
                <a:solidFill>
                  <a:schemeClr val="tx1"/>
                </a:solidFill>
                <a:effectLst/>
                <a:latin typeface="+mn-lt"/>
                <a:ea typeface="+mn-ea"/>
                <a:cs typeface="+mn-cs"/>
              </a:rPr>
              <a:t> accidentally lost their starting zero when exported.</a:t>
            </a:r>
            <a:endParaRPr lang="en-US" dirty="0">
              <a:effectLst/>
            </a:endParaRPr>
          </a:p>
          <a:p>
            <a:pPr rtl="0"/>
            <a:r>
              <a:rPr lang="en-US" sz="1200" b="1" i="0" u="none" strike="noStrike" kern="1200" dirty="0">
                <a:solidFill>
                  <a:schemeClr val="tx1"/>
                </a:solidFill>
                <a:effectLst/>
                <a:latin typeface="+mn-lt"/>
                <a:ea typeface="+mn-ea"/>
                <a:cs typeface="+mn-cs"/>
              </a:rPr>
              <a:t>Occupation (ISCO):</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12 rows</a:t>
            </a:r>
            <a:r>
              <a:rPr lang="en-US" sz="1200" b="0" i="0" u="none" strike="noStrike" kern="1200" dirty="0">
                <a:solidFill>
                  <a:schemeClr val="tx1"/>
                </a:solidFill>
                <a:effectLst/>
                <a:latin typeface="+mn-lt"/>
                <a:ea typeface="+mn-ea"/>
                <a:cs typeface="+mn-cs"/>
              </a:rPr>
              <a:t> have the same code length issue (not 4 digits).</a:t>
            </a:r>
            <a:endParaRPr lang="en-US" dirty="0">
              <a:effectLst/>
            </a:endParaRPr>
          </a:p>
          <a:p>
            <a:pPr rtl="0"/>
            <a:r>
              <a:rPr lang="en-US" sz="1200" b="1" i="0" u="none" strike="noStrike" kern="1200" dirty="0" err="1">
                <a:solidFill>
                  <a:schemeClr val="tx1"/>
                </a:solidFill>
                <a:effectLst/>
                <a:latin typeface="+mn-lt"/>
                <a:ea typeface="+mn-ea"/>
                <a:cs typeface="+mn-cs"/>
              </a:rPr>
              <a:t>panelid</a:t>
            </a:r>
            <a:r>
              <a:rPr lang="en-US" sz="1200" b="1" i="0" u="none" strike="noStrike" kern="1200" dirty="0">
                <a:solidFill>
                  <a:schemeClr val="tx1"/>
                </a:solidFill>
                <a:effectLst/>
                <a:latin typeface="+mn-lt"/>
                <a:ea typeface="+mn-ea"/>
                <a:cs typeface="+mn-cs"/>
              </a:rPr>
              <a:t>:</a:t>
            </a:r>
            <a:r>
              <a:rPr lang="en-US" sz="1200" b="0" i="0" u="none" strike="noStrike" kern="1200" dirty="0">
                <a:solidFill>
                  <a:schemeClr val="tx1"/>
                </a:solidFill>
                <a:effectLst/>
                <a:latin typeface="+mn-lt"/>
                <a:ea typeface="+mn-ea"/>
                <a:cs typeface="+mn-cs"/>
              </a:rPr>
              <a:t> All </a:t>
            </a:r>
            <a:r>
              <a:rPr lang="en-US" sz="1200" b="1" i="0" u="none" strike="noStrike" kern="1200" dirty="0">
                <a:solidFill>
                  <a:schemeClr val="tx1"/>
                </a:solidFill>
                <a:effectLst/>
                <a:latin typeface="+mn-lt"/>
                <a:ea typeface="+mn-ea"/>
                <a:cs typeface="+mn-cs"/>
              </a:rPr>
              <a:t>13,853 rows</a:t>
            </a:r>
            <a:r>
              <a:rPr lang="en-US" sz="1200" b="0" i="0" u="none" strike="noStrike" kern="1200" dirty="0">
                <a:solidFill>
                  <a:schemeClr val="tx1"/>
                </a:solidFill>
                <a:effectLst/>
                <a:latin typeface="+mn-lt"/>
                <a:ea typeface="+mn-ea"/>
                <a:cs typeface="+mn-cs"/>
              </a:rPr>
              <a:t> are named like a unique ID, but there are only 18 actual distinct values—so it has been flagged to make sure nobody accidentally uses it to merge datasets together.</a:t>
            </a:r>
            <a:endParaRPr lang="en-US" dirty="0">
              <a:effectLst/>
            </a:endParaRPr>
          </a:p>
          <a:p>
            <a:endParaRPr lang="en-US" dirty="0"/>
          </a:p>
        </p:txBody>
      </p:sp>
      <p:sp>
        <p:nvSpPr>
          <p:cNvPr id="4" name="Slide Number Placeholder 3">
            <a:extLst>
              <a:ext uri="{FF2B5EF4-FFF2-40B4-BE49-F238E27FC236}">
                <a16:creationId xmlns:a16="http://schemas.microsoft.com/office/drawing/2014/main" id="{7EC07A22-B96E-F719-A4D3-CCBB28043F4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32039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everything was completely cleaned and verified, the results revealed two major patterns:</a:t>
            </a:r>
          </a:p>
          <a:p>
            <a:pPr lvl="0"/>
            <a:r>
              <a:rPr lang="en-US" b="1" dirty="0"/>
              <a:t>Occupation Mix:</a:t>
            </a:r>
            <a:r>
              <a:rPr lang="en-US" dirty="0"/>
              <a:t> The most common jobs in the survey are </a:t>
            </a:r>
            <a:r>
              <a:rPr lang="en-US" b="1" dirty="0"/>
              <a:t>Service and Sales Workers</a:t>
            </a:r>
            <a:r>
              <a:rPr lang="en-US" dirty="0"/>
              <a:t> (1,211 people) and </a:t>
            </a:r>
            <a:r>
              <a:rPr lang="en-US" b="1" dirty="0"/>
              <a:t>Elementary Occupations</a:t>
            </a:r>
            <a:r>
              <a:rPr lang="en-US" dirty="0"/>
              <a:t> (1,003 people), while </a:t>
            </a:r>
            <a:r>
              <a:rPr lang="en-US" b="1" dirty="0"/>
              <a:t>Armed Forces</a:t>
            </a:r>
            <a:r>
              <a:rPr lang="en-US" dirty="0"/>
              <a:t> is the smallest group (38 people).</a:t>
            </a:r>
          </a:p>
          <a:p>
            <a:pPr lvl="0"/>
            <a:r>
              <a:rPr lang="en-US" b="1" dirty="0"/>
              <a:t>Hours Worked Distribution:</a:t>
            </a:r>
            <a:r>
              <a:rPr lang="en-US" dirty="0"/>
              <a:t> The average work week is </a:t>
            </a:r>
            <a:r>
              <a:rPr lang="en-US" b="1" dirty="0"/>
              <a:t>44.5 hours</a:t>
            </a:r>
            <a:r>
              <a:rPr lang="en-US" dirty="0"/>
              <a:t>, with a massive spike right at the standard </a:t>
            </a:r>
            <a:r>
              <a:rPr lang="en-US" b="1" dirty="0"/>
              <a:t>40-hour work week</a:t>
            </a:r>
            <a:r>
              <a:rPr lang="en-US" dirty="0"/>
              <a:t>.</a:t>
            </a:r>
          </a:p>
          <a:p>
            <a:pPr lvl="0"/>
            <a:r>
              <a:rPr lang="en-US" b="1" dirty="0"/>
              <a:t>Total Success:</a:t>
            </a:r>
            <a:r>
              <a:rPr lang="en-US" dirty="0"/>
              <a:t> Every single one of the 4,789 job and industry codes was successfully classified with zero errors remaining.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collaborators and tools explicitly.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D3D"/>
        </a:solidFill>
        <a:effectLst/>
      </p:bgPr>
    </p:bg>
    <p:spTree>
      <p:nvGrpSpPr>
        <p:cNvPr id="1" name=""/>
        <p:cNvGrpSpPr/>
        <p:nvPr/>
      </p:nvGrpSpPr>
      <p:grpSpPr>
        <a:xfrm>
          <a:off x="0" y="0"/>
          <a:ext cx="0" cy="0"/>
          <a:chOff x="0" y="0"/>
          <a:chExt cx="0" cy="0"/>
        </a:xfrm>
      </p:grpSpPr>
      <p:sp>
        <p:nvSpPr>
          <p:cNvPr id="3" name="Text 1"/>
          <p:cNvSpPr/>
          <p:nvPr/>
        </p:nvSpPr>
        <p:spPr>
          <a:xfrm>
            <a:off x="1047750" y="3033266"/>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324" dirty="0">
                <a:solidFill>
                  <a:srgbClr val="B5D9FD"/>
                </a:solidFill>
                <a:latin typeface="Arial" pitchFamily="34" charset="0"/>
                <a:ea typeface="Arial" pitchFamily="34" charset="-122"/>
                <a:cs typeface="Arial" pitchFamily="34" charset="-120"/>
              </a:rPr>
              <a:t>WORK-STUDY ATTACHMENT</a:t>
            </a:r>
            <a:endParaRPr lang="en-US" sz="1800" dirty="0"/>
          </a:p>
        </p:txBody>
      </p:sp>
      <p:sp>
        <p:nvSpPr>
          <p:cNvPr id="4" name="Text 2"/>
          <p:cNvSpPr/>
          <p:nvPr/>
        </p:nvSpPr>
        <p:spPr>
          <a:xfrm>
            <a:off x="1047750" y="3654177"/>
            <a:ext cx="14716125" cy="1903214"/>
          </a:xfrm>
          <a:prstGeom prst="rect">
            <a:avLst/>
          </a:prstGeom>
          <a:noFill/>
          <a:ln/>
        </p:spPr>
        <p:txBody>
          <a:bodyPr wrap="square" lIns="25400" tIns="25400" rIns="25400" bIns="25400" rtlCol="0" anchor="t">
            <a:normAutofit lnSpcReduction="10000"/>
          </a:bodyPr>
          <a:lstStyle/>
          <a:p>
            <a:pPr marL="0" indent="0" algn="l">
              <a:lnSpc>
                <a:spcPct val="89018"/>
              </a:lnSpc>
              <a:buNone/>
            </a:pPr>
            <a:r>
              <a:rPr lang="en-US" sz="7200" b="1" kern="0" spc="-108" dirty="0">
                <a:solidFill>
                  <a:srgbClr val="FFFF00"/>
                </a:solidFill>
                <a:latin typeface="Arial" pitchFamily="34" charset="0"/>
                <a:ea typeface="Arial" pitchFamily="34" charset="-122"/>
                <a:cs typeface="Arial" pitchFamily="34" charset="-120"/>
              </a:rPr>
              <a:t>Guyana Labour Force Survey: Pipeline &amp; Data Cleaning Project</a:t>
            </a:r>
            <a:endParaRPr lang="en-US" sz="7200" dirty="0">
              <a:solidFill>
                <a:srgbClr val="FFFF00"/>
              </a:solidFill>
            </a:endParaRPr>
          </a:p>
        </p:txBody>
      </p:sp>
      <p:sp>
        <p:nvSpPr>
          <p:cNvPr id="5" name="Text 3"/>
          <p:cNvSpPr/>
          <p:nvPr/>
        </p:nvSpPr>
        <p:spPr>
          <a:xfrm>
            <a:off x="977412" y="5805041"/>
            <a:ext cx="13620750" cy="599033"/>
          </a:xfrm>
          <a:prstGeom prst="rect">
            <a:avLst/>
          </a:prstGeom>
          <a:noFill/>
          <a:ln/>
        </p:spPr>
        <p:txBody>
          <a:bodyPr wrap="square" lIns="25400" tIns="25400" rIns="25400" bIns="25400" rtlCol="0" anchor="t">
            <a:normAutofit/>
          </a:bodyPr>
          <a:lstStyle/>
          <a:p>
            <a:pPr marL="0" indent="0" algn="l">
              <a:lnSpc>
                <a:spcPct val="136977"/>
              </a:lnSpc>
              <a:buNone/>
            </a:pPr>
            <a:r>
              <a:rPr lang="en-US" sz="2850" dirty="0">
                <a:solidFill>
                  <a:srgbClr val="F5F6F7">
                    <a:alpha val="78000"/>
                  </a:srgbClr>
                </a:solidFill>
                <a:latin typeface="Arial" pitchFamily="34" charset="0"/>
                <a:ea typeface="Arial" pitchFamily="34" charset="-122"/>
                <a:cs typeface="Arial" pitchFamily="34" charset="-120"/>
              </a:rPr>
              <a:t>2017, Quarter 4 (Survey Round 174) </a:t>
            </a:r>
            <a:endParaRPr lang="en-US" sz="2850" dirty="0"/>
          </a:p>
        </p:txBody>
      </p:sp>
      <p:sp>
        <p:nvSpPr>
          <p:cNvPr id="7" name="Text 5"/>
          <p:cNvSpPr/>
          <p:nvPr/>
        </p:nvSpPr>
        <p:spPr>
          <a:xfrm>
            <a:off x="1047750" y="6899374"/>
            <a:ext cx="2977575"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F5F6F7">
                    <a:alpha val="85000"/>
                  </a:srgbClr>
                </a:solidFill>
                <a:latin typeface="Arial" pitchFamily="34" charset="0"/>
                <a:ea typeface="Arial" pitchFamily="34" charset="-122"/>
                <a:cs typeface="Arial" pitchFamily="34" charset="-120"/>
              </a:rPr>
              <a:t>Baqir Elcock · August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sp>
        <p:nvSpPr>
          <p:cNvPr id="3" name="Text 1"/>
          <p:cNvSpPr/>
          <p:nvPr/>
        </p:nvSpPr>
        <p:spPr>
          <a:xfrm>
            <a:off x="1047750" y="750035"/>
            <a:ext cx="17811750" cy="699492"/>
          </a:xfrm>
          <a:prstGeom prst="rect">
            <a:avLst/>
          </a:prstGeom>
          <a:noFill/>
          <a:ln/>
        </p:spPr>
        <p:txBody>
          <a:bodyPr wrap="square" lIns="25400" tIns="25400" rIns="25400" bIns="25400" rtlCol="0" anchor="t">
            <a:normAutofit fontScale="925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Guyana </a:t>
            </a:r>
            <a:r>
              <a:rPr lang="en-US" sz="4650" b="1" kern="0" spc="-70" dirty="0" err="1">
                <a:solidFill>
                  <a:srgbClr val="1D1F20"/>
                </a:solidFill>
                <a:latin typeface="Arial" pitchFamily="34" charset="0"/>
                <a:ea typeface="Arial" pitchFamily="34" charset="-122"/>
                <a:cs typeface="Arial" pitchFamily="34" charset="-120"/>
              </a:rPr>
              <a:t>Labour</a:t>
            </a:r>
            <a:r>
              <a:rPr lang="en-US" sz="4650" b="1" kern="0" spc="-70" dirty="0">
                <a:solidFill>
                  <a:srgbClr val="1D1F20"/>
                </a:solidFill>
                <a:latin typeface="Arial" pitchFamily="34" charset="0"/>
                <a:ea typeface="Arial" pitchFamily="34" charset="-122"/>
                <a:cs typeface="Arial" pitchFamily="34" charset="-120"/>
              </a:rPr>
              <a:t> Force Survey (2017, Quarter 4, Survey Round 174)</a:t>
            </a:r>
            <a:endParaRPr lang="en-US" sz="4650" dirty="0"/>
          </a:p>
        </p:txBody>
      </p:sp>
      <p:sp>
        <p:nvSpPr>
          <p:cNvPr id="6" name="Shape 4"/>
          <p:cNvSpPr/>
          <p:nvPr/>
        </p:nvSpPr>
        <p:spPr>
          <a:xfrm>
            <a:off x="10245310" y="3023848"/>
            <a:ext cx="7791450" cy="6947297"/>
          </a:xfrm>
          <a:prstGeom prst="rect">
            <a:avLst/>
          </a:prstGeom>
          <a:ln w="9525">
            <a:solidFill>
              <a:srgbClr val="1F1F1F">
                <a:alpha val="16000"/>
              </a:srgbClr>
            </a:solidFill>
            <a:prstDash val="solid"/>
          </a:ln>
        </p:spPr>
        <p:txBody>
          <a:bodyPr/>
          <a:lstStyle/>
          <a:p>
            <a:endParaRPr lang="en-US"/>
          </a:p>
        </p:txBody>
      </p:sp>
      <p:sp>
        <p:nvSpPr>
          <p:cNvPr id="7" name="Text 5"/>
          <p:cNvSpPr/>
          <p:nvPr/>
        </p:nvSpPr>
        <p:spPr>
          <a:xfrm>
            <a:off x="9353550" y="2482453"/>
            <a:ext cx="198686" cy="247650"/>
          </a:xfrm>
          <a:prstGeom prst="rect">
            <a:avLst/>
          </a:prstGeom>
          <a:noFill/>
          <a:ln/>
        </p:spPr>
        <p:txBody>
          <a:bodyPr wrap="square" lIns="25400" tIns="25400" rIns="25400" bIns="25400" rtlCol="0" anchor="t">
            <a:normAutofit lnSpcReduction="10000"/>
          </a:bodyPr>
          <a:lstStyle/>
          <a:p>
            <a:pPr marL="0" indent="0" algn="l">
              <a:lnSpc>
                <a:spcPct val="84615"/>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17213014" y="2482453"/>
            <a:ext cx="198686" cy="247650"/>
          </a:xfrm>
          <a:prstGeom prst="rect">
            <a:avLst/>
          </a:prstGeom>
          <a:noFill/>
          <a:ln/>
        </p:spPr>
        <p:txBody>
          <a:bodyPr wrap="square" lIns="25400" tIns="25400" rIns="25400" bIns="25400" rtlCol="0" anchor="t">
            <a:normAutofit lnSpcReduction="10000"/>
          </a:bodyPr>
          <a:lstStyle/>
          <a:p>
            <a:pPr marL="0" indent="0" algn="l">
              <a:lnSpc>
                <a:spcPct val="84615"/>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9353550" y="9410700"/>
            <a:ext cx="198686" cy="247650"/>
          </a:xfrm>
          <a:prstGeom prst="rect">
            <a:avLst/>
          </a:prstGeom>
          <a:noFill/>
          <a:ln/>
        </p:spPr>
        <p:txBody>
          <a:bodyPr wrap="square" lIns="25400" tIns="25400" rIns="25400" bIns="25400" rtlCol="0" anchor="t">
            <a:normAutofit lnSpcReduction="10000"/>
          </a:bodyPr>
          <a:lstStyle/>
          <a:p>
            <a:pPr marL="0" indent="0" algn="l">
              <a:lnSpc>
                <a:spcPct val="84615"/>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0" name="Text 8"/>
          <p:cNvSpPr/>
          <p:nvPr/>
        </p:nvSpPr>
        <p:spPr>
          <a:xfrm>
            <a:off x="17213014" y="9410700"/>
            <a:ext cx="198686" cy="247650"/>
          </a:xfrm>
          <a:prstGeom prst="rect">
            <a:avLst/>
          </a:prstGeom>
          <a:noFill/>
          <a:ln/>
        </p:spPr>
        <p:txBody>
          <a:bodyPr wrap="square" lIns="25400" tIns="25400" rIns="25400" bIns="25400" rtlCol="0" anchor="t">
            <a:normAutofit lnSpcReduction="10000"/>
          </a:bodyPr>
          <a:lstStyle/>
          <a:p>
            <a:pPr marL="0" indent="0" algn="l">
              <a:lnSpc>
                <a:spcPct val="84615"/>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grpSp>
        <p:nvGrpSpPr>
          <p:cNvPr id="2" name="Group 1">
            <a:extLst>
              <a:ext uri="{FF2B5EF4-FFF2-40B4-BE49-F238E27FC236}">
                <a16:creationId xmlns:a16="http://schemas.microsoft.com/office/drawing/2014/main" id="{0533FFF3-F6C6-7DE2-5C3A-79C69C28C51E}"/>
              </a:ext>
            </a:extLst>
          </p:cNvPr>
          <p:cNvGrpSpPr/>
          <p:nvPr/>
        </p:nvGrpSpPr>
        <p:grpSpPr>
          <a:xfrm>
            <a:off x="460746" y="2831150"/>
            <a:ext cx="8036767" cy="3653062"/>
            <a:chOff x="1036177" y="5036398"/>
            <a:chExt cx="8036767" cy="3653062"/>
          </a:xfrm>
        </p:grpSpPr>
        <p:sp>
          <p:nvSpPr>
            <p:cNvPr id="4" name="Text 2"/>
            <p:cNvSpPr/>
            <p:nvPr/>
          </p:nvSpPr>
          <p:spPr>
            <a:xfrm>
              <a:off x="1036177" y="5036398"/>
              <a:ext cx="8025194" cy="1323975"/>
            </a:xfrm>
            <a:prstGeom prst="rect">
              <a:avLst/>
            </a:prstGeom>
            <a:noFill/>
            <a:ln/>
          </p:spPr>
          <p:txBody>
            <a:bodyPr wrap="square" lIns="25400" tIns="25400" rIns="25400" bIns="25400" rtlCol="0" anchor="t">
              <a:normAutofit lnSpcReduction="10000"/>
            </a:bodyPr>
            <a:lstStyle/>
            <a:p>
              <a:pPr marL="0" indent="0" algn="l">
                <a:lnSpc>
                  <a:spcPct val="132353"/>
                </a:lnSpc>
                <a:buNone/>
              </a:pPr>
              <a:r>
                <a:rPr lang="en-US" sz="2250" dirty="0">
                  <a:solidFill>
                    <a:srgbClr val="1D1F20"/>
                  </a:solidFill>
                  <a:latin typeface="Arial" pitchFamily="34" charset="0"/>
                  <a:ea typeface="Arial" pitchFamily="34" charset="-122"/>
                  <a:cs typeface="Arial" pitchFamily="34" charset="-120"/>
                </a:rPr>
                <a:t>The Panel uses this attachment to see whether I can take real survey microdata from raw export to an analysis-ready dataset on my own tooling, not a guided exercise.</a:t>
              </a:r>
              <a:endParaRPr lang="en-US" sz="2250" dirty="0"/>
            </a:p>
          </p:txBody>
        </p:sp>
        <p:sp>
          <p:nvSpPr>
            <p:cNvPr id="5" name="Text 3"/>
            <p:cNvSpPr/>
            <p:nvPr/>
          </p:nvSpPr>
          <p:spPr>
            <a:xfrm>
              <a:off x="1047750" y="6389489"/>
              <a:ext cx="8025194" cy="895350"/>
            </a:xfrm>
            <a:prstGeom prst="rect">
              <a:avLst/>
            </a:prstGeom>
            <a:noFill/>
            <a:ln/>
          </p:spPr>
          <p:txBody>
            <a:bodyPr wrap="square" lIns="25400" tIns="25400" rIns="25400" bIns="25400" rtlCol="0" anchor="t">
              <a:normAutofit lnSpcReduction="10000"/>
            </a:bodyPr>
            <a:lstStyle/>
            <a:p>
              <a:pPr marL="0" indent="0" algn="l">
                <a:lnSpc>
                  <a:spcPct val="132353"/>
                </a:lnSpc>
                <a:buNone/>
              </a:pPr>
              <a:r>
                <a:rPr lang="en-US" sz="2250" dirty="0">
                  <a:solidFill>
                    <a:srgbClr val="1D1F20"/>
                  </a:solidFill>
                  <a:latin typeface="Arial" pitchFamily="34" charset="0"/>
                  <a:ea typeface="Arial" pitchFamily="34" charset="-122"/>
                  <a:cs typeface="Arial" pitchFamily="34" charset="-120"/>
                </a:rPr>
                <a:t>The brief calls for one command that runs the whole pipeline in the correct order, with every stage logged before and after.</a:t>
              </a:r>
              <a:endParaRPr lang="en-US" sz="2250" dirty="0"/>
            </a:p>
          </p:txBody>
        </p:sp>
        <p:sp>
          <p:nvSpPr>
            <p:cNvPr id="14" name="Cloned 14"/>
            <p:cNvSpPr/>
            <p:nvPr/>
          </p:nvSpPr>
          <p:spPr>
            <a:xfrm>
              <a:off x="1036177" y="7639460"/>
              <a:ext cx="8025194" cy="1050000"/>
            </a:xfrm>
            <a:prstGeom prst="rect">
              <a:avLst/>
            </a:prstGeom>
            <a:noFill/>
            <a:ln/>
          </p:spPr>
          <p:txBody>
            <a:bodyPr wrap="square" lIns="25400" tIns="25400" rIns="25400" bIns="25400" rtlCol="0" anchor="t">
              <a:normAutofit fontScale="85000" lnSpcReduction="20000"/>
            </a:bodyPr>
            <a:lstStyle/>
            <a:p>
              <a:pPr marL="0" indent="0" algn="l">
                <a:lnSpc>
                  <a:spcPct val="132353"/>
                </a:lnSpc>
                <a:buNone/>
              </a:pPr>
              <a:r>
                <a:rPr lang="en-US" sz="2250" dirty="0">
                  <a:solidFill>
                    <a:srgbClr val="1D1F20"/>
                  </a:solidFill>
                  <a:latin typeface="Arial" pitchFamily="34" charset="0"/>
                  <a:ea typeface="Arial" pitchFamily="34" charset="-122"/>
                  <a:cs typeface="Arial" pitchFamily="34" charset="-120"/>
                </a:rPr>
                <a:t>Two independent tracks: ind (individual, 175 columns) and emig (emigration module, 28 columns) — pushed through identical stages, never merged in this phase.</a:t>
              </a:r>
              <a:endParaRPr lang="en-US" sz="2250" dirty="0"/>
            </a:p>
          </p:txBody>
        </p:sp>
      </p:grpSp>
      <p:grpSp>
        <p:nvGrpSpPr>
          <p:cNvPr id="16" name="Group 15">
            <a:extLst>
              <a:ext uri="{FF2B5EF4-FFF2-40B4-BE49-F238E27FC236}">
                <a16:creationId xmlns:a16="http://schemas.microsoft.com/office/drawing/2014/main" id="{83E5D082-5DB2-67AC-A3E5-0A1CCD739A4F}"/>
              </a:ext>
            </a:extLst>
          </p:cNvPr>
          <p:cNvGrpSpPr/>
          <p:nvPr/>
        </p:nvGrpSpPr>
        <p:grpSpPr>
          <a:xfrm>
            <a:off x="10412061" y="3998336"/>
            <a:ext cx="8183471" cy="3611548"/>
            <a:chOff x="9877425" y="5211938"/>
            <a:chExt cx="7709792" cy="3201284"/>
          </a:xfrm>
        </p:grpSpPr>
        <p:sp>
          <p:nvSpPr>
            <p:cNvPr id="11" name="Text 9"/>
            <p:cNvSpPr/>
            <p:nvPr/>
          </p:nvSpPr>
          <p:spPr>
            <a:xfrm>
              <a:off x="9959597" y="5211938"/>
              <a:ext cx="762762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80" dirty="0">
                  <a:solidFill>
                    <a:srgbClr val="416180"/>
                  </a:solidFill>
                  <a:latin typeface="Arial" pitchFamily="34" charset="0"/>
                  <a:ea typeface="Arial" pitchFamily="34" charset="-122"/>
                  <a:cs typeface="Arial" pitchFamily="34" charset="-120"/>
                </a:rPr>
                <a:t>ASSIGNED DATASET</a:t>
              </a:r>
              <a:endParaRPr lang="en-US" sz="1800" dirty="0"/>
            </a:p>
          </p:txBody>
        </p:sp>
        <p:sp>
          <p:nvSpPr>
            <p:cNvPr id="12" name="Text 10"/>
            <p:cNvSpPr/>
            <p:nvPr/>
          </p:nvSpPr>
          <p:spPr>
            <a:xfrm>
              <a:off x="9877425" y="5741343"/>
              <a:ext cx="7627620" cy="658118"/>
            </a:xfrm>
            <a:prstGeom prst="rect">
              <a:avLst/>
            </a:prstGeom>
            <a:noFill/>
            <a:ln/>
          </p:spPr>
          <p:txBody>
            <a:bodyPr wrap="square" lIns="25400" tIns="25400" rIns="25400" bIns="25400" rtlCol="0" anchor="t">
              <a:normAutofit/>
            </a:bodyPr>
            <a:lstStyle/>
            <a:p>
              <a:pPr marL="0" indent="0" algn="l">
                <a:lnSpc>
                  <a:spcPct val="135625"/>
                </a:lnSpc>
                <a:buNone/>
              </a:pPr>
              <a:r>
                <a:rPr lang="en-US" sz="3150" b="1" dirty="0">
                  <a:solidFill>
                    <a:srgbClr val="1D1F20"/>
                  </a:solidFill>
                  <a:latin typeface="Arial" pitchFamily="34" charset="0"/>
                  <a:ea typeface="Arial" pitchFamily="34" charset="-122"/>
                  <a:cs typeface="Arial" pitchFamily="34" charset="-120"/>
                </a:rPr>
                <a:t>Guyana Labour Force Survey</a:t>
              </a:r>
              <a:endParaRPr lang="en-US" sz="3150" dirty="0"/>
            </a:p>
          </p:txBody>
        </p:sp>
        <p:sp>
          <p:nvSpPr>
            <p:cNvPr id="13" name="Text 11"/>
            <p:cNvSpPr/>
            <p:nvPr/>
          </p:nvSpPr>
          <p:spPr>
            <a:xfrm>
              <a:off x="9877425" y="6570911"/>
              <a:ext cx="7627620" cy="892311"/>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1D1F20">
                      <a:alpha val="75000"/>
                    </a:srgbClr>
                  </a:solidFill>
                  <a:latin typeface="Arial" pitchFamily="34" charset="0"/>
                  <a:ea typeface="Arial" pitchFamily="34" charset="-122"/>
                  <a:cs typeface="Arial" pitchFamily="34" charset="-120"/>
                </a:rPr>
                <a:t>2017, Quarter 4 — survey round 174</a:t>
              </a:r>
              <a:endParaRPr lang="en-US" sz="1800" dirty="0"/>
            </a:p>
            <a:p>
              <a:pPr marL="0" indent="0" algn="l">
                <a:lnSpc>
                  <a:spcPct val="132857"/>
                </a:lnSpc>
                <a:buNone/>
              </a:pPr>
              <a:r>
                <a:rPr lang="en-US" sz="1800" dirty="0">
                  <a:solidFill>
                    <a:srgbClr val="1D1F20">
                      <a:alpha val="75000"/>
                    </a:srgbClr>
                  </a:solidFill>
                  <a:latin typeface="Arial" pitchFamily="34" charset="0"/>
                  <a:ea typeface="Arial" pitchFamily="34" charset="-122"/>
                  <a:cs typeface="Arial" pitchFamily="34" charset="-120"/>
                </a:rPr>
                <a:t>hhid links the two tracks, but each is diagnosed and cleaned on its own.</a:t>
              </a:r>
              <a:endParaRPr lang="en-US" sz="1800" dirty="0"/>
            </a:p>
          </p:txBody>
        </p:sp>
        <p:sp>
          <p:nvSpPr>
            <p:cNvPr id="15" name="Cloned 15"/>
            <p:cNvSpPr/>
            <p:nvPr/>
          </p:nvSpPr>
          <p:spPr>
            <a:xfrm>
              <a:off x="9877425" y="7913222"/>
              <a:ext cx="7627620" cy="500000"/>
            </a:xfrm>
            <a:prstGeom prst="rect">
              <a:avLst/>
            </a:prstGeom>
            <a:noFill/>
            <a:ln/>
          </p:spPr>
          <p:txBody>
            <a:bodyPr wrap="square" lIns="25400" tIns="25400" rIns="25400" bIns="25400" rtlCol="0" anchor="t">
              <a:normAutofit fontScale="85000" lnSpcReduction="10000"/>
            </a:bodyPr>
            <a:lstStyle/>
            <a:p>
              <a:pPr marL="0" indent="0" algn="l">
                <a:lnSpc>
                  <a:spcPct val="132857"/>
                </a:lnSpc>
                <a:buNone/>
              </a:pPr>
              <a:r>
                <a:rPr lang="en-US" sz="1800" dirty="0">
                  <a:solidFill>
                    <a:srgbClr val="1D1F20">
                      <a:alpha val="75000"/>
                    </a:srgbClr>
                  </a:solidFill>
                  <a:latin typeface="Arial" pitchFamily="34" charset="0"/>
                  <a:ea typeface="Arial" pitchFamily="34" charset="-122"/>
                  <a:cs typeface="Arial" pitchFamily="34" charset="-120"/>
                </a:rPr>
                <a:t>This phase stops at a written problem inventory — cleaning is a separate, later pass.</a:t>
              </a:r>
              <a:endParaRPr lang="en-US" sz="1800" dirty="0"/>
            </a:p>
          </p:txBody>
        </p:sp>
      </p:grpSp>
      <p:grpSp>
        <p:nvGrpSpPr>
          <p:cNvPr id="17" name="Group 16">
            <a:extLst>
              <a:ext uri="{FF2B5EF4-FFF2-40B4-BE49-F238E27FC236}">
                <a16:creationId xmlns:a16="http://schemas.microsoft.com/office/drawing/2014/main" id="{254C478E-DB2F-8677-75C9-0D60B1B92111}"/>
              </a:ext>
            </a:extLst>
          </p:cNvPr>
          <p:cNvGrpSpPr/>
          <p:nvPr/>
        </p:nvGrpSpPr>
        <p:grpSpPr>
          <a:xfrm>
            <a:off x="0" y="7892425"/>
            <a:ext cx="10133884" cy="2356855"/>
            <a:chOff x="952500" y="4625578"/>
            <a:chExt cx="16459200" cy="3265822"/>
          </a:xfrm>
        </p:grpSpPr>
        <p:sp>
          <p:nvSpPr>
            <p:cNvPr id="18" name="Shape 2">
              <a:extLst>
                <a:ext uri="{FF2B5EF4-FFF2-40B4-BE49-F238E27FC236}">
                  <a16:creationId xmlns:a16="http://schemas.microsoft.com/office/drawing/2014/main" id="{C9D78A98-B1F5-26A0-D72C-E9B2964BA1F1}"/>
                </a:ext>
              </a:extLst>
            </p:cNvPr>
            <p:cNvSpPr/>
            <p:nvPr/>
          </p:nvSpPr>
          <p:spPr>
            <a:xfrm>
              <a:off x="1047750" y="4720828"/>
              <a:ext cx="5092601" cy="2661047"/>
            </a:xfrm>
            <a:prstGeom prst="rect">
              <a:avLst/>
            </a:prstGeom>
            <a:ln w="9525">
              <a:solidFill>
                <a:srgbClr val="1F1F1F">
                  <a:alpha val="16000"/>
                </a:srgbClr>
              </a:solidFill>
              <a:prstDash val="solid"/>
            </a:ln>
          </p:spPr>
          <p:txBody>
            <a:bodyPr/>
            <a:lstStyle/>
            <a:p>
              <a:endParaRPr lang="en-US"/>
            </a:p>
          </p:txBody>
        </p:sp>
        <p:sp>
          <p:nvSpPr>
            <p:cNvPr id="19" name="Text 3">
              <a:extLst>
                <a:ext uri="{FF2B5EF4-FFF2-40B4-BE49-F238E27FC236}">
                  <a16:creationId xmlns:a16="http://schemas.microsoft.com/office/drawing/2014/main" id="{3AD60D59-5DE8-F22C-EE74-C0F5E6FB9001}"/>
                </a:ext>
              </a:extLst>
            </p:cNvPr>
            <p:cNvSpPr/>
            <p:nvPr/>
          </p:nvSpPr>
          <p:spPr>
            <a:xfrm>
              <a:off x="952500" y="4625578"/>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0" name="Text 4">
              <a:extLst>
                <a:ext uri="{FF2B5EF4-FFF2-40B4-BE49-F238E27FC236}">
                  <a16:creationId xmlns:a16="http://schemas.microsoft.com/office/drawing/2014/main" id="{FABE4FD4-275F-A06A-3948-18685AD7B5DC}"/>
                </a:ext>
              </a:extLst>
            </p:cNvPr>
            <p:cNvSpPr/>
            <p:nvPr/>
          </p:nvSpPr>
          <p:spPr>
            <a:xfrm>
              <a:off x="6113115" y="4625578"/>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1" name="Text 5">
              <a:extLst>
                <a:ext uri="{FF2B5EF4-FFF2-40B4-BE49-F238E27FC236}">
                  <a16:creationId xmlns:a16="http://schemas.microsoft.com/office/drawing/2014/main" id="{BE117A25-AA90-C80A-0AF8-BAE3ACE89619}"/>
                </a:ext>
              </a:extLst>
            </p:cNvPr>
            <p:cNvSpPr/>
            <p:nvPr/>
          </p:nvSpPr>
          <p:spPr>
            <a:xfrm>
              <a:off x="952500" y="7152382"/>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2" name="Text 6">
              <a:extLst>
                <a:ext uri="{FF2B5EF4-FFF2-40B4-BE49-F238E27FC236}">
                  <a16:creationId xmlns:a16="http://schemas.microsoft.com/office/drawing/2014/main" id="{427B7849-44FE-216B-4121-B8051796B3E5}"/>
                </a:ext>
              </a:extLst>
            </p:cNvPr>
            <p:cNvSpPr/>
            <p:nvPr/>
          </p:nvSpPr>
          <p:spPr>
            <a:xfrm>
              <a:off x="6113115" y="7152382"/>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3" name="Text 7">
              <a:extLst>
                <a:ext uri="{FF2B5EF4-FFF2-40B4-BE49-F238E27FC236}">
                  <a16:creationId xmlns:a16="http://schemas.microsoft.com/office/drawing/2014/main" id="{49E2DADA-71FC-5726-CB49-9CFB5CE9F1F9}"/>
                </a:ext>
              </a:extLst>
            </p:cNvPr>
            <p:cNvSpPr/>
            <p:nvPr/>
          </p:nvSpPr>
          <p:spPr>
            <a:xfrm>
              <a:off x="1400176" y="5149453"/>
              <a:ext cx="4911625" cy="971550"/>
            </a:xfrm>
            <a:prstGeom prst="rect">
              <a:avLst/>
            </a:prstGeom>
            <a:noFill/>
            <a:ln/>
          </p:spPr>
          <p:txBody>
            <a:bodyPr wrap="square" lIns="25400" tIns="25400" rIns="25400" bIns="25400" rtlCol="0" anchor="t">
              <a:normAutofit fontScale="77500" lnSpcReduction="20000"/>
            </a:bodyPr>
            <a:lstStyle/>
            <a:p>
              <a:pPr marL="0" indent="0" algn="l">
                <a:lnSpc>
                  <a:spcPct val="86726"/>
                </a:lnSpc>
                <a:buNone/>
              </a:pPr>
              <a:r>
                <a:rPr lang="en-US" sz="7350" b="1" dirty="0">
                  <a:solidFill>
                    <a:srgbClr val="416180"/>
                  </a:solidFill>
                  <a:latin typeface="Arial" pitchFamily="34" charset="0"/>
                  <a:ea typeface="Arial" pitchFamily="34" charset="-122"/>
                  <a:cs typeface="Arial" pitchFamily="34" charset="-120"/>
                </a:rPr>
                <a:t>13,853</a:t>
              </a:r>
              <a:endParaRPr lang="en-US" sz="7350" dirty="0"/>
            </a:p>
          </p:txBody>
        </p:sp>
        <p:sp>
          <p:nvSpPr>
            <p:cNvPr id="24" name="Text 8">
              <a:extLst>
                <a:ext uri="{FF2B5EF4-FFF2-40B4-BE49-F238E27FC236}">
                  <a16:creationId xmlns:a16="http://schemas.microsoft.com/office/drawing/2014/main" id="{7750D708-54CF-FB60-985A-67CCA7173B8E}"/>
                </a:ext>
              </a:extLst>
            </p:cNvPr>
            <p:cNvSpPr/>
            <p:nvPr/>
          </p:nvSpPr>
          <p:spPr>
            <a:xfrm>
              <a:off x="1400175" y="6235303"/>
              <a:ext cx="4519383" cy="756047"/>
            </a:xfrm>
            <a:prstGeom prst="rect">
              <a:avLst/>
            </a:prstGeom>
            <a:noFill/>
            <a:ln/>
          </p:spPr>
          <p:txBody>
            <a:bodyPr wrap="square" lIns="25400" tIns="25400" rIns="25400" bIns="25400" rtlCol="0" anchor="t">
              <a:normAutofit fontScale="77500" lnSpcReduction="20000"/>
            </a:bodyPr>
            <a:lstStyle/>
            <a:p>
              <a:pPr marL="0" indent="0" algn="l">
                <a:lnSpc>
                  <a:spcPct val="132857"/>
                </a:lnSpc>
                <a:buNone/>
              </a:pPr>
              <a:r>
                <a:rPr lang="en-US" sz="1800" dirty="0">
                  <a:solidFill>
                    <a:srgbClr val="1D1F20"/>
                  </a:solidFill>
                  <a:latin typeface="Arial" pitchFamily="34" charset="0"/>
                  <a:ea typeface="Arial" pitchFamily="34" charset="-122"/>
                  <a:cs typeface="Arial" pitchFamily="34" charset="-120"/>
                </a:rPr>
                <a:t>individual records, 175 columns — the </a:t>
              </a:r>
              <a:r>
                <a:rPr lang="en-US" sz="1800" i="1" dirty="0">
                  <a:solidFill>
                    <a:srgbClr val="1D1F20"/>
                  </a:solidFill>
                  <a:latin typeface="Arial" pitchFamily="34" charset="0"/>
                  <a:ea typeface="Arial" pitchFamily="34" charset="-122"/>
                  <a:cs typeface="Arial" pitchFamily="34" charset="-120"/>
                </a:rPr>
                <a:t>ind </a:t>
              </a:r>
              <a:r>
                <a:rPr lang="en-US" sz="1800" dirty="0">
                  <a:solidFill>
                    <a:srgbClr val="1D1F20"/>
                  </a:solidFill>
                  <a:latin typeface="Arial" pitchFamily="34" charset="0"/>
                  <a:ea typeface="Arial" pitchFamily="34" charset="-122"/>
                  <a:cs typeface="Arial" pitchFamily="34" charset="-120"/>
                </a:rPr>
                <a:t>track</a:t>
              </a:r>
              <a:endParaRPr lang="en-US" sz="1800" dirty="0"/>
            </a:p>
          </p:txBody>
        </p:sp>
        <p:sp>
          <p:nvSpPr>
            <p:cNvPr id="25" name="Shape 9">
              <a:extLst>
                <a:ext uri="{FF2B5EF4-FFF2-40B4-BE49-F238E27FC236}">
                  <a16:creationId xmlns:a16="http://schemas.microsoft.com/office/drawing/2014/main" id="{6EABB370-1B43-FA01-5ADC-F09913304F07}"/>
                </a:ext>
              </a:extLst>
            </p:cNvPr>
            <p:cNvSpPr/>
            <p:nvPr/>
          </p:nvSpPr>
          <p:spPr>
            <a:xfrm>
              <a:off x="6597551" y="4720828"/>
              <a:ext cx="5092750" cy="2661047"/>
            </a:xfrm>
            <a:prstGeom prst="rect">
              <a:avLst/>
            </a:prstGeom>
            <a:ln w="9525">
              <a:solidFill>
                <a:srgbClr val="1F1F1F">
                  <a:alpha val="16000"/>
                </a:srgbClr>
              </a:solidFill>
              <a:prstDash val="solid"/>
            </a:ln>
          </p:spPr>
          <p:txBody>
            <a:bodyPr/>
            <a:lstStyle/>
            <a:p>
              <a:endParaRPr lang="en-US"/>
            </a:p>
          </p:txBody>
        </p:sp>
        <p:sp>
          <p:nvSpPr>
            <p:cNvPr id="26" name="Text 10">
              <a:extLst>
                <a:ext uri="{FF2B5EF4-FFF2-40B4-BE49-F238E27FC236}">
                  <a16:creationId xmlns:a16="http://schemas.microsoft.com/office/drawing/2014/main" id="{D78A47E2-CF78-FB3E-38C8-239AF2F148F4}"/>
                </a:ext>
              </a:extLst>
            </p:cNvPr>
            <p:cNvSpPr/>
            <p:nvPr/>
          </p:nvSpPr>
          <p:spPr>
            <a:xfrm>
              <a:off x="6502301" y="4625578"/>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7" name="Text 11">
              <a:extLst>
                <a:ext uri="{FF2B5EF4-FFF2-40B4-BE49-F238E27FC236}">
                  <a16:creationId xmlns:a16="http://schemas.microsoft.com/office/drawing/2014/main" id="{F5C07983-57AB-866F-6EF1-FAF4F2514C98}"/>
                </a:ext>
              </a:extLst>
            </p:cNvPr>
            <p:cNvSpPr/>
            <p:nvPr/>
          </p:nvSpPr>
          <p:spPr>
            <a:xfrm>
              <a:off x="11663065" y="4625578"/>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8" name="Text 12">
              <a:extLst>
                <a:ext uri="{FF2B5EF4-FFF2-40B4-BE49-F238E27FC236}">
                  <a16:creationId xmlns:a16="http://schemas.microsoft.com/office/drawing/2014/main" id="{E3001D63-10AA-4817-5514-4F842EEBF9B1}"/>
                </a:ext>
              </a:extLst>
            </p:cNvPr>
            <p:cNvSpPr/>
            <p:nvPr/>
          </p:nvSpPr>
          <p:spPr>
            <a:xfrm>
              <a:off x="6502301" y="7152382"/>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9" name="Text 13">
              <a:extLst>
                <a:ext uri="{FF2B5EF4-FFF2-40B4-BE49-F238E27FC236}">
                  <a16:creationId xmlns:a16="http://schemas.microsoft.com/office/drawing/2014/main" id="{AD5BF92B-9FC9-89F3-1D35-BC6214006BDC}"/>
                </a:ext>
              </a:extLst>
            </p:cNvPr>
            <p:cNvSpPr/>
            <p:nvPr/>
          </p:nvSpPr>
          <p:spPr>
            <a:xfrm>
              <a:off x="11663065" y="7152382"/>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0" name="Text 14">
              <a:extLst>
                <a:ext uri="{FF2B5EF4-FFF2-40B4-BE49-F238E27FC236}">
                  <a16:creationId xmlns:a16="http://schemas.microsoft.com/office/drawing/2014/main" id="{73631F65-3907-654E-3092-9F65733D151B}"/>
                </a:ext>
              </a:extLst>
            </p:cNvPr>
            <p:cNvSpPr/>
            <p:nvPr/>
          </p:nvSpPr>
          <p:spPr>
            <a:xfrm>
              <a:off x="6949976" y="5149453"/>
              <a:ext cx="4826690" cy="971550"/>
            </a:xfrm>
            <a:prstGeom prst="rect">
              <a:avLst/>
            </a:prstGeom>
            <a:noFill/>
            <a:ln/>
          </p:spPr>
          <p:txBody>
            <a:bodyPr wrap="square" lIns="25400" tIns="25400" rIns="25400" bIns="25400" rtlCol="0" anchor="t">
              <a:normAutofit fontScale="77500" lnSpcReduction="20000"/>
            </a:bodyPr>
            <a:lstStyle/>
            <a:p>
              <a:pPr marL="0" indent="0" algn="l">
                <a:lnSpc>
                  <a:spcPct val="86726"/>
                </a:lnSpc>
                <a:buNone/>
              </a:pPr>
              <a:r>
                <a:rPr lang="en-US" sz="7350" b="1" dirty="0">
                  <a:solidFill>
                    <a:srgbClr val="416180"/>
                  </a:solidFill>
                  <a:latin typeface="Arial" pitchFamily="34" charset="0"/>
                  <a:ea typeface="Arial" pitchFamily="34" charset="-122"/>
                  <a:cs typeface="Arial" pitchFamily="34" charset="-120"/>
                </a:rPr>
                <a:t>659</a:t>
              </a:r>
              <a:endParaRPr lang="en-US" sz="7350" dirty="0"/>
            </a:p>
          </p:txBody>
        </p:sp>
        <p:sp>
          <p:nvSpPr>
            <p:cNvPr id="31" name="Text 15">
              <a:extLst>
                <a:ext uri="{FF2B5EF4-FFF2-40B4-BE49-F238E27FC236}">
                  <a16:creationId xmlns:a16="http://schemas.microsoft.com/office/drawing/2014/main" id="{EED35876-42F8-C866-49D6-E8417EC06B5D}"/>
                </a:ext>
              </a:extLst>
            </p:cNvPr>
            <p:cNvSpPr/>
            <p:nvPr/>
          </p:nvSpPr>
          <p:spPr>
            <a:xfrm>
              <a:off x="6949976" y="6235303"/>
              <a:ext cx="4519537" cy="756047"/>
            </a:xfrm>
            <a:prstGeom prst="rect">
              <a:avLst/>
            </a:prstGeom>
            <a:noFill/>
            <a:ln/>
          </p:spPr>
          <p:txBody>
            <a:bodyPr wrap="square" lIns="25400" tIns="25400" rIns="25400" bIns="25400" rtlCol="0" anchor="t">
              <a:normAutofit fontScale="77500" lnSpcReduction="20000"/>
            </a:bodyPr>
            <a:lstStyle/>
            <a:p>
              <a:pPr marL="0" indent="0" algn="l">
                <a:lnSpc>
                  <a:spcPct val="132857"/>
                </a:lnSpc>
                <a:buNone/>
              </a:pPr>
              <a:r>
                <a:rPr lang="en-US" sz="1800" dirty="0">
                  <a:solidFill>
                    <a:srgbClr val="1D1F20"/>
                  </a:solidFill>
                  <a:latin typeface="Arial" pitchFamily="34" charset="0"/>
                  <a:ea typeface="Arial" pitchFamily="34" charset="-122"/>
                  <a:cs typeface="Arial" pitchFamily="34" charset="-120"/>
                </a:rPr>
                <a:t>households, 28 columns — the </a:t>
              </a:r>
              <a:r>
                <a:rPr lang="en-US" sz="1800" i="1" dirty="0">
                  <a:solidFill>
                    <a:srgbClr val="1D1F20"/>
                  </a:solidFill>
                  <a:latin typeface="Arial" pitchFamily="34" charset="0"/>
                  <a:ea typeface="Arial" pitchFamily="34" charset="-122"/>
                  <a:cs typeface="Arial" pitchFamily="34" charset="-120"/>
                </a:rPr>
                <a:t>emig </a:t>
              </a:r>
              <a:r>
                <a:rPr lang="en-US" sz="1800" dirty="0">
                  <a:solidFill>
                    <a:srgbClr val="1D1F20"/>
                  </a:solidFill>
                  <a:latin typeface="Arial" pitchFamily="34" charset="0"/>
                  <a:ea typeface="Arial" pitchFamily="34" charset="-122"/>
                  <a:cs typeface="Arial" pitchFamily="34" charset="-120"/>
                </a:rPr>
                <a:t>emigration module</a:t>
              </a:r>
              <a:endParaRPr lang="en-US" sz="1800" dirty="0"/>
            </a:p>
          </p:txBody>
        </p:sp>
        <p:sp>
          <p:nvSpPr>
            <p:cNvPr id="32" name="Shape 16">
              <a:extLst>
                <a:ext uri="{FF2B5EF4-FFF2-40B4-BE49-F238E27FC236}">
                  <a16:creationId xmlns:a16="http://schemas.microsoft.com/office/drawing/2014/main" id="{B4556CB6-44D3-9EC5-3790-4D71D395923D}"/>
                </a:ext>
              </a:extLst>
            </p:cNvPr>
            <p:cNvSpPr/>
            <p:nvPr/>
          </p:nvSpPr>
          <p:spPr>
            <a:xfrm>
              <a:off x="12147500" y="4720828"/>
              <a:ext cx="5092750" cy="2661047"/>
            </a:xfrm>
            <a:prstGeom prst="rect">
              <a:avLst/>
            </a:prstGeom>
            <a:ln w="9525">
              <a:solidFill>
                <a:srgbClr val="1F1F1F">
                  <a:alpha val="16000"/>
                </a:srgbClr>
              </a:solidFill>
              <a:prstDash val="solid"/>
            </a:ln>
          </p:spPr>
          <p:txBody>
            <a:bodyPr/>
            <a:lstStyle/>
            <a:p>
              <a:endParaRPr lang="en-US"/>
            </a:p>
          </p:txBody>
        </p:sp>
        <p:sp>
          <p:nvSpPr>
            <p:cNvPr id="33" name="Text 17">
              <a:extLst>
                <a:ext uri="{FF2B5EF4-FFF2-40B4-BE49-F238E27FC236}">
                  <a16:creationId xmlns:a16="http://schemas.microsoft.com/office/drawing/2014/main" id="{8AC052BE-1C60-F5DC-26A4-C18504B3AD4A}"/>
                </a:ext>
              </a:extLst>
            </p:cNvPr>
            <p:cNvSpPr/>
            <p:nvPr/>
          </p:nvSpPr>
          <p:spPr>
            <a:xfrm>
              <a:off x="12052250" y="4625578"/>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4" name="Text 18">
              <a:extLst>
                <a:ext uri="{FF2B5EF4-FFF2-40B4-BE49-F238E27FC236}">
                  <a16:creationId xmlns:a16="http://schemas.microsoft.com/office/drawing/2014/main" id="{CA2A11F5-68FC-8C8C-00F1-E89049E18F71}"/>
                </a:ext>
              </a:extLst>
            </p:cNvPr>
            <p:cNvSpPr/>
            <p:nvPr/>
          </p:nvSpPr>
          <p:spPr>
            <a:xfrm>
              <a:off x="17213014" y="4625578"/>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5" name="Text 19">
              <a:extLst>
                <a:ext uri="{FF2B5EF4-FFF2-40B4-BE49-F238E27FC236}">
                  <a16:creationId xmlns:a16="http://schemas.microsoft.com/office/drawing/2014/main" id="{16CFDF87-619C-5D85-2BF2-3F437DC3397A}"/>
                </a:ext>
              </a:extLst>
            </p:cNvPr>
            <p:cNvSpPr/>
            <p:nvPr/>
          </p:nvSpPr>
          <p:spPr>
            <a:xfrm>
              <a:off x="12052250" y="7152382"/>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6" name="Text 20">
              <a:extLst>
                <a:ext uri="{FF2B5EF4-FFF2-40B4-BE49-F238E27FC236}">
                  <a16:creationId xmlns:a16="http://schemas.microsoft.com/office/drawing/2014/main" id="{E7965642-34C6-1439-08B8-A8D3CD76BDDF}"/>
                </a:ext>
              </a:extLst>
            </p:cNvPr>
            <p:cNvSpPr/>
            <p:nvPr/>
          </p:nvSpPr>
          <p:spPr>
            <a:xfrm>
              <a:off x="17213014" y="7152382"/>
              <a:ext cx="198686" cy="362843"/>
            </a:xfrm>
            <a:prstGeom prst="rect">
              <a:avLst/>
            </a:prstGeom>
            <a:noFill/>
            <a:ln/>
          </p:spPr>
          <p:txBody>
            <a:bodyPr wrap="square" lIns="25400" tIns="25400" rIns="25400" bIns="25400" rtlCol="0" anchor="t">
              <a:normAutofit fontScale="77500" lnSpcReduction="20000"/>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7" name="Text 21">
              <a:extLst>
                <a:ext uri="{FF2B5EF4-FFF2-40B4-BE49-F238E27FC236}">
                  <a16:creationId xmlns:a16="http://schemas.microsoft.com/office/drawing/2014/main" id="{E9A1EB65-28A5-DC62-61D6-25183C02DAE0}"/>
                </a:ext>
              </a:extLst>
            </p:cNvPr>
            <p:cNvSpPr/>
            <p:nvPr/>
          </p:nvSpPr>
          <p:spPr>
            <a:xfrm>
              <a:off x="12499925" y="5149453"/>
              <a:ext cx="4826690" cy="971550"/>
            </a:xfrm>
            <a:prstGeom prst="rect">
              <a:avLst/>
            </a:prstGeom>
            <a:noFill/>
            <a:ln/>
          </p:spPr>
          <p:txBody>
            <a:bodyPr wrap="square" lIns="25400" tIns="25400" rIns="25400" bIns="25400" rtlCol="0" anchor="t">
              <a:normAutofit fontScale="77500" lnSpcReduction="20000"/>
            </a:bodyPr>
            <a:lstStyle/>
            <a:p>
              <a:pPr marL="0" indent="0" algn="l">
                <a:lnSpc>
                  <a:spcPct val="86726"/>
                </a:lnSpc>
                <a:buNone/>
              </a:pPr>
              <a:r>
                <a:rPr lang="en-US" sz="7350" b="1" dirty="0">
                  <a:solidFill>
                    <a:srgbClr val="416180"/>
                  </a:solidFill>
                  <a:latin typeface="Arial" pitchFamily="34" charset="0"/>
                  <a:ea typeface="Arial" pitchFamily="34" charset="-122"/>
                  <a:cs typeface="Arial" pitchFamily="34" charset="-120"/>
                </a:rPr>
                <a:t>3,783</a:t>
              </a:r>
              <a:endParaRPr lang="en-US" sz="7350" dirty="0"/>
            </a:p>
          </p:txBody>
        </p:sp>
        <p:sp>
          <p:nvSpPr>
            <p:cNvPr id="38" name="Text 22">
              <a:extLst>
                <a:ext uri="{FF2B5EF4-FFF2-40B4-BE49-F238E27FC236}">
                  <a16:creationId xmlns:a16="http://schemas.microsoft.com/office/drawing/2014/main" id="{8F9D18EC-E03B-C19C-70E3-59798EE2D710}"/>
                </a:ext>
              </a:extLst>
            </p:cNvPr>
            <p:cNvSpPr/>
            <p:nvPr/>
          </p:nvSpPr>
          <p:spPr>
            <a:xfrm>
              <a:off x="12499925" y="6235303"/>
              <a:ext cx="4519537" cy="746522"/>
            </a:xfrm>
            <a:prstGeom prst="rect">
              <a:avLst/>
            </a:prstGeom>
            <a:noFill/>
            <a:ln/>
          </p:spPr>
          <p:txBody>
            <a:bodyPr wrap="square" lIns="25400" tIns="25400" rIns="25400" bIns="25400" rtlCol="0" anchor="t">
              <a:normAutofit fontScale="62500" lnSpcReduction="20000"/>
            </a:bodyPr>
            <a:lstStyle/>
            <a:p>
              <a:pPr marL="0" indent="0" algn="l">
                <a:lnSpc>
                  <a:spcPct val="132857"/>
                </a:lnSpc>
                <a:buNone/>
              </a:pPr>
              <a:r>
                <a:rPr lang="en-US" sz="1800" dirty="0">
                  <a:solidFill>
                    <a:srgbClr val="1D1F20"/>
                  </a:solidFill>
                  <a:latin typeface="Arial" pitchFamily="34" charset="0"/>
                  <a:ea typeface="Arial" pitchFamily="34" charset="-122"/>
                  <a:cs typeface="Arial" pitchFamily="34" charset="-120"/>
                </a:rPr>
                <a:t>households in the underlying sample, per the methodological report</a:t>
              </a:r>
              <a:endParaRPr lang="en-US" sz="1800" dirty="0"/>
            </a:p>
          </p:txBody>
        </p:sp>
        <p:sp>
          <p:nvSpPr>
            <p:cNvPr id="39" name="Cloned 25">
              <a:extLst>
                <a:ext uri="{FF2B5EF4-FFF2-40B4-BE49-F238E27FC236}">
                  <a16:creationId xmlns:a16="http://schemas.microsoft.com/office/drawing/2014/main" id="{0E37CDF7-EBB5-38B2-8D80-E3DD6FD17E12}"/>
                </a:ext>
              </a:extLst>
            </p:cNvPr>
            <p:cNvSpPr/>
            <p:nvPr/>
          </p:nvSpPr>
          <p:spPr>
            <a:xfrm>
              <a:off x="1047750" y="7881875"/>
              <a:ext cx="16192500" cy="9525"/>
            </a:xfrm>
            <a:prstGeom prst="rect">
              <a:avLst/>
            </a:prstGeom>
            <a:solidFill>
              <a:srgbClr val="1F1F1F">
                <a:alpha val="16000"/>
              </a:srgbClr>
            </a:solidFill>
            <a:ln/>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D2D3D"/>
        </a:solidFill>
        <a:effectLst/>
      </p:bgPr>
    </p:bg>
    <p:spTree>
      <p:nvGrpSpPr>
        <p:cNvPr id="1" name=""/>
        <p:cNvGrpSpPr/>
        <p:nvPr/>
      </p:nvGrpSpPr>
      <p:grpSpPr>
        <a:xfrm>
          <a:off x="0" y="0"/>
          <a:ext cx="0" cy="0"/>
          <a:chOff x="0" y="0"/>
          <a:chExt cx="0" cy="0"/>
        </a:xfrm>
      </p:grpSpPr>
      <p:sp>
        <p:nvSpPr>
          <p:cNvPr id="2" name="Eyebrow"/>
          <p:cNvSpPr/>
          <p:nvPr/>
        </p:nvSpPr>
        <p:spPr>
          <a:xfrm>
            <a:off x="1218996" y="870472"/>
            <a:ext cx="1040212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a:solidFill>
                  <a:srgbClr val="8FB4D6"/>
                </a:solidFill>
                <a:latin typeface="Arial" pitchFamily="34" charset="0"/>
                <a:ea typeface="Arial" pitchFamily="34" charset="-122"/>
                <a:cs typeface="Arial" pitchFamily="34" charset="-120"/>
              </a:rPr>
              <a:t>THE BRIEF</a:t>
            </a:r>
            <a:endParaRPr lang="en-US" sz="1800"/>
          </a:p>
        </p:txBody>
      </p:sp>
      <p:sp>
        <p:nvSpPr>
          <p:cNvPr id="3" name="Title"/>
          <p:cNvSpPr/>
          <p:nvPr/>
        </p:nvSpPr>
        <p:spPr>
          <a:xfrm>
            <a:off x="1218996" y="1396111"/>
            <a:ext cx="12500000" cy="740000"/>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FFFF00"/>
                </a:solidFill>
                <a:latin typeface="Arial" pitchFamily="34" charset="0"/>
                <a:ea typeface="Arial" pitchFamily="34" charset="-122"/>
                <a:cs typeface="Arial" pitchFamily="34" charset="-120"/>
              </a:rPr>
              <a:t>What the attachment asks for</a:t>
            </a:r>
            <a:endParaRPr lang="en-US" sz="4650" dirty="0">
              <a:solidFill>
                <a:srgbClr val="FFFF00"/>
              </a:solidFill>
            </a:endParaRPr>
          </a:p>
        </p:txBody>
      </p:sp>
      <p:sp>
        <p:nvSpPr>
          <p:cNvPr id="4" name="Card A"/>
          <p:cNvSpPr/>
          <p:nvPr/>
        </p:nvSpPr>
        <p:spPr>
          <a:xfrm>
            <a:off x="1218996" y="3500000"/>
            <a:ext cx="7800000" cy="4200000"/>
          </a:xfrm>
          <a:prstGeom prst="rect">
            <a:avLst/>
          </a:prstGeom>
          <a:solidFill>
            <a:srgbClr val="26394D"/>
          </a:solidFill>
          <a:ln/>
        </p:spPr>
        <p:txBody>
          <a:bodyPr/>
          <a:lstStyle/>
          <a:p>
            <a:endParaRPr lang="en-US"/>
          </a:p>
        </p:txBody>
      </p:sp>
      <p:sp>
        <p:nvSpPr>
          <p:cNvPr id="5" name="Card A Accent"/>
          <p:cNvSpPr/>
          <p:nvPr/>
        </p:nvSpPr>
        <p:spPr>
          <a:xfrm>
            <a:off x="1218996" y="3500000"/>
            <a:ext cx="7800000" cy="76200"/>
          </a:xfrm>
          <a:prstGeom prst="rect">
            <a:avLst/>
          </a:prstGeom>
          <a:solidFill>
            <a:srgbClr val="8FB4D6"/>
          </a:solidFill>
          <a:ln/>
        </p:spPr>
        <p:txBody>
          <a:bodyPr/>
          <a:lstStyle/>
          <a:p>
            <a:endParaRPr lang="en-US"/>
          </a:p>
        </p:txBody>
      </p:sp>
      <p:sp>
        <p:nvSpPr>
          <p:cNvPr id="6" name="Card A Number"/>
          <p:cNvSpPr/>
          <p:nvPr/>
        </p:nvSpPr>
        <p:spPr>
          <a:xfrm>
            <a:off x="1668996" y="3900000"/>
            <a:ext cx="2000000" cy="500000"/>
          </a:xfrm>
          <a:prstGeom prst="rect">
            <a:avLst/>
          </a:prstGeom>
          <a:noFill/>
          <a:ln/>
        </p:spPr>
        <p:txBody>
          <a:bodyPr wrap="square" lIns="25400" tIns="25400" rIns="25400" bIns="25400" rtlCol="0" anchor="t">
            <a:normAutofit/>
          </a:bodyPr>
          <a:lstStyle/>
          <a:p>
            <a:pPr marL="0" indent="0" algn="l">
              <a:buNone/>
            </a:pPr>
            <a:r>
              <a:rPr lang="en-US" sz="2400" b="1" kern="0" spc="108">
                <a:solidFill>
                  <a:srgbClr val="8FB4D6"/>
                </a:solidFill>
                <a:latin typeface="Arial" pitchFamily="34" charset="0"/>
                <a:ea typeface="Arial" pitchFamily="34" charset="-122"/>
                <a:cs typeface="Arial" pitchFamily="34" charset="-120"/>
              </a:rPr>
              <a:t>01</a:t>
            </a:r>
            <a:endParaRPr lang="en-US" sz="2400"/>
          </a:p>
        </p:txBody>
      </p:sp>
      <p:sp>
        <p:nvSpPr>
          <p:cNvPr id="7" name="Card A Label"/>
          <p:cNvSpPr/>
          <p:nvPr/>
        </p:nvSpPr>
        <p:spPr>
          <a:xfrm>
            <a:off x="1668996" y="4550000"/>
            <a:ext cx="6900000" cy="600000"/>
          </a:xfrm>
          <a:prstGeom prst="rect">
            <a:avLst/>
          </a:prstGeom>
          <a:noFill/>
          <a:ln/>
        </p:spPr>
        <p:txBody>
          <a:bodyPr wrap="square" lIns="25400" tIns="25400" rIns="25400" bIns="25400" rtlCol="0" anchor="t">
            <a:normAutofit/>
          </a:bodyPr>
          <a:lstStyle/>
          <a:p>
            <a:pPr marL="0" indent="0" algn="l">
              <a:buNone/>
            </a:pPr>
            <a:r>
              <a:rPr lang="en-US" sz="2800" b="1" kern="0" spc="-30" dirty="0">
                <a:solidFill>
                  <a:srgbClr val="FFFF00"/>
                </a:solidFill>
                <a:latin typeface="Arial" pitchFamily="34" charset="0"/>
                <a:ea typeface="Arial" pitchFamily="34" charset="-122"/>
                <a:cs typeface="Arial" pitchFamily="34" charset="-120"/>
              </a:rPr>
              <a:t>Core Objective</a:t>
            </a:r>
            <a:endParaRPr lang="en-US" sz="2800" dirty="0">
              <a:solidFill>
                <a:srgbClr val="FFFF00"/>
              </a:solidFill>
            </a:endParaRPr>
          </a:p>
        </p:txBody>
      </p:sp>
      <p:sp>
        <p:nvSpPr>
          <p:cNvPr id="8" name="Card A Rule"/>
          <p:cNvSpPr/>
          <p:nvPr/>
        </p:nvSpPr>
        <p:spPr>
          <a:xfrm>
            <a:off x="1668996" y="5300000"/>
            <a:ext cx="1300000" cy="9525"/>
          </a:xfrm>
          <a:prstGeom prst="rect">
            <a:avLst/>
          </a:prstGeom>
          <a:solidFill>
            <a:srgbClr val="8FB4D6">
              <a:alpha val="60000"/>
            </a:srgbClr>
          </a:solidFill>
          <a:ln/>
        </p:spPr>
        <p:txBody>
          <a:bodyPr/>
          <a:lstStyle/>
          <a:p>
            <a:endParaRPr lang="en-US"/>
          </a:p>
        </p:txBody>
      </p:sp>
      <p:sp>
        <p:nvSpPr>
          <p:cNvPr id="9" name="Card A Body"/>
          <p:cNvSpPr/>
          <p:nvPr/>
        </p:nvSpPr>
        <p:spPr>
          <a:xfrm>
            <a:off x="1668996" y="5650000"/>
            <a:ext cx="6900000" cy="1900000"/>
          </a:xfrm>
          <a:prstGeom prst="rect">
            <a:avLst/>
          </a:prstGeom>
          <a:noFill/>
          <a:ln/>
        </p:spPr>
        <p:txBody>
          <a:bodyPr wrap="square" lIns="25400" tIns="25400" rIns="25400" bIns="25400" rtlCol="0" anchor="t">
            <a:normAutofit/>
          </a:bodyPr>
          <a:lstStyle/>
          <a:p>
            <a:pPr marL="0" indent="0" algn="l">
              <a:lnSpc>
                <a:spcPct val="130000"/>
              </a:lnSpc>
              <a:buNone/>
            </a:pPr>
            <a:r>
              <a:rPr lang="en-US" sz="2400">
                <a:solidFill>
                  <a:srgbClr val="E4E9EE"/>
                </a:solidFill>
                <a:latin typeface="Arial" pitchFamily="34" charset="0"/>
                <a:ea typeface="Arial" pitchFamily="34" charset="-122"/>
                <a:cs typeface="Arial" pitchFamily="34" charset="-120"/>
              </a:rPr>
              <a:t>Take real survey microdata from a raw export to an analysis-ready state using custom tooling rather than a guided, step-by-step exercise.</a:t>
            </a:r>
            <a:endParaRPr lang="en-US" sz="2400"/>
          </a:p>
        </p:txBody>
      </p:sp>
      <p:sp>
        <p:nvSpPr>
          <p:cNvPr id="10" name="Card B"/>
          <p:cNvSpPr/>
          <p:nvPr/>
        </p:nvSpPr>
        <p:spPr>
          <a:xfrm>
            <a:off x="9269004" y="3500000"/>
            <a:ext cx="7800000" cy="4200000"/>
          </a:xfrm>
          <a:prstGeom prst="rect">
            <a:avLst/>
          </a:prstGeom>
          <a:solidFill>
            <a:srgbClr val="26394D"/>
          </a:solidFill>
          <a:ln/>
        </p:spPr>
        <p:txBody>
          <a:bodyPr/>
          <a:lstStyle/>
          <a:p>
            <a:endParaRPr lang="en-US" dirty="0"/>
          </a:p>
        </p:txBody>
      </p:sp>
      <p:sp>
        <p:nvSpPr>
          <p:cNvPr id="11" name="Card B Accent"/>
          <p:cNvSpPr/>
          <p:nvPr/>
        </p:nvSpPr>
        <p:spPr>
          <a:xfrm>
            <a:off x="9269004" y="3500000"/>
            <a:ext cx="7800000" cy="76200"/>
          </a:xfrm>
          <a:prstGeom prst="rect">
            <a:avLst/>
          </a:prstGeom>
          <a:solidFill>
            <a:srgbClr val="8FB4D6"/>
          </a:solidFill>
          <a:ln/>
        </p:spPr>
        <p:txBody>
          <a:bodyPr/>
          <a:lstStyle/>
          <a:p>
            <a:endParaRPr lang="en-US"/>
          </a:p>
        </p:txBody>
      </p:sp>
      <p:sp>
        <p:nvSpPr>
          <p:cNvPr id="12" name="Card B Number"/>
          <p:cNvSpPr/>
          <p:nvPr/>
        </p:nvSpPr>
        <p:spPr>
          <a:xfrm>
            <a:off x="9719004" y="3900000"/>
            <a:ext cx="2000000" cy="500000"/>
          </a:xfrm>
          <a:prstGeom prst="rect">
            <a:avLst/>
          </a:prstGeom>
          <a:noFill/>
          <a:ln/>
        </p:spPr>
        <p:txBody>
          <a:bodyPr wrap="square" lIns="25400" tIns="25400" rIns="25400" bIns="25400" rtlCol="0" anchor="t">
            <a:normAutofit/>
          </a:bodyPr>
          <a:lstStyle/>
          <a:p>
            <a:pPr marL="0" indent="0" algn="l">
              <a:buNone/>
            </a:pPr>
            <a:r>
              <a:rPr lang="en-US" sz="2400" b="1" kern="0" spc="108">
                <a:solidFill>
                  <a:srgbClr val="8FB4D6"/>
                </a:solidFill>
                <a:latin typeface="Arial" pitchFamily="34" charset="0"/>
                <a:ea typeface="Arial" pitchFamily="34" charset="-122"/>
                <a:cs typeface="Arial" pitchFamily="34" charset="-120"/>
              </a:rPr>
              <a:t>02</a:t>
            </a:r>
            <a:endParaRPr lang="en-US" sz="2400"/>
          </a:p>
        </p:txBody>
      </p:sp>
      <p:sp>
        <p:nvSpPr>
          <p:cNvPr id="13" name="Card B Label"/>
          <p:cNvSpPr/>
          <p:nvPr/>
        </p:nvSpPr>
        <p:spPr>
          <a:xfrm>
            <a:off x="9719004" y="4550000"/>
            <a:ext cx="6900000" cy="600000"/>
          </a:xfrm>
          <a:prstGeom prst="rect">
            <a:avLst/>
          </a:prstGeom>
          <a:noFill/>
          <a:ln/>
        </p:spPr>
        <p:txBody>
          <a:bodyPr wrap="square" lIns="25400" tIns="25400" rIns="25400" bIns="25400" rtlCol="0" anchor="t">
            <a:normAutofit/>
          </a:bodyPr>
          <a:lstStyle/>
          <a:p>
            <a:pPr marL="0" indent="0" algn="l">
              <a:buNone/>
            </a:pPr>
            <a:r>
              <a:rPr lang="en-US" sz="2800" b="1" kern="0" spc="-30" dirty="0">
                <a:solidFill>
                  <a:srgbClr val="FFFF00"/>
                </a:solidFill>
                <a:latin typeface="Arial" pitchFamily="34" charset="0"/>
                <a:ea typeface="Arial" pitchFamily="34" charset="-122"/>
                <a:cs typeface="Arial" pitchFamily="34" charset="-120"/>
              </a:rPr>
              <a:t>Pipeline Scope</a:t>
            </a:r>
            <a:endParaRPr lang="en-US" sz="2800" dirty="0">
              <a:solidFill>
                <a:srgbClr val="FFFF00"/>
              </a:solidFill>
            </a:endParaRPr>
          </a:p>
        </p:txBody>
      </p:sp>
      <p:sp>
        <p:nvSpPr>
          <p:cNvPr id="14" name="Card B Rule"/>
          <p:cNvSpPr/>
          <p:nvPr/>
        </p:nvSpPr>
        <p:spPr>
          <a:xfrm>
            <a:off x="9719004" y="5300000"/>
            <a:ext cx="1300000" cy="9525"/>
          </a:xfrm>
          <a:prstGeom prst="rect">
            <a:avLst/>
          </a:prstGeom>
          <a:solidFill>
            <a:srgbClr val="8FB4D6">
              <a:alpha val="60000"/>
            </a:srgbClr>
          </a:solidFill>
          <a:ln/>
        </p:spPr>
        <p:txBody>
          <a:bodyPr/>
          <a:lstStyle/>
          <a:p>
            <a:endParaRPr lang="en-US"/>
          </a:p>
        </p:txBody>
      </p:sp>
      <p:sp>
        <p:nvSpPr>
          <p:cNvPr id="15" name="Card B Body"/>
          <p:cNvSpPr/>
          <p:nvPr/>
        </p:nvSpPr>
        <p:spPr>
          <a:xfrm>
            <a:off x="9719004" y="5650000"/>
            <a:ext cx="6900000" cy="1900000"/>
          </a:xfrm>
          <a:prstGeom prst="rect">
            <a:avLst/>
          </a:prstGeom>
          <a:noFill/>
          <a:ln/>
        </p:spPr>
        <p:txBody>
          <a:bodyPr wrap="square" lIns="25400" tIns="25400" rIns="25400" bIns="25400" rtlCol="0" anchor="t">
            <a:normAutofit lnSpcReduction="10000"/>
          </a:bodyPr>
          <a:lstStyle/>
          <a:p>
            <a:pPr marL="0" indent="0" algn="l">
              <a:lnSpc>
                <a:spcPct val="130000"/>
              </a:lnSpc>
              <a:buNone/>
            </a:pPr>
            <a:r>
              <a:rPr lang="en-US" sz="2400">
                <a:solidFill>
                  <a:srgbClr val="E4E9EE"/>
                </a:solidFill>
                <a:latin typeface="Arial" pitchFamily="34" charset="0"/>
                <a:ea typeface="Arial" pitchFamily="34" charset="-122"/>
                <a:cs typeface="Arial" pitchFamily="34" charset="-120"/>
              </a:rPr>
              <a:t>Build a single command that executes the entire pipeline in the correct order, complete with pre- and post-stage logging and a written problem inventory before any modifications are made.</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999926" y="-3999282"/>
            <a:ext cx="10287000" cy="18286850"/>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66" y="0"/>
            <a:ext cx="13606268" cy="10286358"/>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474237" y="-2528760"/>
            <a:ext cx="7341846" cy="18290319"/>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0E51B74-1C25-806A-51C4-9B430399A185}"/>
              </a:ext>
            </a:extLst>
          </p:cNvPr>
          <p:cNvPicPr>
            <a:picLocks noChangeAspect="1"/>
          </p:cNvPicPr>
          <p:nvPr/>
        </p:nvPicPr>
        <p:blipFill>
          <a:blip r:embed="rId3"/>
          <a:stretch>
            <a:fillRect/>
          </a:stretch>
        </p:blipFill>
        <p:spPr>
          <a:xfrm>
            <a:off x="1155460" y="1195259"/>
            <a:ext cx="15977079" cy="7896482"/>
          </a:xfrm>
          <a:prstGeom prst="rect">
            <a:avLst/>
          </a:prstGeom>
        </p:spPr>
      </p:pic>
    </p:spTree>
    <p:extLst>
      <p:ext uri="{BB962C8B-B14F-4D97-AF65-F5344CB8AC3E}">
        <p14:creationId xmlns:p14="http://schemas.microsoft.com/office/powerpoint/2010/main" val="2810527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TWO</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The Problem Inventory</a:t>
            </a:r>
            <a:endParaRPr lang="en-US" sz="4650" dirty="0"/>
          </a:p>
        </p:txBody>
      </p:sp>
      <p:sp>
        <p:nvSpPr>
          <p:cNvPr id="4" name="Text 2"/>
          <p:cNvSpPr/>
          <p:nvPr/>
        </p:nvSpPr>
        <p:spPr>
          <a:xfrm>
            <a:off x="1047750" y="2234803"/>
            <a:ext cx="15697200"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1D1F20">
                    <a:alpha val="80000"/>
                  </a:srgbClr>
                </a:solidFill>
                <a:latin typeface="Arial" pitchFamily="34" charset="0"/>
                <a:ea typeface="Arial" pitchFamily="34" charset="-122"/>
                <a:cs typeface="Arial" pitchFamily="34" charset="-120"/>
              </a:rPr>
              <a:t>Before fixing anything, a written and counted account of what's actually wrong — </a:t>
            </a:r>
            <a:r>
              <a:rPr lang="en-US" sz="2100">
                <a:solidFill>
                  <a:srgbClr val="1D1F20">
                    <a:alpha val="80000"/>
                  </a:srgbClr>
                </a:solidFill>
                <a:latin typeface="Arial" pitchFamily="34" charset="0"/>
                <a:ea typeface="Arial" pitchFamily="34" charset="-122"/>
                <a:cs typeface="Arial" pitchFamily="34" charset="-120"/>
              </a:rPr>
              <a:t>four cleaning issues</a:t>
            </a:r>
            <a:r>
              <a:rPr lang="en-US" sz="2100" dirty="0">
                <a:solidFill>
                  <a:srgbClr val="1D1F20">
                    <a:alpha val="80000"/>
                  </a:srgbClr>
                </a:solidFill>
                <a:latin typeface="Arial" pitchFamily="34" charset="0"/>
                <a:ea typeface="Arial" pitchFamily="34" charset="-122"/>
                <a:cs typeface="Arial" pitchFamily="34" charset="-120"/>
              </a:rPr>
              <a:t>, cross-referenced against what the cleaning script does about each.</a:t>
            </a:r>
            <a:endParaRPr lang="en-US" sz="2100" dirty="0"/>
          </a:p>
        </p:txBody>
      </p:sp>
      <p:sp>
        <p:nvSpPr>
          <p:cNvPr id="5" name="Shape 3"/>
          <p:cNvSpPr/>
          <p:nvPr/>
        </p:nvSpPr>
        <p:spPr>
          <a:xfrm>
            <a:off x="1047750" y="4058543"/>
            <a:ext cx="2694384" cy="9525"/>
          </a:xfrm>
          <a:prstGeom prst="rect">
            <a:avLst/>
          </a:prstGeom>
          <a:solidFill>
            <a:srgbClr val="1F1F1F">
              <a:alpha val="16000"/>
            </a:srgbClr>
          </a:solidFill>
          <a:ln/>
        </p:spPr>
        <p:txBody>
          <a:bodyPr/>
          <a:lstStyle/>
          <a:p>
            <a:endParaRPr lang="en-US"/>
          </a:p>
        </p:txBody>
      </p:sp>
      <p:sp>
        <p:nvSpPr>
          <p:cNvPr id="6" name="Text 4"/>
          <p:cNvSpPr/>
          <p:nvPr/>
        </p:nvSpPr>
        <p:spPr>
          <a:xfrm>
            <a:off x="1200150" y="3575745"/>
            <a:ext cx="2470416"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dirty="0">
                <a:solidFill>
                  <a:srgbClr val="416180"/>
                </a:solidFill>
                <a:latin typeface="Arial" pitchFamily="34" charset="0"/>
                <a:ea typeface="Arial" pitchFamily="34" charset="-122"/>
                <a:cs typeface="Arial" pitchFamily="34" charset="-120"/>
              </a:rPr>
              <a:t>VARIABLE</a:t>
            </a:r>
            <a:endParaRPr lang="en-US" sz="1800" dirty="0"/>
          </a:p>
        </p:txBody>
      </p:sp>
      <p:sp>
        <p:nvSpPr>
          <p:cNvPr id="7" name="Shape 5"/>
          <p:cNvSpPr/>
          <p:nvPr/>
        </p:nvSpPr>
        <p:spPr>
          <a:xfrm>
            <a:off x="3742134" y="4058543"/>
            <a:ext cx="11338620" cy="9525"/>
          </a:xfrm>
          <a:prstGeom prst="rect">
            <a:avLst/>
          </a:prstGeom>
          <a:solidFill>
            <a:srgbClr val="1F1F1F">
              <a:alpha val="16000"/>
            </a:srgbClr>
          </a:solidFill>
          <a:ln/>
        </p:spPr>
        <p:txBody>
          <a:bodyPr/>
          <a:lstStyle/>
          <a:p>
            <a:endParaRPr lang="en-US"/>
          </a:p>
        </p:txBody>
      </p:sp>
      <p:sp>
        <p:nvSpPr>
          <p:cNvPr id="8" name="Text 6"/>
          <p:cNvSpPr/>
          <p:nvPr/>
        </p:nvSpPr>
        <p:spPr>
          <a:xfrm>
            <a:off x="3894534" y="3575745"/>
            <a:ext cx="11373978"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dirty="0">
                <a:solidFill>
                  <a:srgbClr val="416180"/>
                </a:solidFill>
                <a:latin typeface="Arial" pitchFamily="34" charset="0"/>
                <a:ea typeface="Arial" pitchFamily="34" charset="-122"/>
                <a:cs typeface="Arial" pitchFamily="34" charset="-120"/>
              </a:rPr>
              <a:t>ISSUE</a:t>
            </a:r>
            <a:endParaRPr lang="en-US" sz="1800" dirty="0"/>
          </a:p>
        </p:txBody>
      </p:sp>
      <p:sp>
        <p:nvSpPr>
          <p:cNvPr id="9" name="Shape 7"/>
          <p:cNvSpPr/>
          <p:nvPr/>
        </p:nvSpPr>
        <p:spPr>
          <a:xfrm>
            <a:off x="15080754" y="4058543"/>
            <a:ext cx="2159496" cy="9525"/>
          </a:xfrm>
          <a:prstGeom prst="rect">
            <a:avLst/>
          </a:prstGeom>
          <a:solidFill>
            <a:srgbClr val="1F1F1F">
              <a:alpha val="16000"/>
            </a:srgbClr>
          </a:solidFill>
          <a:ln/>
        </p:spPr>
        <p:txBody>
          <a:bodyPr/>
          <a:lstStyle/>
          <a:p>
            <a:endParaRPr lang="en-US"/>
          </a:p>
        </p:txBody>
      </p:sp>
      <p:sp>
        <p:nvSpPr>
          <p:cNvPr id="10" name="Text 8"/>
          <p:cNvSpPr/>
          <p:nvPr/>
        </p:nvSpPr>
        <p:spPr>
          <a:xfrm>
            <a:off x="15233154" y="3575745"/>
            <a:ext cx="1930896"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dirty="0">
                <a:solidFill>
                  <a:srgbClr val="416180"/>
                </a:solidFill>
                <a:latin typeface="Arial" pitchFamily="34" charset="0"/>
                <a:ea typeface="Arial" pitchFamily="34" charset="-122"/>
                <a:cs typeface="Arial" pitchFamily="34" charset="-120"/>
              </a:rPr>
              <a:t>COUNT</a:t>
            </a:r>
            <a:endParaRPr lang="en-US" sz="1800" dirty="0"/>
          </a:p>
        </p:txBody>
      </p:sp>
      <p:sp>
        <p:nvSpPr>
          <p:cNvPr id="11" name="Shape 9"/>
          <p:cNvSpPr/>
          <p:nvPr/>
        </p:nvSpPr>
        <p:spPr>
          <a:xfrm>
            <a:off x="1047750" y="5151388"/>
            <a:ext cx="2694384" cy="9525"/>
          </a:xfrm>
          <a:prstGeom prst="rect">
            <a:avLst/>
          </a:prstGeom>
          <a:solidFill>
            <a:srgbClr val="1F1F1F">
              <a:alpha val="16000"/>
            </a:srgbClr>
          </a:solidFill>
          <a:ln/>
        </p:spPr>
        <p:txBody>
          <a:bodyPr/>
          <a:lstStyle/>
          <a:p>
            <a:endParaRPr lang="en-US"/>
          </a:p>
        </p:txBody>
      </p:sp>
      <p:sp>
        <p:nvSpPr>
          <p:cNvPr id="12" name="Text 10"/>
          <p:cNvSpPr/>
          <p:nvPr/>
        </p:nvSpPr>
        <p:spPr>
          <a:xfrm>
            <a:off x="1200150" y="4220468"/>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Age</a:t>
            </a:r>
            <a:endParaRPr lang="en-US" sz="1950" dirty="0"/>
          </a:p>
        </p:txBody>
      </p:sp>
      <p:sp>
        <p:nvSpPr>
          <p:cNvPr id="13" name="Shape 11"/>
          <p:cNvSpPr/>
          <p:nvPr/>
        </p:nvSpPr>
        <p:spPr>
          <a:xfrm>
            <a:off x="3742134" y="5151388"/>
            <a:ext cx="11338620" cy="9525"/>
          </a:xfrm>
          <a:prstGeom prst="rect">
            <a:avLst/>
          </a:prstGeom>
          <a:solidFill>
            <a:srgbClr val="1F1F1F">
              <a:alpha val="16000"/>
            </a:srgbClr>
          </a:solidFill>
          <a:ln/>
        </p:spPr>
        <p:txBody>
          <a:bodyPr/>
          <a:lstStyle/>
          <a:p>
            <a:endParaRPr lang="en-US"/>
          </a:p>
        </p:txBody>
      </p:sp>
      <p:sp>
        <p:nvSpPr>
          <p:cNvPr id="14" name="Text 12"/>
          <p:cNvSpPr/>
          <p:nvPr/>
        </p:nvSpPr>
        <p:spPr>
          <a:xfrm>
            <a:off x="3894534" y="4220468"/>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 don't-know sentinel</a:t>
            </a:r>
            <a:endParaRPr lang="en-US" sz="1950" dirty="0"/>
          </a:p>
        </p:txBody>
      </p:sp>
      <p:sp>
        <p:nvSpPr>
          <p:cNvPr id="15" name="Shape 13"/>
          <p:cNvSpPr/>
          <p:nvPr/>
        </p:nvSpPr>
        <p:spPr>
          <a:xfrm>
            <a:off x="15080754" y="5151388"/>
            <a:ext cx="2159496" cy="9525"/>
          </a:xfrm>
          <a:prstGeom prst="rect">
            <a:avLst/>
          </a:prstGeom>
          <a:solidFill>
            <a:srgbClr val="1F1F1F">
              <a:alpha val="16000"/>
            </a:srgbClr>
          </a:solidFill>
          <a:ln/>
        </p:spPr>
        <p:txBody>
          <a:bodyPr/>
          <a:lstStyle/>
          <a:p>
            <a:endParaRPr lang="en-US"/>
          </a:p>
        </p:txBody>
      </p:sp>
      <p:sp>
        <p:nvSpPr>
          <p:cNvPr id="16" name="Text 14"/>
          <p:cNvSpPr/>
          <p:nvPr/>
        </p:nvSpPr>
        <p:spPr>
          <a:xfrm>
            <a:off x="15233154" y="4220468"/>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12 rows</a:t>
            </a:r>
            <a:endParaRPr lang="en-US" sz="1950" dirty="0"/>
          </a:p>
        </p:txBody>
      </p:sp>
      <p:sp>
        <p:nvSpPr>
          <p:cNvPr id="17" name="Shape 15"/>
          <p:cNvSpPr/>
          <p:nvPr/>
        </p:nvSpPr>
        <p:spPr>
          <a:xfrm>
            <a:off x="1047750" y="6244233"/>
            <a:ext cx="2694384" cy="9525"/>
          </a:xfrm>
          <a:prstGeom prst="rect">
            <a:avLst/>
          </a:prstGeom>
          <a:solidFill>
            <a:srgbClr val="1F1F1F">
              <a:alpha val="16000"/>
            </a:srgbClr>
          </a:solidFill>
          <a:ln/>
        </p:spPr>
        <p:txBody>
          <a:bodyPr/>
          <a:lstStyle/>
          <a:p>
            <a:endParaRPr lang="en-US"/>
          </a:p>
        </p:txBody>
      </p:sp>
      <p:sp>
        <p:nvSpPr>
          <p:cNvPr id="18" name="Text 16"/>
          <p:cNvSpPr/>
          <p:nvPr/>
        </p:nvSpPr>
        <p:spPr>
          <a:xfrm>
            <a:off x="1200150" y="5313313"/>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Hours worked</a:t>
            </a:r>
            <a:endParaRPr lang="en-US" sz="1950" dirty="0"/>
          </a:p>
        </p:txBody>
      </p:sp>
      <p:sp>
        <p:nvSpPr>
          <p:cNvPr id="19" name="Shape 17"/>
          <p:cNvSpPr/>
          <p:nvPr/>
        </p:nvSpPr>
        <p:spPr>
          <a:xfrm>
            <a:off x="3742134" y="6244233"/>
            <a:ext cx="11338620" cy="9525"/>
          </a:xfrm>
          <a:prstGeom prst="rect">
            <a:avLst/>
          </a:prstGeom>
          <a:solidFill>
            <a:srgbClr val="1F1F1F">
              <a:alpha val="16000"/>
            </a:srgbClr>
          </a:solidFill>
          <a:ln/>
        </p:spPr>
        <p:txBody>
          <a:bodyPr/>
          <a:lstStyle/>
          <a:p>
            <a:endParaRPr lang="en-US"/>
          </a:p>
        </p:txBody>
      </p:sp>
      <p:sp>
        <p:nvSpPr>
          <p:cNvPr id="20" name="Text 18"/>
          <p:cNvSpPr/>
          <p:nvPr/>
        </p:nvSpPr>
        <p:spPr>
          <a:xfrm>
            <a:off x="3894534" y="5313313"/>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"99" top-code, plus the "−1" sentinel in 8 more columns</a:t>
            </a:r>
            <a:endParaRPr lang="en-US" sz="1950" dirty="0"/>
          </a:p>
        </p:txBody>
      </p:sp>
      <p:sp>
        <p:nvSpPr>
          <p:cNvPr id="21" name="Shape 19"/>
          <p:cNvSpPr/>
          <p:nvPr/>
        </p:nvSpPr>
        <p:spPr>
          <a:xfrm>
            <a:off x="15080754" y="6244233"/>
            <a:ext cx="2159496" cy="9525"/>
          </a:xfrm>
          <a:prstGeom prst="rect">
            <a:avLst/>
          </a:prstGeom>
          <a:solidFill>
            <a:srgbClr val="1F1F1F">
              <a:alpha val="16000"/>
            </a:srgbClr>
          </a:solidFill>
          <a:ln/>
        </p:spPr>
        <p:txBody>
          <a:bodyPr/>
          <a:lstStyle/>
          <a:p>
            <a:endParaRPr lang="en-US"/>
          </a:p>
        </p:txBody>
      </p:sp>
      <p:sp>
        <p:nvSpPr>
          <p:cNvPr id="22" name="Text 20"/>
          <p:cNvSpPr/>
          <p:nvPr/>
        </p:nvSpPr>
        <p:spPr>
          <a:xfrm>
            <a:off x="15233154" y="5313313"/>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88 + ~110 rows</a:t>
            </a:r>
            <a:endParaRPr lang="en-US" sz="1950" dirty="0"/>
          </a:p>
        </p:txBody>
      </p:sp>
      <p:sp>
        <p:nvSpPr>
          <p:cNvPr id="23" name="Shape 21"/>
          <p:cNvSpPr/>
          <p:nvPr/>
        </p:nvSpPr>
        <p:spPr>
          <a:xfrm>
            <a:off x="1047750" y="7337078"/>
            <a:ext cx="2694384" cy="9525"/>
          </a:xfrm>
          <a:prstGeom prst="rect">
            <a:avLst/>
          </a:prstGeom>
          <a:solidFill>
            <a:srgbClr val="1F1F1F">
              <a:alpha val="16000"/>
            </a:srgbClr>
          </a:solidFill>
          <a:ln/>
        </p:spPr>
        <p:txBody>
          <a:bodyPr/>
          <a:lstStyle/>
          <a:p>
            <a:endParaRPr lang="en-US"/>
          </a:p>
        </p:txBody>
      </p:sp>
      <p:sp>
        <p:nvSpPr>
          <p:cNvPr id="24" name="Text 22"/>
          <p:cNvSpPr/>
          <p:nvPr/>
        </p:nvSpPr>
        <p:spPr>
          <a:xfrm>
            <a:off x="1200150" y="6406158"/>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Industry (ISIC)</a:t>
            </a:r>
            <a:endParaRPr lang="en-US" sz="1950" dirty="0"/>
          </a:p>
        </p:txBody>
      </p:sp>
      <p:sp>
        <p:nvSpPr>
          <p:cNvPr id="25" name="Shape 23"/>
          <p:cNvSpPr/>
          <p:nvPr/>
        </p:nvSpPr>
        <p:spPr>
          <a:xfrm>
            <a:off x="3742134" y="7337078"/>
            <a:ext cx="11338620" cy="9525"/>
          </a:xfrm>
          <a:prstGeom prst="rect">
            <a:avLst/>
          </a:prstGeom>
          <a:solidFill>
            <a:srgbClr val="1F1F1F">
              <a:alpha val="16000"/>
            </a:srgbClr>
          </a:solidFill>
          <a:ln/>
        </p:spPr>
        <p:txBody>
          <a:bodyPr/>
          <a:lstStyle/>
          <a:p>
            <a:endParaRPr lang="en-US"/>
          </a:p>
        </p:txBody>
      </p:sp>
      <p:sp>
        <p:nvSpPr>
          <p:cNvPr id="26" name="Text 24"/>
          <p:cNvSpPr/>
          <p:nvPr/>
        </p:nvSpPr>
        <p:spPr>
          <a:xfrm>
            <a:off x="3894534" y="6406158"/>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leading zero stripped on export</a:t>
            </a:r>
            <a:endParaRPr lang="en-US" sz="1950" dirty="0"/>
          </a:p>
        </p:txBody>
      </p:sp>
      <p:sp>
        <p:nvSpPr>
          <p:cNvPr id="27" name="Shape 25"/>
          <p:cNvSpPr/>
          <p:nvPr/>
        </p:nvSpPr>
        <p:spPr>
          <a:xfrm>
            <a:off x="15080754" y="7337078"/>
            <a:ext cx="2159496" cy="9525"/>
          </a:xfrm>
          <a:prstGeom prst="rect">
            <a:avLst/>
          </a:prstGeom>
          <a:solidFill>
            <a:srgbClr val="1F1F1F">
              <a:alpha val="16000"/>
            </a:srgbClr>
          </a:solidFill>
          <a:ln/>
        </p:spPr>
        <p:txBody>
          <a:bodyPr/>
          <a:lstStyle/>
          <a:p>
            <a:endParaRPr lang="en-US"/>
          </a:p>
        </p:txBody>
      </p:sp>
      <p:sp>
        <p:nvSpPr>
          <p:cNvPr id="28" name="Text 26"/>
          <p:cNvSpPr/>
          <p:nvPr/>
        </p:nvSpPr>
        <p:spPr>
          <a:xfrm>
            <a:off x="15233154" y="6406158"/>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206 rows</a:t>
            </a:r>
            <a:endParaRPr lang="en-US" sz="1950" dirty="0"/>
          </a:p>
        </p:txBody>
      </p:sp>
      <p:sp>
        <p:nvSpPr>
          <p:cNvPr id="29" name="Shape 27"/>
          <p:cNvSpPr/>
          <p:nvPr/>
        </p:nvSpPr>
        <p:spPr>
          <a:xfrm>
            <a:off x="1047750" y="8429923"/>
            <a:ext cx="2694384" cy="9525"/>
          </a:xfrm>
          <a:prstGeom prst="rect">
            <a:avLst/>
          </a:prstGeom>
          <a:solidFill>
            <a:srgbClr val="1F1F1F">
              <a:alpha val="16000"/>
            </a:srgbClr>
          </a:solidFill>
          <a:ln/>
        </p:spPr>
        <p:txBody>
          <a:bodyPr/>
          <a:lstStyle/>
          <a:p>
            <a:endParaRPr lang="en-US"/>
          </a:p>
        </p:txBody>
      </p:sp>
      <p:sp>
        <p:nvSpPr>
          <p:cNvPr id="30" name="Text 28"/>
          <p:cNvSpPr/>
          <p:nvPr/>
        </p:nvSpPr>
        <p:spPr>
          <a:xfrm>
            <a:off x="1200150" y="7499003"/>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Occupation (ISCO)</a:t>
            </a:r>
            <a:endParaRPr lang="en-US" sz="1950" dirty="0"/>
          </a:p>
        </p:txBody>
      </p:sp>
      <p:sp>
        <p:nvSpPr>
          <p:cNvPr id="31" name="Shape 29"/>
          <p:cNvSpPr/>
          <p:nvPr/>
        </p:nvSpPr>
        <p:spPr>
          <a:xfrm>
            <a:off x="3742134" y="8429923"/>
            <a:ext cx="11338620" cy="9525"/>
          </a:xfrm>
          <a:prstGeom prst="rect">
            <a:avLst/>
          </a:prstGeom>
          <a:solidFill>
            <a:srgbClr val="1F1F1F">
              <a:alpha val="16000"/>
            </a:srgbClr>
          </a:solidFill>
          <a:ln/>
        </p:spPr>
        <p:txBody>
          <a:bodyPr/>
          <a:lstStyle/>
          <a:p>
            <a:endParaRPr lang="en-US"/>
          </a:p>
        </p:txBody>
      </p:sp>
      <p:sp>
        <p:nvSpPr>
          <p:cNvPr id="32" name="Text 30"/>
          <p:cNvSpPr/>
          <p:nvPr/>
        </p:nvSpPr>
        <p:spPr>
          <a:xfrm>
            <a:off x="3894534" y="7499003"/>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non-4-digit codes, same pattern</a:t>
            </a:r>
            <a:endParaRPr lang="en-US" sz="1950" dirty="0"/>
          </a:p>
        </p:txBody>
      </p:sp>
      <p:sp>
        <p:nvSpPr>
          <p:cNvPr id="33" name="Shape 31"/>
          <p:cNvSpPr/>
          <p:nvPr/>
        </p:nvSpPr>
        <p:spPr>
          <a:xfrm>
            <a:off x="15080754" y="8429923"/>
            <a:ext cx="2159496" cy="9525"/>
          </a:xfrm>
          <a:prstGeom prst="rect">
            <a:avLst/>
          </a:prstGeom>
          <a:solidFill>
            <a:srgbClr val="1F1F1F">
              <a:alpha val="16000"/>
            </a:srgbClr>
          </a:solidFill>
          <a:ln/>
        </p:spPr>
        <p:txBody>
          <a:bodyPr/>
          <a:lstStyle/>
          <a:p>
            <a:endParaRPr lang="en-US"/>
          </a:p>
        </p:txBody>
      </p:sp>
      <p:sp>
        <p:nvSpPr>
          <p:cNvPr id="34" name="Text 32"/>
          <p:cNvSpPr/>
          <p:nvPr/>
        </p:nvSpPr>
        <p:spPr>
          <a:xfrm>
            <a:off x="15233154" y="7499003"/>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12 rows</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a:solidFill>
                  <a:srgbClr val="416180"/>
                </a:solidFill>
                <a:latin typeface="Arial" pitchFamily="34" charset="0"/>
                <a:ea typeface="Arial" pitchFamily="34" charset="-122"/>
                <a:cs typeface="Arial" pitchFamily="34" charset="-120"/>
              </a:rPr>
              <a:t>WEEK TWO</a:t>
            </a:r>
            <a:endParaRPr lang="en-US" sz="180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a:solidFill>
                  <a:srgbClr val="1D1F20"/>
                </a:solidFill>
                <a:latin typeface="Arial" pitchFamily="34" charset="0"/>
                <a:ea typeface="Arial" pitchFamily="34" charset="-122"/>
                <a:cs typeface="Arial" pitchFamily="34" charset="-120"/>
              </a:rPr>
              <a:t>How I cleaned it</a:t>
            </a:r>
            <a:endParaRPr lang="en-US" sz="4650"/>
          </a:p>
        </p:txBody>
      </p:sp>
      <p:sp>
        <p:nvSpPr>
          <p:cNvPr id="4" name="Text 2"/>
          <p:cNvSpPr/>
          <p:nvPr/>
        </p:nvSpPr>
        <p:spPr>
          <a:xfrm>
            <a:off x="1047750" y="2234803"/>
            <a:ext cx="15697200"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a:solidFill>
                  <a:srgbClr val="1D1F20">
                    <a:alpha val="80000"/>
                  </a:srgbClr>
                </a:solidFill>
                <a:latin typeface="Arial" pitchFamily="34" charset="0"/>
                <a:ea typeface="Arial" pitchFamily="34" charset="-122"/>
                <a:cs typeface="Arial" pitchFamily="34" charset="-120"/>
              </a:rPr>
              <a:t>Every inventory item, the correction the pipeline applies, and the measured result — nothing changed without a verified reason and a logged before/after.</a:t>
            </a:r>
            <a:endParaRPr lang="en-US" sz="2100"/>
          </a:p>
        </p:txBody>
      </p:sp>
      <p:sp>
        <p:nvSpPr>
          <p:cNvPr id="5" name="Shape 3"/>
          <p:cNvSpPr/>
          <p:nvPr/>
        </p:nvSpPr>
        <p:spPr>
          <a:xfrm>
            <a:off x="1047750" y="4058543"/>
            <a:ext cx="2694384" cy="9525"/>
          </a:xfrm>
          <a:prstGeom prst="rect">
            <a:avLst/>
          </a:prstGeom>
          <a:solidFill>
            <a:srgbClr val="1F1F1F">
              <a:alpha val="16000"/>
            </a:srgbClr>
          </a:solidFill>
          <a:ln/>
        </p:spPr>
        <p:txBody>
          <a:bodyPr/>
          <a:lstStyle/>
          <a:p>
            <a:endParaRPr lang="en-US"/>
          </a:p>
        </p:txBody>
      </p:sp>
      <p:sp>
        <p:nvSpPr>
          <p:cNvPr id="6" name="Text 4"/>
          <p:cNvSpPr/>
          <p:nvPr/>
        </p:nvSpPr>
        <p:spPr>
          <a:xfrm>
            <a:off x="1200150" y="3575745"/>
            <a:ext cx="2470416"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a:solidFill>
                  <a:srgbClr val="416180"/>
                </a:solidFill>
                <a:latin typeface="Arial" pitchFamily="34" charset="0"/>
                <a:ea typeface="Arial" pitchFamily="34" charset="-122"/>
                <a:cs typeface="Arial" pitchFamily="34" charset="-120"/>
              </a:rPr>
              <a:t>ISSUE</a:t>
            </a:r>
            <a:endParaRPr lang="en-US" sz="1800"/>
          </a:p>
        </p:txBody>
      </p:sp>
      <p:sp>
        <p:nvSpPr>
          <p:cNvPr id="7" name="Shape 5"/>
          <p:cNvSpPr/>
          <p:nvPr/>
        </p:nvSpPr>
        <p:spPr>
          <a:xfrm>
            <a:off x="3742134" y="4058543"/>
            <a:ext cx="11338620" cy="9525"/>
          </a:xfrm>
          <a:prstGeom prst="rect">
            <a:avLst/>
          </a:prstGeom>
          <a:solidFill>
            <a:srgbClr val="1F1F1F">
              <a:alpha val="16000"/>
            </a:srgbClr>
          </a:solidFill>
          <a:ln/>
        </p:spPr>
        <p:txBody>
          <a:bodyPr/>
          <a:lstStyle/>
          <a:p>
            <a:endParaRPr lang="en-US"/>
          </a:p>
        </p:txBody>
      </p:sp>
      <p:sp>
        <p:nvSpPr>
          <p:cNvPr id="8" name="Text 6"/>
          <p:cNvSpPr/>
          <p:nvPr/>
        </p:nvSpPr>
        <p:spPr>
          <a:xfrm>
            <a:off x="3894534" y="3575745"/>
            <a:ext cx="11373978"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a:solidFill>
                  <a:srgbClr val="416180"/>
                </a:solidFill>
                <a:latin typeface="Arial" pitchFamily="34" charset="0"/>
                <a:ea typeface="Arial" pitchFamily="34" charset="-122"/>
                <a:cs typeface="Arial" pitchFamily="34" charset="-120"/>
              </a:rPr>
              <a:t>FIX</a:t>
            </a:r>
            <a:endParaRPr lang="en-US" sz="1800"/>
          </a:p>
        </p:txBody>
      </p:sp>
      <p:sp>
        <p:nvSpPr>
          <p:cNvPr id="9" name="Shape 7"/>
          <p:cNvSpPr/>
          <p:nvPr/>
        </p:nvSpPr>
        <p:spPr>
          <a:xfrm>
            <a:off x="15080754" y="4058543"/>
            <a:ext cx="2159496" cy="9525"/>
          </a:xfrm>
          <a:prstGeom prst="rect">
            <a:avLst/>
          </a:prstGeom>
          <a:solidFill>
            <a:srgbClr val="1F1F1F">
              <a:alpha val="16000"/>
            </a:srgbClr>
          </a:solidFill>
          <a:ln/>
        </p:spPr>
        <p:txBody>
          <a:bodyPr/>
          <a:lstStyle/>
          <a:p>
            <a:endParaRPr lang="en-US"/>
          </a:p>
        </p:txBody>
      </p:sp>
      <p:sp>
        <p:nvSpPr>
          <p:cNvPr id="10" name="Text 8"/>
          <p:cNvSpPr/>
          <p:nvPr/>
        </p:nvSpPr>
        <p:spPr>
          <a:xfrm>
            <a:off x="15233154" y="3575745"/>
            <a:ext cx="1930896"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a:solidFill>
                  <a:srgbClr val="416180"/>
                </a:solidFill>
                <a:latin typeface="Arial" pitchFamily="34" charset="0"/>
                <a:ea typeface="Arial" pitchFamily="34" charset="-122"/>
                <a:cs typeface="Arial" pitchFamily="34" charset="-120"/>
              </a:rPr>
              <a:t>RESULT</a:t>
            </a:r>
            <a:endParaRPr lang="en-US" sz="1800"/>
          </a:p>
        </p:txBody>
      </p:sp>
      <p:sp>
        <p:nvSpPr>
          <p:cNvPr id="11" name="Shape 9"/>
          <p:cNvSpPr/>
          <p:nvPr/>
        </p:nvSpPr>
        <p:spPr>
          <a:xfrm>
            <a:off x="1047750" y="5151388"/>
            <a:ext cx="2694384" cy="9525"/>
          </a:xfrm>
          <a:prstGeom prst="rect">
            <a:avLst/>
          </a:prstGeom>
          <a:solidFill>
            <a:srgbClr val="1F1F1F">
              <a:alpha val="16000"/>
            </a:srgbClr>
          </a:solidFill>
          <a:ln/>
        </p:spPr>
        <p:txBody>
          <a:bodyPr/>
          <a:lstStyle/>
          <a:p>
            <a:endParaRPr lang="en-US"/>
          </a:p>
        </p:txBody>
      </p:sp>
      <p:sp>
        <p:nvSpPr>
          <p:cNvPr id="12" name="Text 10"/>
          <p:cNvSpPr/>
          <p:nvPr/>
        </p:nvSpPr>
        <p:spPr>
          <a:xfrm>
            <a:off x="1200150" y="4220468"/>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Sentinels (99, −1)</a:t>
            </a:r>
            <a:endParaRPr lang="en-US" sz="1950"/>
          </a:p>
        </p:txBody>
      </p:sp>
      <p:sp>
        <p:nvSpPr>
          <p:cNvPr id="13" name="Shape 11"/>
          <p:cNvSpPr/>
          <p:nvPr/>
        </p:nvSpPr>
        <p:spPr>
          <a:xfrm>
            <a:off x="3742134" y="5151388"/>
            <a:ext cx="11338620" cy="9525"/>
          </a:xfrm>
          <a:prstGeom prst="rect">
            <a:avLst/>
          </a:prstGeom>
          <a:solidFill>
            <a:srgbClr val="1F1F1F">
              <a:alpha val="16000"/>
            </a:srgbClr>
          </a:solidFill>
          <a:ln/>
        </p:spPr>
        <p:txBody>
          <a:bodyPr/>
          <a:lstStyle/>
          <a:p>
            <a:endParaRPr lang="en-US"/>
          </a:p>
        </p:txBody>
      </p:sp>
      <p:sp>
        <p:nvSpPr>
          <p:cNvPr id="14" name="Text 12"/>
          <p:cNvSpPr/>
          <p:nvPr/>
        </p:nvSpPr>
        <p:spPr>
          <a:xfrm>
            <a:off x="3894534" y="4220468"/>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Checked every hours and age column before touching anything, then converted the confirmed sentinels to NaN</a:t>
            </a:r>
            <a:endParaRPr lang="en-US" sz="1950"/>
          </a:p>
        </p:txBody>
      </p:sp>
      <p:sp>
        <p:nvSpPr>
          <p:cNvPr id="15" name="Shape 13"/>
          <p:cNvSpPr/>
          <p:nvPr/>
        </p:nvSpPr>
        <p:spPr>
          <a:xfrm>
            <a:off x="15080754" y="5151388"/>
            <a:ext cx="2159496" cy="9525"/>
          </a:xfrm>
          <a:prstGeom prst="rect">
            <a:avLst/>
          </a:prstGeom>
          <a:solidFill>
            <a:srgbClr val="1F1F1F">
              <a:alpha val="16000"/>
            </a:srgbClr>
          </a:solidFill>
          <a:ln/>
        </p:spPr>
        <p:txBody>
          <a:bodyPr/>
          <a:lstStyle/>
          <a:p>
            <a:endParaRPr lang="en-US"/>
          </a:p>
        </p:txBody>
      </p:sp>
      <p:sp>
        <p:nvSpPr>
          <p:cNvPr id="16" name="Text 14"/>
          <p:cNvSpPr/>
          <p:nvPr/>
        </p:nvSpPr>
        <p:spPr>
          <a:xfrm>
            <a:off x="15233154" y="4220468"/>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12 + ~110 rows fixed</a:t>
            </a:r>
            <a:endParaRPr lang="en-US" sz="1950"/>
          </a:p>
        </p:txBody>
      </p:sp>
      <p:sp>
        <p:nvSpPr>
          <p:cNvPr id="17" name="Shape 15"/>
          <p:cNvSpPr/>
          <p:nvPr/>
        </p:nvSpPr>
        <p:spPr>
          <a:xfrm>
            <a:off x="1047750" y="6244233"/>
            <a:ext cx="2694384" cy="9525"/>
          </a:xfrm>
          <a:prstGeom prst="rect">
            <a:avLst/>
          </a:prstGeom>
          <a:solidFill>
            <a:srgbClr val="1F1F1F">
              <a:alpha val="16000"/>
            </a:srgbClr>
          </a:solidFill>
          <a:ln/>
        </p:spPr>
        <p:txBody>
          <a:bodyPr/>
          <a:lstStyle/>
          <a:p>
            <a:endParaRPr lang="en-US"/>
          </a:p>
        </p:txBody>
      </p:sp>
      <p:sp>
        <p:nvSpPr>
          <p:cNvPr id="18" name="Text 16"/>
          <p:cNvSpPr/>
          <p:nvPr/>
        </p:nvSpPr>
        <p:spPr>
          <a:xfrm>
            <a:off x="1200150" y="5313313"/>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Leading-zero bug</a:t>
            </a:r>
            <a:endParaRPr lang="en-US" sz="1950"/>
          </a:p>
        </p:txBody>
      </p:sp>
      <p:sp>
        <p:nvSpPr>
          <p:cNvPr id="19" name="Shape 17"/>
          <p:cNvSpPr/>
          <p:nvPr/>
        </p:nvSpPr>
        <p:spPr>
          <a:xfrm>
            <a:off x="3742134" y="6244233"/>
            <a:ext cx="11338620" cy="9525"/>
          </a:xfrm>
          <a:prstGeom prst="rect">
            <a:avLst/>
          </a:prstGeom>
          <a:solidFill>
            <a:srgbClr val="1F1F1F">
              <a:alpha val="16000"/>
            </a:srgbClr>
          </a:solidFill>
          <a:ln/>
        </p:spPr>
        <p:txBody>
          <a:bodyPr/>
          <a:lstStyle/>
          <a:p>
            <a:endParaRPr lang="en-US"/>
          </a:p>
        </p:txBody>
      </p:sp>
      <p:sp>
        <p:nvSpPr>
          <p:cNvPr id="20" name="Text 18"/>
          <p:cNvSpPr/>
          <p:nvPr/>
        </p:nvSpPr>
        <p:spPr>
          <a:xfrm>
            <a:off x="3894534" y="5313313"/>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Zero-pad every ISIC/ISCO code back to 4 digits before reading its section or major group</a:t>
            </a:r>
            <a:endParaRPr lang="en-US" sz="1950"/>
          </a:p>
        </p:txBody>
      </p:sp>
      <p:sp>
        <p:nvSpPr>
          <p:cNvPr id="21" name="Shape 19"/>
          <p:cNvSpPr/>
          <p:nvPr/>
        </p:nvSpPr>
        <p:spPr>
          <a:xfrm>
            <a:off x="15080754" y="6244233"/>
            <a:ext cx="2159496" cy="9525"/>
          </a:xfrm>
          <a:prstGeom prst="rect">
            <a:avLst/>
          </a:prstGeom>
          <a:solidFill>
            <a:srgbClr val="1F1F1F">
              <a:alpha val="16000"/>
            </a:srgbClr>
          </a:solidFill>
          <a:ln/>
        </p:spPr>
        <p:txBody>
          <a:bodyPr/>
          <a:lstStyle/>
          <a:p>
            <a:endParaRPr lang="en-US"/>
          </a:p>
        </p:txBody>
      </p:sp>
      <p:sp>
        <p:nvSpPr>
          <p:cNvPr id="22" name="Text 20"/>
          <p:cNvSpPr/>
          <p:nvPr/>
        </p:nvSpPr>
        <p:spPr>
          <a:xfrm>
            <a:off x="15233154" y="5313313"/>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0 of 4,789 failed</a:t>
            </a:r>
            <a:endParaRPr lang="en-US" sz="1950"/>
          </a:p>
        </p:txBody>
      </p:sp>
      <p:sp>
        <p:nvSpPr>
          <p:cNvPr id="23" name="Shape 21"/>
          <p:cNvSpPr/>
          <p:nvPr/>
        </p:nvSpPr>
        <p:spPr>
          <a:xfrm>
            <a:off x="1047750" y="7337078"/>
            <a:ext cx="2694384" cy="9525"/>
          </a:xfrm>
          <a:prstGeom prst="rect">
            <a:avLst/>
          </a:prstGeom>
          <a:solidFill>
            <a:srgbClr val="1F1F1F">
              <a:alpha val="16000"/>
            </a:srgbClr>
          </a:solidFill>
          <a:ln/>
        </p:spPr>
        <p:txBody>
          <a:bodyPr/>
          <a:lstStyle/>
          <a:p>
            <a:endParaRPr lang="en-US"/>
          </a:p>
        </p:txBody>
      </p:sp>
      <p:sp>
        <p:nvSpPr>
          <p:cNvPr id="24" name="Text 22"/>
          <p:cNvSpPr/>
          <p:nvPr/>
        </p:nvSpPr>
        <p:spPr>
          <a:xfrm>
            <a:off x="1200150" y="6406158"/>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Free-text job titles</a:t>
            </a:r>
            <a:endParaRPr lang="en-US" sz="1950"/>
          </a:p>
        </p:txBody>
      </p:sp>
      <p:sp>
        <p:nvSpPr>
          <p:cNvPr id="25" name="Shape 23"/>
          <p:cNvSpPr/>
          <p:nvPr/>
        </p:nvSpPr>
        <p:spPr>
          <a:xfrm>
            <a:off x="3742134" y="7337078"/>
            <a:ext cx="11338620" cy="9525"/>
          </a:xfrm>
          <a:prstGeom prst="rect">
            <a:avLst/>
          </a:prstGeom>
          <a:solidFill>
            <a:srgbClr val="1F1F1F">
              <a:alpha val="16000"/>
            </a:srgbClr>
          </a:solidFill>
          <a:ln/>
        </p:spPr>
        <p:txBody>
          <a:bodyPr/>
          <a:lstStyle/>
          <a:p>
            <a:endParaRPr lang="en-US"/>
          </a:p>
        </p:txBody>
      </p:sp>
      <p:sp>
        <p:nvSpPr>
          <p:cNvPr id="26" name="Text 24"/>
          <p:cNvSpPr/>
          <p:nvPr/>
        </p:nvSpPr>
        <p:spPr>
          <a:xfrm>
            <a:off x="3894534" y="6406158"/>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Near-duplicate variants merged into their most common form, but only above a 0.98 similarity threshold</a:t>
            </a:r>
            <a:endParaRPr lang="en-US" sz="1950"/>
          </a:p>
        </p:txBody>
      </p:sp>
      <p:sp>
        <p:nvSpPr>
          <p:cNvPr id="27" name="Shape 25"/>
          <p:cNvSpPr/>
          <p:nvPr/>
        </p:nvSpPr>
        <p:spPr>
          <a:xfrm>
            <a:off x="15080754" y="7337078"/>
            <a:ext cx="2159496" cy="9525"/>
          </a:xfrm>
          <a:prstGeom prst="rect">
            <a:avLst/>
          </a:prstGeom>
          <a:solidFill>
            <a:srgbClr val="1F1F1F">
              <a:alpha val="16000"/>
            </a:srgbClr>
          </a:solidFill>
          <a:ln/>
        </p:spPr>
        <p:txBody>
          <a:bodyPr/>
          <a:lstStyle/>
          <a:p>
            <a:endParaRPr lang="en-US"/>
          </a:p>
        </p:txBody>
      </p:sp>
      <p:sp>
        <p:nvSpPr>
          <p:cNvPr id="28" name="Text 26"/>
          <p:cNvSpPr/>
          <p:nvPr/>
        </p:nvSpPr>
        <p:spPr>
          <a:xfrm>
            <a:off x="15233154" y="6406158"/>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436 variants, 648 rows</a:t>
            </a:r>
            <a:endParaRPr lang="en-US" sz="1950"/>
          </a:p>
        </p:txBody>
      </p:sp>
      <p:sp>
        <p:nvSpPr>
          <p:cNvPr id="29" name="Shape 27"/>
          <p:cNvSpPr/>
          <p:nvPr/>
        </p:nvSpPr>
        <p:spPr>
          <a:xfrm>
            <a:off x="1047750" y="8429923"/>
            <a:ext cx="2694384" cy="9525"/>
          </a:xfrm>
          <a:prstGeom prst="rect">
            <a:avLst/>
          </a:prstGeom>
          <a:solidFill>
            <a:srgbClr val="1F1F1F">
              <a:alpha val="16000"/>
            </a:srgbClr>
          </a:solidFill>
          <a:ln/>
        </p:spPr>
        <p:txBody>
          <a:bodyPr/>
          <a:lstStyle/>
          <a:p>
            <a:endParaRPr lang="en-US"/>
          </a:p>
        </p:txBody>
      </p:sp>
      <p:sp>
        <p:nvSpPr>
          <p:cNvPr id="30" name="Text 28"/>
          <p:cNvSpPr/>
          <p:nvPr/>
        </p:nvSpPr>
        <p:spPr>
          <a:xfrm>
            <a:off x="1200150" y="7499003"/>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Duplicate records</a:t>
            </a:r>
            <a:endParaRPr lang="en-US" sz="1950"/>
          </a:p>
        </p:txBody>
      </p:sp>
      <p:sp>
        <p:nvSpPr>
          <p:cNvPr id="31" name="Shape 29"/>
          <p:cNvSpPr/>
          <p:nvPr/>
        </p:nvSpPr>
        <p:spPr>
          <a:xfrm>
            <a:off x="3742134" y="8429923"/>
            <a:ext cx="11338620" cy="9525"/>
          </a:xfrm>
          <a:prstGeom prst="rect">
            <a:avLst/>
          </a:prstGeom>
          <a:solidFill>
            <a:srgbClr val="1F1F1F">
              <a:alpha val="16000"/>
            </a:srgbClr>
          </a:solidFill>
          <a:ln/>
        </p:spPr>
        <p:txBody>
          <a:bodyPr/>
          <a:lstStyle/>
          <a:p>
            <a:endParaRPr lang="en-US"/>
          </a:p>
        </p:txBody>
      </p:sp>
      <p:sp>
        <p:nvSpPr>
          <p:cNvPr id="32" name="Text 30"/>
          <p:cNvSpPr/>
          <p:nvPr/>
        </p:nvSpPr>
        <p:spPr>
          <a:xfrm>
            <a:off x="3894534" y="7499003"/>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Exact-duplicate removal on the natural person key, run on both tracks independently</a:t>
            </a:r>
            <a:endParaRPr lang="en-US" sz="1950"/>
          </a:p>
        </p:txBody>
      </p:sp>
      <p:sp>
        <p:nvSpPr>
          <p:cNvPr id="33" name="Shape 31"/>
          <p:cNvSpPr/>
          <p:nvPr/>
        </p:nvSpPr>
        <p:spPr>
          <a:xfrm>
            <a:off x="15080754" y="8429923"/>
            <a:ext cx="2159496" cy="9525"/>
          </a:xfrm>
          <a:prstGeom prst="rect">
            <a:avLst/>
          </a:prstGeom>
          <a:solidFill>
            <a:srgbClr val="1F1F1F">
              <a:alpha val="16000"/>
            </a:srgbClr>
          </a:solidFill>
          <a:ln/>
        </p:spPr>
        <p:txBody>
          <a:bodyPr/>
          <a:lstStyle/>
          <a:p>
            <a:endParaRPr lang="en-US"/>
          </a:p>
        </p:txBody>
      </p:sp>
      <p:sp>
        <p:nvSpPr>
          <p:cNvPr id="34" name="Text 32"/>
          <p:cNvSpPr/>
          <p:nvPr/>
        </p:nvSpPr>
        <p:spPr>
          <a:xfrm>
            <a:off x="15233154" y="7499003"/>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0 duplicates found</a:t>
            </a:r>
            <a:endParaRPr lang="en-US" sz="1950"/>
          </a:p>
        </p:txBody>
      </p:sp>
      <p:sp>
        <p:nvSpPr>
          <p:cNvPr id="35" name="Text 33"/>
          <p:cNvSpPr/>
          <p:nvPr/>
        </p:nvSpPr>
        <p:spPr>
          <a:xfrm>
            <a:off x="1200150" y="8591848"/>
            <a:ext cx="2470416" cy="818852"/>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Uncertain cases</a:t>
            </a:r>
            <a:endParaRPr lang="en-US" sz="1950"/>
          </a:p>
        </p:txBody>
      </p:sp>
      <p:sp>
        <p:nvSpPr>
          <p:cNvPr id="36" name="Text 34"/>
          <p:cNvSpPr/>
          <p:nvPr/>
        </p:nvSpPr>
        <p:spPr>
          <a:xfrm>
            <a:off x="3894534" y="8591848"/>
            <a:ext cx="11373978" cy="818852"/>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Flagged for review, never auto-changed — q3_05 == 99 and the noisier 0.90–0.97 text matches</a:t>
            </a:r>
            <a:endParaRPr lang="en-US" sz="1950"/>
          </a:p>
        </p:txBody>
      </p:sp>
      <p:sp>
        <p:nvSpPr>
          <p:cNvPr id="37" name="Text 35"/>
          <p:cNvSpPr/>
          <p:nvPr/>
        </p:nvSpPr>
        <p:spPr>
          <a:xfrm>
            <a:off x="15233154" y="8591848"/>
            <a:ext cx="1930896" cy="818852"/>
          </a:xfrm>
          <a:prstGeom prst="rect">
            <a:avLst/>
          </a:prstGeom>
          <a:noFill/>
          <a:ln/>
        </p:spPr>
        <p:txBody>
          <a:bodyPr wrap="square" lIns="25400" tIns="25400" rIns="25400" bIns="25400" rtlCol="0" anchor="ctr">
            <a:normAutofit/>
          </a:bodyPr>
          <a:lstStyle/>
          <a:p>
            <a:pPr marL="0" indent="0" algn="l">
              <a:lnSpc>
                <a:spcPct val="130000"/>
              </a:lnSpc>
              <a:buNone/>
            </a:pPr>
            <a:r>
              <a:rPr lang="en-US" sz="1950">
                <a:solidFill>
                  <a:srgbClr val="1D1F20"/>
                </a:solidFill>
                <a:latin typeface="Arial" pitchFamily="34" charset="0"/>
                <a:ea typeface="Arial" pitchFamily="34" charset="-122"/>
                <a:cs typeface="Arial" pitchFamily="34" charset="-120"/>
              </a:rPr>
              <a:t>All flags logged</a:t>
            </a:r>
            <a:endParaRPr lang="en-US" sz="1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54303" y="855193"/>
            <a:ext cx="16184880" cy="1097280"/>
          </a:xfrm>
          <a:prstGeom prst="rect">
            <a:avLst/>
          </a:prstGeom>
          <a:noFill/>
          <a:ln/>
        </p:spPr>
        <p:txBody>
          <a:bodyPr wrap="square" lIns="25400" tIns="25400" rIns="25400" bIns="25400" rtlCol="0" anchor="t">
            <a:normAutofit/>
          </a:bodyPr>
          <a:lstStyle/>
          <a:p>
            <a:pPr marL="0" indent="0" algn="l">
              <a:lnSpc>
                <a:spcPct val="97803"/>
              </a:lnSpc>
              <a:buNone/>
            </a:pPr>
            <a:r>
              <a:rPr lang="en-US" sz="3050" b="1" kern="0" spc="-70" dirty="0">
                <a:solidFill>
                  <a:srgbClr val="1D1F20"/>
                </a:solidFill>
                <a:latin typeface="Arial" pitchFamily="34" charset="0"/>
                <a:ea typeface="Arial" pitchFamily="34" charset="-122"/>
                <a:cs typeface="Arial" pitchFamily="34" charset="-120"/>
              </a:rPr>
              <a:t>Imputation</a:t>
            </a:r>
            <a:endParaRPr lang="en-US" sz="4650" dirty="0"/>
          </a:p>
        </p:txBody>
      </p:sp>
      <p:sp>
        <p:nvSpPr>
          <p:cNvPr id="4" name="Text 2"/>
          <p:cNvSpPr/>
          <p:nvPr/>
        </p:nvSpPr>
        <p:spPr>
          <a:xfrm>
            <a:off x="1054303" y="1927212"/>
            <a:ext cx="16184880" cy="585216"/>
          </a:xfrm>
          <a:prstGeom prst="rect">
            <a:avLst/>
          </a:prstGeom>
          <a:noFill/>
          <a:ln/>
        </p:spPr>
        <p:txBody>
          <a:bodyPr wrap="square" lIns="25400" tIns="25400" rIns="25400" bIns="25400" rtlCol="0" anchor="t">
            <a:normAutofit fontScale="92500"/>
          </a:bodyPr>
          <a:lstStyle/>
          <a:p>
            <a:pPr marL="0" indent="0" algn="l">
              <a:lnSpc>
                <a:spcPct val="135625"/>
              </a:lnSpc>
              <a:buNone/>
            </a:pPr>
            <a:r>
              <a:rPr lang="en-US" sz="1750">
                <a:solidFill>
                  <a:srgbClr val="1D1F20">
                    <a:alpha val="80000"/>
                  </a:srgbClr>
                </a:solidFill>
                <a:latin typeface="Arial" pitchFamily="34" charset="0"/>
                <a:ea typeface="Arial" pitchFamily="34" charset="-122"/>
                <a:cs typeface="Arial" pitchFamily="34" charset="-120"/>
              </a:rPr>
              <a:t>Scoped to the same five variables as problem_inventory.py: impute only within the real applicable population, preserve structural missingness, and flag every filled value.</a:t>
            </a:r>
            <a:endParaRPr lang="en-US" sz="2100"/>
          </a:p>
        </p:txBody>
      </p:sp>
      <p:sp>
        <p:nvSpPr>
          <p:cNvPr id="5" name="Shape 3"/>
          <p:cNvSpPr/>
          <p:nvPr/>
        </p:nvSpPr>
        <p:spPr>
          <a:xfrm>
            <a:off x="1047902" y="3410712"/>
            <a:ext cx="2697480" cy="9601"/>
          </a:xfrm>
          <a:prstGeom prst="rect">
            <a:avLst/>
          </a:prstGeom>
          <a:solidFill>
            <a:srgbClr val="1F1F1F">
              <a:alpha val="16000"/>
            </a:srgbClr>
          </a:solidFill>
          <a:ln/>
        </p:spPr>
        <p:txBody>
          <a:bodyPr/>
          <a:lstStyle/>
          <a:p>
            <a:endParaRPr lang="en-US"/>
          </a:p>
        </p:txBody>
      </p:sp>
      <p:sp>
        <p:nvSpPr>
          <p:cNvPr id="6" name="Text 4"/>
          <p:cNvSpPr/>
          <p:nvPr/>
        </p:nvSpPr>
        <p:spPr>
          <a:xfrm>
            <a:off x="1199692" y="3072384"/>
            <a:ext cx="2395728" cy="365760"/>
          </a:xfrm>
          <a:prstGeom prst="rect">
            <a:avLst/>
          </a:prstGeom>
          <a:noFill/>
          <a:ln/>
        </p:spPr>
        <p:txBody>
          <a:bodyPr wrap="square" lIns="25400" tIns="25400" rIns="25400" bIns="25400" rtlCol="0" anchor="ctr">
            <a:normAutofit/>
          </a:bodyPr>
          <a:lstStyle/>
          <a:p>
            <a:pPr marL="0" indent="0" algn="l">
              <a:lnSpc>
                <a:spcPct val="132857"/>
              </a:lnSpc>
              <a:buNone/>
            </a:pPr>
            <a:r>
              <a:rPr lang="en-US" sz="1700" b="1" kern="0" spc="108">
                <a:solidFill>
                  <a:srgbClr val="416180"/>
                </a:solidFill>
                <a:latin typeface="Arial" pitchFamily="34" charset="0"/>
                <a:ea typeface="Arial" pitchFamily="34" charset="-122"/>
                <a:cs typeface="Arial" pitchFamily="34" charset="-120"/>
              </a:rPr>
              <a:t>VARIABLE</a:t>
            </a:r>
            <a:endParaRPr lang="en-US" sz="1800"/>
          </a:p>
        </p:txBody>
      </p:sp>
      <p:sp>
        <p:nvSpPr>
          <p:cNvPr id="7" name="Shape 5"/>
          <p:cNvSpPr/>
          <p:nvPr/>
        </p:nvSpPr>
        <p:spPr>
          <a:xfrm>
            <a:off x="3742639" y="3410712"/>
            <a:ext cx="8193024" cy="9601"/>
          </a:xfrm>
          <a:prstGeom prst="rect">
            <a:avLst/>
          </a:prstGeom>
          <a:solidFill>
            <a:srgbClr val="1F1F1F">
              <a:alpha val="16000"/>
            </a:srgbClr>
          </a:solidFill>
          <a:ln/>
        </p:spPr>
        <p:txBody>
          <a:bodyPr/>
          <a:lstStyle/>
          <a:p>
            <a:endParaRPr lang="en-US"/>
          </a:p>
        </p:txBody>
      </p:sp>
      <p:sp>
        <p:nvSpPr>
          <p:cNvPr id="8" name="Text 6"/>
          <p:cNvSpPr/>
          <p:nvPr/>
        </p:nvSpPr>
        <p:spPr>
          <a:xfrm>
            <a:off x="3894429" y="3072384"/>
            <a:ext cx="7891272" cy="365760"/>
          </a:xfrm>
          <a:prstGeom prst="rect">
            <a:avLst/>
          </a:prstGeom>
          <a:noFill/>
          <a:ln/>
        </p:spPr>
        <p:txBody>
          <a:bodyPr wrap="square" lIns="25400" tIns="25400" rIns="25400" bIns="25400" rtlCol="0" anchor="ctr">
            <a:normAutofit/>
          </a:bodyPr>
          <a:lstStyle/>
          <a:p>
            <a:pPr marL="0" indent="0" algn="l">
              <a:lnSpc>
                <a:spcPct val="132857"/>
              </a:lnSpc>
              <a:buNone/>
            </a:pPr>
            <a:r>
              <a:rPr lang="en-US" sz="1700" b="1" kern="0" spc="108">
                <a:solidFill>
                  <a:srgbClr val="416180"/>
                </a:solidFill>
                <a:latin typeface="Arial" pitchFamily="34" charset="0"/>
                <a:ea typeface="Arial" pitchFamily="34" charset="-122"/>
                <a:cs typeface="Arial" pitchFamily="34" charset="-120"/>
              </a:rPr>
              <a:t>METHOD</a:t>
            </a:r>
            <a:endParaRPr lang="en-US" sz="1800"/>
          </a:p>
        </p:txBody>
      </p:sp>
      <p:sp>
        <p:nvSpPr>
          <p:cNvPr id="9" name="Shape 7"/>
          <p:cNvSpPr/>
          <p:nvPr/>
        </p:nvSpPr>
        <p:spPr>
          <a:xfrm>
            <a:off x="11935663" y="3410712"/>
            <a:ext cx="5303520" cy="9601"/>
          </a:xfrm>
          <a:prstGeom prst="rect">
            <a:avLst/>
          </a:prstGeom>
          <a:solidFill>
            <a:srgbClr val="1F1F1F">
              <a:alpha val="16000"/>
            </a:srgbClr>
          </a:solidFill>
          <a:ln/>
        </p:spPr>
        <p:txBody>
          <a:bodyPr/>
          <a:lstStyle/>
          <a:p>
            <a:endParaRPr lang="en-US"/>
          </a:p>
        </p:txBody>
      </p:sp>
      <p:sp>
        <p:nvSpPr>
          <p:cNvPr id="10" name="Text 8"/>
          <p:cNvSpPr/>
          <p:nvPr/>
        </p:nvSpPr>
        <p:spPr>
          <a:xfrm>
            <a:off x="12087453" y="3072384"/>
            <a:ext cx="4983480" cy="365760"/>
          </a:xfrm>
          <a:prstGeom prst="rect">
            <a:avLst/>
          </a:prstGeom>
          <a:noFill/>
          <a:ln/>
        </p:spPr>
        <p:txBody>
          <a:bodyPr wrap="square" lIns="25400" tIns="25400" rIns="25400" bIns="25400" rtlCol="0" anchor="ctr">
            <a:normAutofit/>
          </a:bodyPr>
          <a:lstStyle/>
          <a:p>
            <a:pPr marL="0" indent="0" algn="l">
              <a:lnSpc>
                <a:spcPct val="132857"/>
              </a:lnSpc>
              <a:buNone/>
            </a:pPr>
            <a:r>
              <a:rPr lang="en-US" sz="1700" b="1" kern="0" spc="108">
                <a:solidFill>
                  <a:srgbClr val="416180"/>
                </a:solidFill>
                <a:latin typeface="Arial" pitchFamily="34" charset="0"/>
                <a:ea typeface="Arial" pitchFamily="34" charset="-122"/>
                <a:cs typeface="Arial" pitchFamily="34" charset="-120"/>
              </a:rPr>
              <a:t>RESULT</a:t>
            </a:r>
            <a:endParaRPr lang="en-US" sz="1800"/>
          </a:p>
        </p:txBody>
      </p:sp>
      <p:sp>
        <p:nvSpPr>
          <p:cNvPr id="12" name="Text 10"/>
          <p:cNvSpPr/>
          <p:nvPr/>
        </p:nvSpPr>
        <p:spPr>
          <a:xfrm>
            <a:off x="1199692" y="3648456"/>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Age
q1_04 / q7_06</a:t>
            </a:r>
            <a:endParaRPr lang="en-US" sz="1950"/>
          </a:p>
        </p:txBody>
      </p:sp>
      <p:sp>
        <p:nvSpPr>
          <p:cNvPr id="14" name="Text 12"/>
          <p:cNvSpPr/>
          <p:nvPr/>
        </p:nvSpPr>
        <p:spPr>
          <a:xfrm>
            <a:off x="3894429" y="3648456"/>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Median after checking the distribution was right-skewed (mean ≠ median).</a:t>
            </a:r>
            <a:endParaRPr lang="en-US" sz="1950"/>
          </a:p>
        </p:txBody>
      </p:sp>
      <p:sp>
        <p:nvSpPr>
          <p:cNvPr id="16" name="Text 14"/>
          <p:cNvSpPr/>
          <p:nvPr/>
        </p:nvSpPr>
        <p:spPr>
          <a:xfrm>
            <a:off x="12087453" y="3648456"/>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12 ind + 28 emig rows filled; applicable-population missingness = 0.</a:t>
            </a:r>
            <a:endParaRPr lang="en-US" sz="1950"/>
          </a:p>
        </p:txBody>
      </p:sp>
      <p:sp>
        <p:nvSpPr>
          <p:cNvPr id="11" name="Shape 9"/>
          <p:cNvSpPr/>
          <p:nvPr/>
        </p:nvSpPr>
        <p:spPr>
          <a:xfrm>
            <a:off x="1047902" y="4297680"/>
            <a:ext cx="2697480" cy="9601"/>
          </a:xfrm>
          <a:prstGeom prst="rect">
            <a:avLst/>
          </a:prstGeom>
          <a:solidFill>
            <a:srgbClr val="1F1F1F">
              <a:alpha val="16000"/>
            </a:srgbClr>
          </a:solidFill>
          <a:ln/>
        </p:spPr>
        <p:txBody>
          <a:bodyPr/>
          <a:lstStyle/>
          <a:p>
            <a:endParaRPr lang="en-US"/>
          </a:p>
        </p:txBody>
      </p:sp>
      <p:sp>
        <p:nvSpPr>
          <p:cNvPr id="17" name="Text 10"/>
          <p:cNvSpPr/>
          <p:nvPr/>
        </p:nvSpPr>
        <p:spPr>
          <a:xfrm>
            <a:off x="1199692" y="4370832"/>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Main-job hours
q3_03 + 7 daily cols</a:t>
            </a:r>
            <a:endParaRPr lang="en-US" sz="1950"/>
          </a:p>
        </p:txBody>
      </p:sp>
      <p:sp>
        <p:nvSpPr>
          <p:cNvPr id="13" name="Shape 11"/>
          <p:cNvSpPr/>
          <p:nvPr/>
        </p:nvSpPr>
        <p:spPr>
          <a:xfrm>
            <a:off x="3742639" y="4297680"/>
            <a:ext cx="8193024" cy="9601"/>
          </a:xfrm>
          <a:prstGeom prst="rect">
            <a:avLst/>
          </a:prstGeom>
          <a:solidFill>
            <a:srgbClr val="1F1F1F">
              <a:alpha val="16000"/>
            </a:srgbClr>
          </a:solidFill>
          <a:ln/>
        </p:spPr>
        <p:txBody>
          <a:bodyPr/>
          <a:lstStyle/>
          <a:p>
            <a:endParaRPr lang="en-US"/>
          </a:p>
        </p:txBody>
      </p:sp>
      <p:sp>
        <p:nvSpPr>
          <p:cNvPr id="18" name="Text 12"/>
          <p:cNvSpPr/>
          <p:nvPr/>
        </p:nvSpPr>
        <p:spPr>
          <a:xfrm>
            <a:off x="3894429" y="4370832"/>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Median, restricted to respondents with a main job.</a:t>
            </a:r>
            <a:endParaRPr lang="en-US" sz="1950"/>
          </a:p>
        </p:txBody>
      </p:sp>
      <p:sp>
        <p:nvSpPr>
          <p:cNvPr id="15" name="Shape 13"/>
          <p:cNvSpPr/>
          <p:nvPr/>
        </p:nvSpPr>
        <p:spPr>
          <a:xfrm>
            <a:off x="11935663" y="4297680"/>
            <a:ext cx="5303520" cy="9601"/>
          </a:xfrm>
          <a:prstGeom prst="rect">
            <a:avLst/>
          </a:prstGeom>
          <a:solidFill>
            <a:srgbClr val="1F1F1F">
              <a:alpha val="16000"/>
            </a:srgbClr>
          </a:solidFill>
          <a:ln/>
        </p:spPr>
        <p:txBody>
          <a:bodyPr/>
          <a:lstStyle/>
          <a:p>
            <a:endParaRPr lang="en-US"/>
          </a:p>
        </p:txBody>
      </p:sp>
      <p:sp>
        <p:nvSpPr>
          <p:cNvPr id="19" name="Text 14"/>
          <p:cNvSpPr/>
          <p:nvPr/>
        </p:nvSpPr>
        <p:spPr>
          <a:xfrm>
            <a:off x="12087453" y="4370832"/>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88 + ~14–15 per daily column filled; no out-of-scope values created.</a:t>
            </a:r>
            <a:endParaRPr lang="en-US" sz="1950"/>
          </a:p>
        </p:txBody>
      </p:sp>
      <p:sp>
        <p:nvSpPr>
          <p:cNvPr id="20" name="Shape 9"/>
          <p:cNvSpPr/>
          <p:nvPr/>
        </p:nvSpPr>
        <p:spPr>
          <a:xfrm>
            <a:off x="1047902" y="5020056"/>
            <a:ext cx="2697480" cy="9601"/>
          </a:xfrm>
          <a:prstGeom prst="rect">
            <a:avLst/>
          </a:prstGeom>
          <a:solidFill>
            <a:srgbClr val="1F1F1F">
              <a:alpha val="16000"/>
            </a:srgbClr>
          </a:solidFill>
          <a:ln/>
        </p:spPr>
        <p:txBody>
          <a:bodyPr/>
          <a:lstStyle/>
          <a:p>
            <a:endParaRPr lang="en-US"/>
          </a:p>
        </p:txBody>
      </p:sp>
      <p:sp>
        <p:nvSpPr>
          <p:cNvPr id="21" name="Text 10"/>
          <p:cNvSpPr/>
          <p:nvPr/>
        </p:nvSpPr>
        <p:spPr>
          <a:xfrm>
            <a:off x="1199692" y="5093208"/>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Other-job actual
q3_08</a:t>
            </a:r>
            <a:endParaRPr lang="en-US" sz="1950"/>
          </a:p>
        </p:txBody>
      </p:sp>
      <p:sp>
        <p:nvSpPr>
          <p:cNvPr id="22" name="Shape 11"/>
          <p:cNvSpPr/>
          <p:nvPr/>
        </p:nvSpPr>
        <p:spPr>
          <a:xfrm>
            <a:off x="3742639" y="5020056"/>
            <a:ext cx="8193024" cy="9601"/>
          </a:xfrm>
          <a:prstGeom prst="rect">
            <a:avLst/>
          </a:prstGeom>
          <a:solidFill>
            <a:srgbClr val="1F1F1F">
              <a:alpha val="16000"/>
            </a:srgbClr>
          </a:solidFill>
          <a:ln/>
        </p:spPr>
        <p:txBody>
          <a:bodyPr/>
          <a:lstStyle/>
          <a:p>
            <a:endParaRPr lang="en-US"/>
          </a:p>
        </p:txBody>
      </p:sp>
      <p:sp>
        <p:nvSpPr>
          <p:cNvPr id="23" name="Text 12"/>
          <p:cNvSpPr/>
          <p:nvPr/>
        </p:nvSpPr>
        <p:spPr>
          <a:xfrm>
            <a:off x="3894429" y="5093208"/>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Median, restricted to respondents with a second job.</a:t>
            </a:r>
            <a:endParaRPr lang="en-US" sz="1950"/>
          </a:p>
        </p:txBody>
      </p:sp>
      <p:sp>
        <p:nvSpPr>
          <p:cNvPr id="24" name="Shape 13"/>
          <p:cNvSpPr/>
          <p:nvPr/>
        </p:nvSpPr>
        <p:spPr>
          <a:xfrm>
            <a:off x="11935663" y="5020056"/>
            <a:ext cx="5303520" cy="9601"/>
          </a:xfrm>
          <a:prstGeom prst="rect">
            <a:avLst/>
          </a:prstGeom>
          <a:solidFill>
            <a:srgbClr val="1F1F1F">
              <a:alpha val="16000"/>
            </a:srgbClr>
          </a:solidFill>
          <a:ln/>
        </p:spPr>
        <p:txBody>
          <a:bodyPr/>
          <a:lstStyle/>
          <a:p>
            <a:endParaRPr lang="en-US"/>
          </a:p>
        </p:txBody>
      </p:sp>
      <p:sp>
        <p:nvSpPr>
          <p:cNvPr id="25" name="Text 14"/>
          <p:cNvSpPr/>
          <p:nvPr/>
        </p:nvSpPr>
        <p:spPr>
          <a:xfrm>
            <a:off x="12087453" y="5093208"/>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1 row filled; avoided the naive error of inventing 4,626 values.</a:t>
            </a:r>
            <a:endParaRPr lang="en-US" sz="1950"/>
          </a:p>
        </p:txBody>
      </p:sp>
      <p:sp>
        <p:nvSpPr>
          <p:cNvPr id="26" name="Shape 9"/>
          <p:cNvSpPr/>
          <p:nvPr/>
        </p:nvSpPr>
        <p:spPr>
          <a:xfrm>
            <a:off x="1047902" y="5742432"/>
            <a:ext cx="2697480" cy="9601"/>
          </a:xfrm>
          <a:prstGeom prst="rect">
            <a:avLst/>
          </a:prstGeom>
          <a:solidFill>
            <a:srgbClr val="1F1F1F">
              <a:alpha val="16000"/>
            </a:srgbClr>
          </a:solidFill>
          <a:ln/>
        </p:spPr>
        <p:txBody>
          <a:bodyPr/>
          <a:lstStyle/>
          <a:p>
            <a:endParaRPr lang="en-US"/>
          </a:p>
        </p:txBody>
      </p:sp>
      <p:sp>
        <p:nvSpPr>
          <p:cNvPr id="27" name="Text 10"/>
          <p:cNvSpPr/>
          <p:nvPr/>
        </p:nvSpPr>
        <p:spPr>
          <a:xfrm>
            <a:off x="1199692" y="5815584"/>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Other-job usual
q3_04</a:t>
            </a:r>
            <a:endParaRPr lang="en-US" sz="1950"/>
          </a:p>
        </p:txBody>
      </p:sp>
      <p:sp>
        <p:nvSpPr>
          <p:cNvPr id="28" name="Shape 11"/>
          <p:cNvSpPr/>
          <p:nvPr/>
        </p:nvSpPr>
        <p:spPr>
          <a:xfrm>
            <a:off x="3742639" y="5742432"/>
            <a:ext cx="8193024" cy="9601"/>
          </a:xfrm>
          <a:prstGeom prst="rect">
            <a:avLst/>
          </a:prstGeom>
          <a:solidFill>
            <a:srgbClr val="1F1F1F">
              <a:alpha val="16000"/>
            </a:srgbClr>
          </a:solidFill>
          <a:ln/>
        </p:spPr>
        <p:txBody>
          <a:bodyPr/>
          <a:lstStyle/>
          <a:p>
            <a:endParaRPr lang="en-US"/>
          </a:p>
        </p:txBody>
      </p:sp>
      <p:sp>
        <p:nvSpPr>
          <p:cNvPr id="29" name="Text 12"/>
          <p:cNvSpPr/>
          <p:nvPr/>
        </p:nvSpPr>
        <p:spPr>
          <a:xfrm>
            <a:off x="3894429" y="5815584"/>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Left missing after confirming the field is 100% structural.</a:t>
            </a:r>
            <a:endParaRPr lang="en-US" sz="1950"/>
          </a:p>
        </p:txBody>
      </p:sp>
      <p:sp>
        <p:nvSpPr>
          <p:cNvPr id="30" name="Shape 13"/>
          <p:cNvSpPr/>
          <p:nvPr/>
        </p:nvSpPr>
        <p:spPr>
          <a:xfrm>
            <a:off x="11935663" y="5742432"/>
            <a:ext cx="5303520" cy="9601"/>
          </a:xfrm>
          <a:prstGeom prst="rect">
            <a:avLst/>
          </a:prstGeom>
          <a:solidFill>
            <a:srgbClr val="1F1F1F">
              <a:alpha val="16000"/>
            </a:srgbClr>
          </a:solidFill>
          <a:ln/>
        </p:spPr>
        <p:txBody>
          <a:bodyPr/>
          <a:lstStyle/>
          <a:p>
            <a:endParaRPr lang="en-US"/>
          </a:p>
        </p:txBody>
      </p:sp>
      <p:sp>
        <p:nvSpPr>
          <p:cNvPr id="31" name="Text 14"/>
          <p:cNvSpPr/>
          <p:nvPr/>
        </p:nvSpPr>
        <p:spPr>
          <a:xfrm>
            <a:off x="12087453" y="5815584"/>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Structural missingness untouched.</a:t>
            </a:r>
            <a:endParaRPr lang="en-US" sz="1950"/>
          </a:p>
        </p:txBody>
      </p:sp>
      <p:sp>
        <p:nvSpPr>
          <p:cNvPr id="32" name="Shape 9"/>
          <p:cNvSpPr/>
          <p:nvPr/>
        </p:nvSpPr>
        <p:spPr>
          <a:xfrm>
            <a:off x="1047902" y="6464808"/>
            <a:ext cx="2697480" cy="9601"/>
          </a:xfrm>
          <a:prstGeom prst="rect">
            <a:avLst/>
          </a:prstGeom>
          <a:solidFill>
            <a:srgbClr val="1F1F1F">
              <a:alpha val="16000"/>
            </a:srgbClr>
          </a:solidFill>
          <a:ln/>
        </p:spPr>
        <p:txBody>
          <a:bodyPr/>
          <a:lstStyle/>
          <a:p>
            <a:endParaRPr lang="en-US"/>
          </a:p>
        </p:txBody>
      </p:sp>
      <p:sp>
        <p:nvSpPr>
          <p:cNvPr id="33" name="Text 10"/>
          <p:cNvSpPr/>
          <p:nvPr/>
        </p:nvSpPr>
        <p:spPr>
          <a:xfrm>
            <a:off x="1199692" y="6537960"/>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Derived totals
q3_05 / q3_09 / q3_10</a:t>
            </a:r>
            <a:endParaRPr lang="en-US" sz="1950"/>
          </a:p>
        </p:txBody>
      </p:sp>
      <p:sp>
        <p:nvSpPr>
          <p:cNvPr id="34" name="Shape 11"/>
          <p:cNvSpPr/>
          <p:nvPr/>
        </p:nvSpPr>
        <p:spPr>
          <a:xfrm>
            <a:off x="3742639" y="6464808"/>
            <a:ext cx="8193024" cy="9601"/>
          </a:xfrm>
          <a:prstGeom prst="rect">
            <a:avLst/>
          </a:prstGeom>
          <a:solidFill>
            <a:srgbClr val="1F1F1F">
              <a:alpha val="16000"/>
            </a:srgbClr>
          </a:solidFill>
          <a:ln/>
        </p:spPr>
        <p:txBody>
          <a:bodyPr/>
          <a:lstStyle/>
          <a:p>
            <a:endParaRPr lang="en-US"/>
          </a:p>
        </p:txBody>
      </p:sp>
      <p:sp>
        <p:nvSpPr>
          <p:cNvPr id="35" name="Text 12"/>
          <p:cNvSpPr/>
          <p:nvPr/>
        </p:nvSpPr>
        <p:spPr>
          <a:xfrm>
            <a:off x="3894429" y="6537960"/>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Re-derived, not imputed, using clean.py recompute_derived_hours().</a:t>
            </a:r>
            <a:endParaRPr lang="en-US" sz="1950"/>
          </a:p>
        </p:txBody>
      </p:sp>
      <p:sp>
        <p:nvSpPr>
          <p:cNvPr id="36" name="Shape 13"/>
          <p:cNvSpPr/>
          <p:nvPr/>
        </p:nvSpPr>
        <p:spPr>
          <a:xfrm>
            <a:off x="11935663" y="6464808"/>
            <a:ext cx="5303520" cy="9601"/>
          </a:xfrm>
          <a:prstGeom prst="rect">
            <a:avLst/>
          </a:prstGeom>
          <a:solidFill>
            <a:srgbClr val="1F1F1F">
              <a:alpha val="16000"/>
            </a:srgbClr>
          </a:solidFill>
          <a:ln/>
        </p:spPr>
        <p:txBody>
          <a:bodyPr/>
          <a:lstStyle/>
          <a:p>
            <a:endParaRPr lang="en-US"/>
          </a:p>
        </p:txBody>
      </p:sp>
      <p:sp>
        <p:nvSpPr>
          <p:cNvPr id="37" name="Text 14"/>
          <p:cNvSpPr/>
          <p:nvPr/>
        </p:nvSpPr>
        <p:spPr>
          <a:xfrm>
            <a:off x="12087453" y="6537960"/>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Totals rebuilt from the now-more-complete component fields.</a:t>
            </a:r>
            <a:endParaRPr lang="en-US" sz="1950"/>
          </a:p>
        </p:txBody>
      </p:sp>
      <p:sp>
        <p:nvSpPr>
          <p:cNvPr id="38" name="Shape 9"/>
          <p:cNvSpPr/>
          <p:nvPr/>
        </p:nvSpPr>
        <p:spPr>
          <a:xfrm>
            <a:off x="1047902" y="7187184"/>
            <a:ext cx="2697480" cy="9601"/>
          </a:xfrm>
          <a:prstGeom prst="rect">
            <a:avLst/>
          </a:prstGeom>
          <a:solidFill>
            <a:srgbClr val="1F1F1F">
              <a:alpha val="16000"/>
            </a:srgbClr>
          </a:solidFill>
          <a:ln/>
        </p:spPr>
        <p:txBody>
          <a:bodyPr/>
          <a:lstStyle/>
          <a:p>
            <a:endParaRPr lang="en-US"/>
          </a:p>
        </p:txBody>
      </p:sp>
      <p:sp>
        <p:nvSpPr>
          <p:cNvPr id="39" name="Text 10"/>
          <p:cNvSpPr/>
          <p:nvPr/>
        </p:nvSpPr>
        <p:spPr>
          <a:xfrm>
            <a:off x="1199692" y="7260336"/>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Industry / occupation
isic_code / isco_code</a:t>
            </a:r>
            <a:endParaRPr lang="en-US" sz="1950"/>
          </a:p>
        </p:txBody>
      </p:sp>
      <p:sp>
        <p:nvSpPr>
          <p:cNvPr id="40" name="Shape 11"/>
          <p:cNvSpPr/>
          <p:nvPr/>
        </p:nvSpPr>
        <p:spPr>
          <a:xfrm>
            <a:off x="3742639" y="7187184"/>
            <a:ext cx="8193024" cy="9601"/>
          </a:xfrm>
          <a:prstGeom prst="rect">
            <a:avLst/>
          </a:prstGeom>
          <a:solidFill>
            <a:srgbClr val="1F1F1F">
              <a:alpha val="16000"/>
            </a:srgbClr>
          </a:solidFill>
          <a:ln/>
        </p:spPr>
        <p:txBody>
          <a:bodyPr/>
          <a:lstStyle/>
          <a:p>
            <a:endParaRPr lang="en-US"/>
          </a:p>
        </p:txBody>
      </p:sp>
      <p:sp>
        <p:nvSpPr>
          <p:cNvPr id="41" name="Text 12"/>
          <p:cNvSpPr/>
          <p:nvPr/>
        </p:nvSpPr>
        <p:spPr>
          <a:xfrm>
            <a:off x="3894429" y="7260336"/>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Left missing; exact structural match to the “no main job” population.</a:t>
            </a:r>
            <a:endParaRPr lang="en-US" sz="1950"/>
          </a:p>
        </p:txBody>
      </p:sp>
      <p:sp>
        <p:nvSpPr>
          <p:cNvPr id="42" name="Shape 13"/>
          <p:cNvSpPr/>
          <p:nvPr/>
        </p:nvSpPr>
        <p:spPr>
          <a:xfrm>
            <a:off x="11935663" y="7187184"/>
            <a:ext cx="5303520" cy="9601"/>
          </a:xfrm>
          <a:prstGeom prst="rect">
            <a:avLst/>
          </a:prstGeom>
          <a:solidFill>
            <a:srgbClr val="1F1F1F">
              <a:alpha val="16000"/>
            </a:srgbClr>
          </a:solidFill>
          <a:ln/>
        </p:spPr>
        <p:txBody>
          <a:bodyPr/>
          <a:lstStyle/>
          <a:p>
            <a:endParaRPr lang="en-US"/>
          </a:p>
        </p:txBody>
      </p:sp>
      <p:sp>
        <p:nvSpPr>
          <p:cNvPr id="43" name="Text 14"/>
          <p:cNvSpPr/>
          <p:nvPr/>
        </p:nvSpPr>
        <p:spPr>
          <a:xfrm>
            <a:off x="12087453" y="7260336"/>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No imputation. Sex (q1_03) also needed none: 0 missing.</a:t>
            </a:r>
            <a:endParaRPr lang="en-US" sz="1950"/>
          </a:p>
        </p:txBody>
      </p:sp>
      <p:sp>
        <p:nvSpPr>
          <p:cNvPr id="44" name="Shape 9"/>
          <p:cNvSpPr/>
          <p:nvPr/>
        </p:nvSpPr>
        <p:spPr>
          <a:xfrm>
            <a:off x="1047902" y="7909560"/>
            <a:ext cx="2697480" cy="9601"/>
          </a:xfrm>
          <a:prstGeom prst="rect">
            <a:avLst/>
          </a:prstGeom>
          <a:solidFill>
            <a:srgbClr val="1F1F1F">
              <a:alpha val="16000"/>
            </a:srgbClr>
          </a:solidFill>
          <a:ln/>
        </p:spPr>
        <p:txBody>
          <a:bodyPr/>
          <a:lstStyle/>
          <a:p>
            <a:endParaRPr lang="en-US"/>
          </a:p>
        </p:txBody>
      </p:sp>
      <p:sp>
        <p:nvSpPr>
          <p:cNvPr id="45" name="Text 10"/>
          <p:cNvSpPr/>
          <p:nvPr/>
        </p:nvSpPr>
        <p:spPr>
          <a:xfrm>
            <a:off x="1199692" y="7982712"/>
            <a:ext cx="2395728"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Auditability</a:t>
            </a:r>
            <a:endParaRPr lang="en-US" sz="1950"/>
          </a:p>
        </p:txBody>
      </p:sp>
      <p:sp>
        <p:nvSpPr>
          <p:cNvPr id="46" name="Shape 11"/>
          <p:cNvSpPr/>
          <p:nvPr/>
        </p:nvSpPr>
        <p:spPr>
          <a:xfrm>
            <a:off x="3742639" y="7909560"/>
            <a:ext cx="8193024" cy="9601"/>
          </a:xfrm>
          <a:prstGeom prst="rect">
            <a:avLst/>
          </a:prstGeom>
          <a:solidFill>
            <a:srgbClr val="1F1F1F">
              <a:alpha val="16000"/>
            </a:srgbClr>
          </a:solidFill>
          <a:ln/>
        </p:spPr>
        <p:txBody>
          <a:bodyPr/>
          <a:lstStyle/>
          <a:p>
            <a:endParaRPr lang="en-US"/>
          </a:p>
        </p:txBody>
      </p:sp>
      <p:sp>
        <p:nvSpPr>
          <p:cNvPr id="47" name="Text 12"/>
          <p:cNvSpPr/>
          <p:nvPr/>
        </p:nvSpPr>
        <p:spPr>
          <a:xfrm>
            <a:off x="3894429" y="7982712"/>
            <a:ext cx="7891272"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Add a &lt;column&gt;_imputed boolean flag to every imputed field.</a:t>
            </a:r>
            <a:endParaRPr lang="en-US" sz="1950"/>
          </a:p>
        </p:txBody>
      </p:sp>
      <p:sp>
        <p:nvSpPr>
          <p:cNvPr id="48" name="Shape 13"/>
          <p:cNvSpPr/>
          <p:nvPr/>
        </p:nvSpPr>
        <p:spPr>
          <a:xfrm>
            <a:off x="11935663" y="7909560"/>
            <a:ext cx="5303520" cy="9601"/>
          </a:xfrm>
          <a:prstGeom prst="rect">
            <a:avLst/>
          </a:prstGeom>
          <a:solidFill>
            <a:srgbClr val="1F1F1F">
              <a:alpha val="16000"/>
            </a:srgbClr>
          </a:solidFill>
          <a:ln/>
        </p:spPr>
        <p:txBody>
          <a:bodyPr/>
          <a:lstStyle/>
          <a:p>
            <a:endParaRPr lang="en-US"/>
          </a:p>
        </p:txBody>
      </p:sp>
      <p:sp>
        <p:nvSpPr>
          <p:cNvPr id="49" name="Text 14"/>
          <p:cNvSpPr/>
          <p:nvPr/>
        </p:nvSpPr>
        <p:spPr>
          <a:xfrm>
            <a:off x="12087453" y="7982712"/>
            <a:ext cx="4983480" cy="630936"/>
          </a:xfrm>
          <a:prstGeom prst="rect">
            <a:avLst/>
          </a:prstGeom>
          <a:noFill/>
          <a:ln/>
        </p:spPr>
        <p:txBody>
          <a:bodyPr wrap="square" lIns="25400" tIns="25400" rIns="25400" bIns="25400" rtlCol="0" anchor="ctr">
            <a:normAutofit/>
          </a:bodyPr>
          <a:lstStyle/>
          <a:p>
            <a:pPr marL="0" indent="0" algn="l">
              <a:lnSpc>
                <a:spcPct val="130000"/>
              </a:lnSpc>
              <a:buNone/>
            </a:pPr>
            <a:r>
              <a:rPr lang="en-US" sz="1500">
                <a:solidFill>
                  <a:srgbClr val="1D1F20"/>
                </a:solidFill>
                <a:latin typeface="Arial" pitchFamily="34" charset="0"/>
                <a:ea typeface="Arial" pitchFamily="34" charset="-122"/>
                <a:cs typeface="Arial" pitchFamily="34" charset="-120"/>
              </a:rPr>
              <a:t>10 new flags on ind + 1 on emig; supports the observed-vs-imputed chart.</a:t>
            </a:r>
            <a:endParaRPr lang="en-US" sz="1950"/>
          </a:p>
        </p:txBody>
      </p:sp>
      <p:sp>
        <p:nvSpPr>
          <p:cNvPr id="50" name="Shape 9"/>
          <p:cNvSpPr/>
          <p:nvPr/>
        </p:nvSpPr>
        <p:spPr>
          <a:xfrm>
            <a:off x="1047902" y="8677656"/>
            <a:ext cx="16191280" cy="9601"/>
          </a:xfrm>
          <a:prstGeom prst="rect">
            <a:avLst/>
          </a:prstGeom>
          <a:solidFill>
            <a:srgbClr val="1F1F1F">
              <a:alpha val="16000"/>
            </a:srgbClr>
          </a:solidFill>
          <a:ln/>
        </p:spPr>
        <p:txBody>
          <a:bodyPr/>
          <a:lstStyle/>
          <a:p>
            <a:endParaRPr lang="en-US"/>
          </a:p>
        </p:txBody>
      </p:sp>
      <p:sp>
        <p:nvSpPr>
          <p:cNvPr id="51" name="Text 2"/>
          <p:cNvSpPr/>
          <p:nvPr/>
        </p:nvSpPr>
        <p:spPr>
          <a:xfrm>
            <a:off x="1047902" y="8833104"/>
            <a:ext cx="16184880" cy="713232"/>
          </a:xfrm>
          <a:prstGeom prst="rect">
            <a:avLst/>
          </a:prstGeom>
          <a:noFill/>
          <a:ln/>
        </p:spPr>
        <p:txBody>
          <a:bodyPr wrap="square" lIns="25400" tIns="25400" rIns="25400" bIns="25400" rtlCol="0" anchor="t">
            <a:normAutofit/>
          </a:bodyPr>
          <a:lstStyle/>
          <a:p>
            <a:pPr marL="0" indent="0" algn="l">
              <a:lnSpc>
                <a:spcPct val="135625"/>
              </a:lnSpc>
              <a:buNone/>
            </a:pPr>
            <a:r>
              <a:rPr lang="en-US" sz="1450">
                <a:solidFill>
                  <a:srgbClr val="1D1F20">
                    <a:alpha val="80000"/>
                  </a:srgbClr>
                </a:solidFill>
                <a:latin typeface="Arial" pitchFamily="34" charset="0"/>
                <a:ea typeface="Arial" pitchFamily="34" charset="-122"/>
                <a:cs typeface="Arial" pitchFamily="34" charset="-120"/>
              </a:rPr>
              <a:t>Verified: post-imputation missingness is 0 within every applicable population; structural counts 13,690 / 9,064 / 9,064 are unchanged. run_pipeline.py passes end-to-end and README is updated. Commit pending; next: Step 8 — data dictionary.</a:t>
            </a:r>
            <a:endParaRPr lang="en-US" sz="2100"/>
          </a:p>
        </p:txBody>
      </p:sp>
    </p:spTree>
    <p:extLst>
      <p:ext uri="{BB962C8B-B14F-4D97-AF65-F5344CB8AC3E}">
        <p14:creationId xmlns:p14="http://schemas.microsoft.com/office/powerpoint/2010/main" val="575795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66775"/>
            <a:ext cx="5964153"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TWO</a:t>
            </a:r>
            <a:endParaRPr lang="en-US" sz="1800" dirty="0"/>
          </a:p>
        </p:txBody>
      </p:sp>
      <p:sp>
        <p:nvSpPr>
          <p:cNvPr id="3" name="Text 1"/>
          <p:cNvSpPr/>
          <p:nvPr/>
        </p:nvSpPr>
        <p:spPr>
          <a:xfrm>
            <a:off x="1047750" y="1392436"/>
            <a:ext cx="5964153" cy="699492"/>
          </a:xfrm>
          <a:prstGeom prst="rect">
            <a:avLst/>
          </a:prstGeom>
          <a:noFill/>
          <a:ln/>
        </p:spPr>
        <p:txBody>
          <a:bodyPr wrap="square" lIns="25400" tIns="25400" rIns="25400" bIns="25400" rtlCol="0" anchor="t">
            <a:normAutofit fontScale="77500" lnSpcReduction="2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From Diagnosis to Cleaning</a:t>
            </a:r>
            <a:endParaRPr lang="en-US" sz="4650" dirty="0"/>
          </a:p>
        </p:txBody>
      </p:sp>
      <p:sp>
        <p:nvSpPr>
          <p:cNvPr id="4" name="Text 2"/>
          <p:cNvSpPr/>
          <p:nvPr/>
        </p:nvSpPr>
        <p:spPr>
          <a:xfrm>
            <a:off x="15801380" y="857250"/>
            <a:ext cx="1582757"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416180"/>
                </a:solidFill>
                <a:latin typeface="Arial" pitchFamily="34" charset="0"/>
                <a:ea typeface="Arial" pitchFamily="34" charset="-122"/>
                <a:cs typeface="Arial" pitchFamily="34" charset="-120"/>
              </a:rPr>
              <a:t>6 hours logged</a:t>
            </a:r>
            <a:endParaRPr lang="en-US" sz="1800" dirty="0"/>
          </a:p>
        </p:txBody>
      </p:sp>
      <p:sp>
        <p:nvSpPr>
          <p:cNvPr id="5" name="Text 3"/>
          <p:cNvSpPr/>
          <p:nvPr/>
        </p:nvSpPr>
        <p:spPr>
          <a:xfrm>
            <a:off x="1152525" y="2587228"/>
            <a:ext cx="14602206" cy="514350"/>
          </a:xfrm>
          <a:prstGeom prst="rect">
            <a:avLst/>
          </a:prstGeom>
          <a:noFill/>
          <a:ln/>
        </p:spPr>
        <p:txBody>
          <a:bodyPr wrap="square" lIns="25400" tIns="25400" rIns="25400" bIns="25400" rtlCol="0" anchor="t">
            <a:normAutofit/>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Built </a:t>
            </a:r>
            <a:r>
              <a:rPr lang="en-US" sz="2250" b="1" dirty="0">
                <a:solidFill>
                  <a:srgbClr val="1D1F20"/>
                </a:solidFill>
                <a:latin typeface="Arial" pitchFamily="34" charset="0"/>
                <a:ea typeface="Arial" pitchFamily="34" charset="-122"/>
                <a:cs typeface="Arial" pitchFamily="34" charset="-120"/>
              </a:rPr>
              <a:t>clean.py </a:t>
            </a:r>
            <a:r>
              <a:rPr lang="en-US" sz="2250" dirty="0">
                <a:solidFill>
                  <a:srgbClr val="1D1F20"/>
                </a:solidFill>
                <a:latin typeface="Arial" pitchFamily="34" charset="0"/>
                <a:ea typeface="Arial" pitchFamily="34" charset="-122"/>
                <a:cs typeface="Arial" pitchFamily="34" charset="-120"/>
              </a:rPr>
              <a:t>with Imran and Nicholas: exact-duplicate removal on the natural person key</a:t>
            </a:r>
            <a:endParaRPr lang="en-US" sz="2250" dirty="0"/>
          </a:p>
        </p:txBody>
      </p:sp>
      <p:sp>
        <p:nvSpPr>
          <p:cNvPr id="6" name="Text 4"/>
          <p:cNvSpPr/>
          <p:nvPr/>
        </p:nvSpPr>
        <p:spPr>
          <a:xfrm>
            <a:off x="1152525" y="3273028"/>
            <a:ext cx="14602206" cy="514350"/>
          </a:xfrm>
          <a:prstGeom prst="rect">
            <a:avLst/>
          </a:prstGeom>
          <a:noFill/>
          <a:ln/>
        </p:spPr>
        <p:txBody>
          <a:bodyPr wrap="square" lIns="25400" tIns="25400" rIns="25400" bIns="25400" rtlCol="0" anchor="t">
            <a:normAutofit/>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Two verified corrections applied automatically: age </a:t>
            </a:r>
            <a:r>
              <a:rPr lang="en-US" sz="2250" b="1" dirty="0">
                <a:solidFill>
                  <a:srgbClr val="1D1F20"/>
                </a:solidFill>
                <a:latin typeface="Arial" pitchFamily="34" charset="0"/>
                <a:ea typeface="Arial" pitchFamily="34" charset="-122"/>
                <a:cs typeface="Arial" pitchFamily="34" charset="-120"/>
              </a:rPr>
              <a:t>−1 </a:t>
            </a:r>
            <a:r>
              <a:rPr lang="en-US" sz="2250" dirty="0">
                <a:solidFill>
                  <a:srgbClr val="1D1F20"/>
                </a:solidFill>
                <a:latin typeface="Arial" pitchFamily="34" charset="0"/>
                <a:ea typeface="Arial" pitchFamily="34" charset="-122"/>
                <a:cs typeface="Arial" pitchFamily="34" charset="-120"/>
              </a:rPr>
              <a:t>and hours </a:t>
            </a:r>
            <a:r>
              <a:rPr lang="en-US" sz="2250" b="1" dirty="0">
                <a:solidFill>
                  <a:srgbClr val="1D1F20"/>
                </a:solidFill>
                <a:latin typeface="Arial" pitchFamily="34" charset="0"/>
                <a:ea typeface="Arial" pitchFamily="34" charset="-122"/>
                <a:cs typeface="Arial" pitchFamily="34" charset="-120"/>
              </a:rPr>
              <a:t>99 </a:t>
            </a:r>
            <a:r>
              <a:rPr lang="en-US" sz="2250" dirty="0">
                <a:solidFill>
                  <a:srgbClr val="1D1F20"/>
                </a:solidFill>
                <a:latin typeface="Arial" pitchFamily="34" charset="0"/>
                <a:ea typeface="Arial" pitchFamily="34" charset="-122"/>
                <a:cs typeface="Arial" pitchFamily="34" charset="-120"/>
              </a:rPr>
              <a:t>sentinels → NaN</a:t>
            </a:r>
            <a:endParaRPr lang="en-US" sz="2250" dirty="0"/>
          </a:p>
        </p:txBody>
      </p:sp>
      <p:sp>
        <p:nvSpPr>
          <p:cNvPr id="7" name="Text 5"/>
          <p:cNvSpPr/>
          <p:nvPr/>
        </p:nvSpPr>
        <p:spPr>
          <a:xfrm>
            <a:off x="1152525" y="3958828"/>
            <a:ext cx="14602206" cy="514350"/>
          </a:xfrm>
          <a:prstGeom prst="rect">
            <a:avLst/>
          </a:prstGeom>
          <a:noFill/>
          <a:ln/>
        </p:spPr>
        <p:txBody>
          <a:bodyPr wrap="square" lIns="25400" tIns="25400" rIns="25400" bIns="25400" rtlCol="0" anchor="t">
            <a:normAutofit/>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Wrote </a:t>
            </a:r>
            <a:r>
              <a:rPr lang="en-US" sz="2250" b="1" dirty="0">
                <a:solidFill>
                  <a:srgbClr val="1D1F20"/>
                </a:solidFill>
                <a:latin typeface="Arial" pitchFamily="34" charset="0"/>
                <a:ea typeface="Arial" pitchFamily="34" charset="-122"/>
                <a:cs typeface="Arial" pitchFamily="34" charset="-120"/>
              </a:rPr>
              <a:t>problem_inventory.py</a:t>
            </a:r>
            <a:r>
              <a:rPr lang="en-US" sz="2250" dirty="0">
                <a:solidFill>
                  <a:srgbClr val="1D1F20"/>
                </a:solidFill>
                <a:latin typeface="Arial" pitchFamily="34" charset="0"/>
                <a:ea typeface="Arial" pitchFamily="34" charset="-122"/>
                <a:cs typeface="Arial" pitchFamily="34" charset="-120"/>
              </a:rPr>
              <a:t>: a counted list of issues across sex, age, hours, industry and occupation</a:t>
            </a:r>
            <a:endParaRPr lang="en-US" sz="2250" dirty="0"/>
          </a:p>
        </p:txBody>
      </p:sp>
      <p:sp>
        <p:nvSpPr>
          <p:cNvPr id="8" name="Text 6"/>
          <p:cNvSpPr/>
          <p:nvPr/>
        </p:nvSpPr>
        <p:spPr>
          <a:xfrm>
            <a:off x="1152525" y="4644628"/>
            <a:ext cx="14602206" cy="495300"/>
          </a:xfrm>
          <a:prstGeom prst="rect">
            <a:avLst/>
          </a:prstGeom>
          <a:noFill/>
          <a:ln/>
        </p:spPr>
        <p:txBody>
          <a:bodyPr wrap="square" lIns="25400" tIns="25400" rIns="25400" bIns="25400" rtlCol="0" anchor="t">
            <a:normAutofit/>
          </a:bodyPr>
          <a:lstStyle/>
          <a:p>
            <a:pPr marL="200025" indent="-200025" algn="l">
              <a:lnSpc>
                <a:spcPct val="141176"/>
              </a:lnSpc>
              <a:buSzPct val="100000"/>
              <a:buChar char="•"/>
              <a:tabLst>
                <a:tab pos="200025" algn="l"/>
              </a:tabLst>
            </a:pPr>
            <a:r>
              <a:rPr lang="en-US" sz="2250" dirty="0">
                <a:solidFill>
                  <a:srgbClr val="1D1F20"/>
                </a:solidFill>
                <a:latin typeface="Arial" pitchFamily="34" charset="0"/>
                <a:ea typeface="Arial" pitchFamily="34" charset="-122"/>
                <a:cs typeface="Arial" pitchFamily="34" charset="-120"/>
              </a:rPr>
              <a:t>Cleaned data exported and committed, with every change logged before/after</a:t>
            </a:r>
            <a:endParaRPr lang="en-US" sz="2250" dirty="0"/>
          </a:p>
        </p:txBody>
      </p:sp>
      <p:sp>
        <p:nvSpPr>
          <p:cNvPr id="9" name="Cloned 9"/>
          <p:cNvSpPr/>
          <p:nvPr/>
        </p:nvSpPr>
        <p:spPr>
          <a:xfrm>
            <a:off x="1152525" y="5330428"/>
            <a:ext cx="14602206" cy="495300"/>
          </a:xfrm>
          <a:prstGeom prst="rect">
            <a:avLst/>
          </a:prstGeom>
          <a:noFill/>
          <a:ln/>
        </p:spPr>
        <p:txBody>
          <a:bodyPr wrap="square" lIns="25400" tIns="25400" rIns="25400" bIns="25400" rtlCol="0" anchor="t">
            <a:normAutofit/>
          </a:bodyPr>
          <a:lstStyle/>
          <a:p>
            <a:pPr marL="200025" indent="-200025" algn="l">
              <a:lnSpc>
                <a:spcPct val="141176"/>
              </a:lnSpc>
              <a:buSzPct val="100000"/>
              <a:buChar char="•"/>
              <a:tabLst>
                <a:tab pos="200025" algn="l"/>
              </a:tabLst>
            </a:pPr>
            <a:r>
              <a:rPr lang="en-US" sz="2250" dirty="0">
                <a:solidFill>
                  <a:srgbClr val="1D1F20"/>
                </a:solidFill>
                <a:latin typeface="Arial" pitchFamily="34" charset="0"/>
                <a:ea typeface="Arial" pitchFamily="34" charset="-122"/>
                <a:cs typeface="Arial" pitchFamily="34" charset="-120"/>
              </a:rPr>
              <a:t>Verified: zero duplicate rows in either dataset — nothing to drop.</a:t>
            </a:r>
            <a:endParaRPr lang="en-US" sz="2250" dirty="0"/>
          </a:p>
        </p:txBody>
      </p:sp>
      <p:sp>
        <p:nvSpPr>
          <p:cNvPr id="10" name="Cloned 10"/>
          <p:cNvSpPr/>
          <p:nvPr/>
        </p:nvSpPr>
        <p:spPr>
          <a:xfrm>
            <a:off x="1152525" y="6016228"/>
            <a:ext cx="14602206" cy="495300"/>
          </a:xfrm>
          <a:prstGeom prst="rect">
            <a:avLst/>
          </a:prstGeom>
          <a:noFill/>
          <a:ln/>
        </p:spPr>
        <p:txBody>
          <a:bodyPr wrap="square" lIns="25400" tIns="25400" rIns="25400" bIns="25400" rtlCol="0" anchor="t">
            <a:normAutofit/>
          </a:bodyPr>
          <a:lstStyle/>
          <a:p>
            <a:pPr marL="200025" indent="-200025" algn="l">
              <a:lnSpc>
                <a:spcPct val="141176"/>
              </a:lnSpc>
              <a:buSzPct val="100000"/>
              <a:buChar char="•"/>
              <a:tabLst>
                <a:tab pos="200025" algn="l"/>
              </a:tabLst>
            </a:pPr>
            <a:r>
              <a:rPr lang="en-US" sz="2250" dirty="0">
                <a:solidFill>
                  <a:srgbClr val="1D1F20"/>
                </a:solidFill>
                <a:latin typeface="Arial" pitchFamily="34" charset="0"/>
                <a:ea typeface="Arial" pitchFamily="34" charset="-122"/>
                <a:cs typeface="Arial" pitchFamily="34" charset="-120"/>
              </a:rPr>
              <a:t>Caught a second sentinel: q3_05 == 99 regardless of q3_03+q3_04 — flagged, not assumed.</a:t>
            </a:r>
            <a:endParaRPr lang="en-US" sz="2250" dirty="0"/>
          </a:p>
        </p:txBody>
      </p:sp>
      <p:sp>
        <p:nvSpPr>
          <p:cNvPr id="11" name="Cloned 11"/>
          <p:cNvSpPr/>
          <p:nvPr/>
        </p:nvSpPr>
        <p:spPr>
          <a:xfrm>
            <a:off x="1152525" y="6702028"/>
            <a:ext cx="14602206" cy="495300"/>
          </a:xfrm>
          <a:prstGeom prst="rect">
            <a:avLst/>
          </a:prstGeom>
          <a:noFill/>
          <a:ln/>
        </p:spPr>
        <p:txBody>
          <a:bodyPr wrap="square" lIns="25400" tIns="25400" rIns="25400" bIns="25400" rtlCol="0" anchor="t">
            <a:normAutofit/>
          </a:bodyPr>
          <a:lstStyle/>
          <a:p>
            <a:pPr marL="200025" indent="-200025" algn="l">
              <a:lnSpc>
                <a:spcPct val="141176"/>
              </a:lnSpc>
              <a:buSzPct val="100000"/>
              <a:buChar char="•"/>
              <a:tabLst>
                <a:tab pos="200025" algn="l"/>
              </a:tabLst>
            </a:pPr>
            <a:r>
              <a:rPr lang="en-US" sz="2250" dirty="0">
                <a:solidFill>
                  <a:srgbClr val="1D1F20"/>
                </a:solidFill>
                <a:latin typeface="Arial" pitchFamily="34" charset="0"/>
                <a:ea typeface="Arial" pitchFamily="34" charset="-122"/>
                <a:cs typeface="Arial" pitchFamily="34" charset="-120"/>
              </a:rPr>
              <a:t>Every flag lands in *_flagged_for_review.csv — nothing altered without a check to point to.</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TWO</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Chasing Sentinel Values</a:t>
            </a:r>
            <a:endParaRPr lang="en-US" sz="4650" dirty="0"/>
          </a:p>
        </p:txBody>
      </p:sp>
      <p:sp>
        <p:nvSpPr>
          <p:cNvPr id="4" name="Text 2"/>
          <p:cNvSpPr/>
          <p:nvPr/>
        </p:nvSpPr>
        <p:spPr>
          <a:xfrm>
            <a:off x="1047750" y="2234803"/>
            <a:ext cx="14716125"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1D1F20">
                    <a:alpha val="80000"/>
                  </a:srgbClr>
                </a:solidFill>
                <a:latin typeface="Arial" pitchFamily="34" charset="0"/>
                <a:ea typeface="Arial" pitchFamily="34" charset="-122"/>
                <a:cs typeface="Arial" pitchFamily="34" charset="-120"/>
              </a:rPr>
              <a:t>A sentinel is a stand-in number that means "don't know" or "top of scale" — not a real answer. Finding one means checking, not assuming.</a:t>
            </a:r>
            <a:endParaRPr lang="en-US" sz="2100" dirty="0"/>
          </a:p>
        </p:txBody>
      </p:sp>
      <p:sp>
        <p:nvSpPr>
          <p:cNvPr id="5" name="Shape 3"/>
          <p:cNvSpPr/>
          <p:nvPr/>
        </p:nvSpPr>
        <p:spPr>
          <a:xfrm>
            <a:off x="1047750" y="3518595"/>
            <a:ext cx="7867650" cy="6006405"/>
          </a:xfrm>
          <a:prstGeom prst="rect">
            <a:avLst/>
          </a:prstGeom>
          <a:ln w="9525">
            <a:solidFill>
              <a:srgbClr val="1F1F1F">
                <a:alpha val="16000"/>
              </a:srgbClr>
            </a:solidFill>
            <a:prstDash val="solid"/>
          </a:ln>
        </p:spPr>
        <p:txBody>
          <a:bodyPr/>
          <a:lstStyle/>
          <a:p>
            <a:endParaRPr lang="en-US"/>
          </a:p>
        </p:txBody>
      </p:sp>
      <p:sp>
        <p:nvSpPr>
          <p:cNvPr id="6" name="Text 4"/>
          <p:cNvSpPr/>
          <p:nvPr/>
        </p:nvSpPr>
        <p:spPr>
          <a:xfrm>
            <a:off x="952500" y="3423345"/>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7" name="Text 5"/>
          <p:cNvSpPr/>
          <p:nvPr/>
        </p:nvSpPr>
        <p:spPr>
          <a:xfrm>
            <a:off x="8888164" y="3423345"/>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9525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888816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0" name="Text 8"/>
          <p:cNvSpPr/>
          <p:nvPr/>
        </p:nvSpPr>
        <p:spPr>
          <a:xfrm>
            <a:off x="1438275" y="3909120"/>
            <a:ext cx="779526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80" dirty="0">
                <a:solidFill>
                  <a:srgbClr val="416180"/>
                </a:solidFill>
                <a:latin typeface="Arial" pitchFamily="34" charset="0"/>
                <a:ea typeface="Arial" pitchFamily="34" charset="-122"/>
                <a:cs typeface="Arial" pitchFamily="34" charset="-120"/>
              </a:rPr>
              <a:t>"99" — THE TOP-CODE</a:t>
            </a:r>
            <a:endParaRPr lang="en-US" sz="1800" dirty="0"/>
          </a:p>
        </p:txBody>
      </p:sp>
      <p:sp>
        <p:nvSpPr>
          <p:cNvPr id="11" name="Text 9"/>
          <p:cNvSpPr/>
          <p:nvPr/>
        </p:nvSpPr>
        <p:spPr>
          <a:xfrm>
            <a:off x="1438275" y="4396680"/>
            <a:ext cx="7299198" cy="2639583"/>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88 rows in usual weekly hours read exactly 99, while every other value capped at 98. Checked every other hours column first — none of them ever use 99, confirming it's a sentinel specific to this field.</a:t>
            </a:r>
            <a:endParaRPr lang="en-US" sz="1950" dirty="0"/>
          </a:p>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The usual-hours-mismatch flag count dropped from 6 to 0 the moment this correction landed — it was never an independent arithmetic error.</a:t>
            </a:r>
            <a:endParaRPr lang="en-US" sz="1950" dirty="0"/>
          </a:p>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Verified before correcting: zero occurrences of 99 in any other hours column, despite values as high as 168.</a:t>
            </a:r>
            <a:endParaRPr lang="en-US" sz="1950" dirty="0"/>
          </a:p>
        </p:txBody>
      </p:sp>
      <p:sp>
        <p:nvSpPr>
          <p:cNvPr id="12" name="Shape 10"/>
          <p:cNvSpPr/>
          <p:nvPr/>
        </p:nvSpPr>
        <p:spPr>
          <a:xfrm>
            <a:off x="9372600" y="3518595"/>
            <a:ext cx="7867650" cy="6006405"/>
          </a:xfrm>
          <a:prstGeom prst="rect">
            <a:avLst/>
          </a:prstGeom>
          <a:ln w="9525">
            <a:solidFill>
              <a:srgbClr val="1F1F1F">
                <a:alpha val="16000"/>
              </a:srgbClr>
            </a:solidFill>
            <a:prstDash val="solid"/>
          </a:ln>
        </p:spPr>
        <p:txBody>
          <a:bodyPr/>
          <a:lstStyle/>
          <a:p>
            <a:endParaRPr lang="en-US"/>
          </a:p>
        </p:txBody>
      </p:sp>
      <p:sp>
        <p:nvSpPr>
          <p:cNvPr id="13" name="Text 11"/>
          <p:cNvSpPr/>
          <p:nvPr/>
        </p:nvSpPr>
        <p:spPr>
          <a:xfrm>
            <a:off x="9277350" y="3423345"/>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4" name="Text 12"/>
          <p:cNvSpPr/>
          <p:nvPr/>
        </p:nvSpPr>
        <p:spPr>
          <a:xfrm>
            <a:off x="17213014" y="3423345"/>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5" name="Text 13"/>
          <p:cNvSpPr/>
          <p:nvPr/>
        </p:nvSpPr>
        <p:spPr>
          <a:xfrm>
            <a:off x="927735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6" name="Text 14"/>
          <p:cNvSpPr/>
          <p:nvPr/>
        </p:nvSpPr>
        <p:spPr>
          <a:xfrm>
            <a:off x="172130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7" name="Text 15"/>
          <p:cNvSpPr/>
          <p:nvPr/>
        </p:nvSpPr>
        <p:spPr>
          <a:xfrm>
            <a:off x="9763125" y="3909120"/>
            <a:ext cx="779526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80" dirty="0">
                <a:solidFill>
                  <a:srgbClr val="416180"/>
                </a:solidFill>
                <a:latin typeface="Arial" pitchFamily="34" charset="0"/>
                <a:ea typeface="Arial" pitchFamily="34" charset="-122"/>
                <a:cs typeface="Arial" pitchFamily="34" charset="-120"/>
              </a:rPr>
              <a:t>"−1" — DON'T KNOW</a:t>
            </a:r>
            <a:endParaRPr lang="en-US" sz="1800" dirty="0"/>
          </a:p>
        </p:txBody>
      </p:sp>
      <p:sp>
        <p:nvSpPr>
          <p:cNvPr id="18" name="Text 16"/>
          <p:cNvSpPr/>
          <p:nvPr/>
        </p:nvSpPr>
        <p:spPr>
          <a:xfrm>
            <a:off x="9763125" y="4396680"/>
            <a:ext cx="7299198" cy="2539583"/>
          </a:xfrm>
          <a:prstGeom prst="rect">
            <a:avLst/>
          </a:prstGeom>
          <a:noFill/>
          <a:ln/>
        </p:spPr>
        <p:txBody>
          <a:bodyPr wrap="square" lIns="25400" tIns="25400" rIns="25400" bIns="25400" rtlCol="0" anchor="t">
            <a:normAutofit lnSpcReduction="10000"/>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Verified on age (12 rows), then found still live and uncorrected in seven more hours columns nobody had checked against it before this pass.</a:t>
            </a:r>
            <a:endParaRPr lang="en-US" sz="1950" dirty="0"/>
          </a:p>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Verified the same way as age: checked every value, confirmed −1 means exactly one thing everywhere it appears.</a:t>
            </a:r>
            <a:endParaRPr lang="en-US" sz="1950" dirty="0"/>
          </a:p>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Total corrected this pass: 12 age rows plus roughly 110 rows across seven hours columns and q3_08.</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TWO</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The Leading-Zero Bug</a:t>
            </a:r>
            <a:endParaRPr lang="en-US" sz="4650" dirty="0"/>
          </a:p>
        </p:txBody>
      </p:sp>
      <p:sp>
        <p:nvSpPr>
          <p:cNvPr id="4" name="Text 2"/>
          <p:cNvSpPr/>
          <p:nvPr/>
        </p:nvSpPr>
        <p:spPr>
          <a:xfrm>
            <a:off x="1047750" y="4484489"/>
            <a:ext cx="8025194" cy="942975"/>
          </a:xfrm>
          <a:prstGeom prst="rect">
            <a:avLst/>
          </a:prstGeom>
          <a:noFill/>
          <a:ln/>
        </p:spPr>
        <p:txBody>
          <a:bodyPr wrap="square" lIns="25400" tIns="25400" rIns="25400" bIns="25400" rtlCol="0" anchor="t">
            <a:normAutofit lnSpcReduction="1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Industry and occupation codes inconsistently lost a leading zero on export — </a:t>
            </a:r>
            <a:r>
              <a:rPr lang="en-US" sz="2250" dirty="0">
                <a:solidFill>
                  <a:srgbClr val="1D1F20"/>
                </a:solidFill>
                <a:highlight>
                  <a:srgbClr val="EEF6FF"/>
                </a:highlight>
                <a:latin typeface="Arial" pitchFamily="34" charset="0"/>
                <a:ea typeface="Arial" pitchFamily="34" charset="-122"/>
                <a:cs typeface="Arial" pitchFamily="34" charset="-120"/>
              </a:rPr>
              <a:t>"0729" </a:t>
            </a:r>
            <a:r>
              <a:rPr lang="en-US" sz="2250" dirty="0">
                <a:solidFill>
                  <a:srgbClr val="1D1F20"/>
                </a:solidFill>
                <a:latin typeface="Arial" pitchFamily="34" charset="0"/>
                <a:ea typeface="Arial" pitchFamily="34" charset="-122"/>
                <a:cs typeface="Arial" pitchFamily="34" charset="-120"/>
              </a:rPr>
              <a:t>stored as </a:t>
            </a:r>
            <a:r>
              <a:rPr lang="en-US" sz="2250" dirty="0">
                <a:solidFill>
                  <a:srgbClr val="1D1F20"/>
                </a:solidFill>
                <a:highlight>
                  <a:srgbClr val="EEF6FF"/>
                </a:highlight>
                <a:latin typeface="Arial" pitchFamily="34" charset="0"/>
                <a:ea typeface="Arial" pitchFamily="34" charset="-122"/>
                <a:cs typeface="Arial" pitchFamily="34" charset="-120"/>
              </a:rPr>
              <a:t>"729"</a:t>
            </a:r>
            <a:r>
              <a:rPr lang="en-US" sz="2250" dirty="0">
                <a:solidFill>
                  <a:srgbClr val="1D1F20"/>
                </a:solidFill>
                <a:latin typeface="Arial" pitchFamily="34" charset="0"/>
                <a:ea typeface="Arial" pitchFamily="34" charset="-122"/>
                <a:cs typeface="Arial" pitchFamily="34" charset="-120"/>
              </a:rPr>
              <a:t>.</a:t>
            </a:r>
            <a:endParaRPr lang="en-US" sz="2250" dirty="0"/>
          </a:p>
        </p:txBody>
      </p:sp>
      <p:sp>
        <p:nvSpPr>
          <p:cNvPr id="5" name="Text 3"/>
          <p:cNvSpPr/>
          <p:nvPr/>
        </p:nvSpPr>
        <p:spPr>
          <a:xfrm>
            <a:off x="1047750" y="5617964"/>
            <a:ext cx="8025194" cy="923925"/>
          </a:xfrm>
          <a:prstGeom prst="rect">
            <a:avLst/>
          </a:prstGeom>
          <a:noFill/>
          <a:ln/>
        </p:spPr>
        <p:txBody>
          <a:bodyPr wrap="square" lIns="25400" tIns="25400" rIns="25400" bIns="25400" rtlCol="0" anchor="t">
            <a:normAutofit lnSpcReduction="1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Left alone, it would have silently misclassified every one of those rows into the wrong industry section.</a:t>
            </a:r>
            <a:endParaRPr lang="en-US" sz="2250" dirty="0"/>
          </a:p>
        </p:txBody>
      </p:sp>
      <p:sp>
        <p:nvSpPr>
          <p:cNvPr id="6" name="Text 4"/>
          <p:cNvSpPr/>
          <p:nvPr/>
        </p:nvSpPr>
        <p:spPr>
          <a:xfrm>
            <a:off x="1047750" y="6732389"/>
            <a:ext cx="8025194" cy="923925"/>
          </a:xfrm>
          <a:prstGeom prst="rect">
            <a:avLst/>
          </a:prstGeom>
          <a:noFill/>
          <a:ln/>
        </p:spPr>
        <p:txBody>
          <a:bodyPr wrap="square" lIns="25400" tIns="25400" rIns="25400" bIns="25400" rtlCol="0" anchor="t">
            <a:normAutofit lnSpcReduction="1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Fix: zero-pad every code to 4 digits before reading its section or major group.</a:t>
            </a:r>
            <a:endParaRPr lang="en-US" sz="2250" dirty="0"/>
          </a:p>
        </p:txBody>
      </p:sp>
      <p:sp>
        <p:nvSpPr>
          <p:cNvPr id="7" name="Shape 5"/>
          <p:cNvSpPr/>
          <p:nvPr/>
        </p:nvSpPr>
        <p:spPr>
          <a:xfrm>
            <a:off x="9448800" y="4759821"/>
            <a:ext cx="7791450" cy="2583061"/>
          </a:xfrm>
          <a:prstGeom prst="rect">
            <a:avLst/>
          </a:prstGeom>
          <a:ln w="9525">
            <a:solidFill>
              <a:srgbClr val="1F1F1F">
                <a:alpha val="16000"/>
              </a:srgbClr>
            </a:solidFill>
            <a:prstDash val="solid"/>
          </a:ln>
        </p:spPr>
        <p:txBody>
          <a:bodyPr/>
          <a:lstStyle/>
          <a:p>
            <a:endParaRPr lang="en-US"/>
          </a:p>
        </p:txBody>
      </p:sp>
      <p:sp>
        <p:nvSpPr>
          <p:cNvPr id="8" name="Text 6"/>
          <p:cNvSpPr/>
          <p:nvPr/>
        </p:nvSpPr>
        <p:spPr>
          <a:xfrm>
            <a:off x="9315450" y="4664571"/>
            <a:ext cx="198686" cy="362843"/>
          </a:xfrm>
          <a:prstGeom prst="rect">
            <a:avLst/>
          </a:prstGeom>
          <a:noFill/>
          <a:ln/>
        </p:spPr>
        <p:txBody>
          <a:bodyPr wrap="square" lIns="25400" tIns="25400" rIns="25400" bIns="25400" rtlCol="0" anchor="t">
            <a:normAutofit/>
          </a:bodyPr>
          <a:lstStyle/>
          <a:p>
            <a:pPr marL="0" indent="0" algn="ctr">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17174914" y="4664571"/>
            <a:ext cx="198686" cy="362843"/>
          </a:xfrm>
          <a:prstGeom prst="rect">
            <a:avLst/>
          </a:prstGeom>
          <a:noFill/>
          <a:ln/>
        </p:spPr>
        <p:txBody>
          <a:bodyPr wrap="square" lIns="25400" tIns="25400" rIns="25400" bIns="25400" rtlCol="0" anchor="t">
            <a:normAutofit/>
          </a:bodyPr>
          <a:lstStyle/>
          <a:p>
            <a:pPr marL="0" indent="0" algn="ctr">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0" name="Text 8"/>
          <p:cNvSpPr/>
          <p:nvPr/>
        </p:nvSpPr>
        <p:spPr>
          <a:xfrm>
            <a:off x="9315450" y="7113389"/>
            <a:ext cx="198686" cy="362843"/>
          </a:xfrm>
          <a:prstGeom prst="rect">
            <a:avLst/>
          </a:prstGeom>
          <a:noFill/>
          <a:ln/>
        </p:spPr>
        <p:txBody>
          <a:bodyPr wrap="square" lIns="25400" tIns="25400" rIns="25400" bIns="25400" rtlCol="0" anchor="t">
            <a:normAutofit/>
          </a:bodyPr>
          <a:lstStyle/>
          <a:p>
            <a:pPr marL="0" indent="0" algn="ctr">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1" name="Text 9"/>
          <p:cNvSpPr/>
          <p:nvPr/>
        </p:nvSpPr>
        <p:spPr>
          <a:xfrm>
            <a:off x="17174914" y="7113389"/>
            <a:ext cx="198686" cy="362843"/>
          </a:xfrm>
          <a:prstGeom prst="rect">
            <a:avLst/>
          </a:prstGeom>
          <a:noFill/>
          <a:ln/>
        </p:spPr>
        <p:txBody>
          <a:bodyPr wrap="square" lIns="25400" tIns="25400" rIns="25400" bIns="25400" rtlCol="0" anchor="t">
            <a:normAutofit/>
          </a:bodyPr>
          <a:lstStyle/>
          <a:p>
            <a:pPr marL="0" indent="0" algn="ctr">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2" name="Text 10"/>
          <p:cNvSpPr/>
          <p:nvPr/>
        </p:nvSpPr>
        <p:spPr>
          <a:xfrm>
            <a:off x="9530715" y="5302746"/>
            <a:ext cx="7627620" cy="990600"/>
          </a:xfrm>
          <a:prstGeom prst="rect">
            <a:avLst/>
          </a:prstGeom>
          <a:noFill/>
          <a:ln/>
        </p:spPr>
        <p:txBody>
          <a:bodyPr wrap="square" lIns="25400" tIns="25400" rIns="25400" bIns="25400" rtlCol="0" anchor="t">
            <a:normAutofit lnSpcReduction="10000"/>
          </a:bodyPr>
          <a:lstStyle/>
          <a:p>
            <a:pPr marL="0" indent="0" algn="ctr">
              <a:lnSpc>
                <a:spcPct val="86957"/>
              </a:lnSpc>
              <a:buNone/>
            </a:pPr>
            <a:r>
              <a:rPr lang="en-US" sz="7500" b="1" dirty="0">
                <a:solidFill>
                  <a:srgbClr val="416180"/>
                </a:solidFill>
                <a:latin typeface="Arial" pitchFamily="34" charset="0"/>
                <a:ea typeface="Arial" pitchFamily="34" charset="-122"/>
                <a:cs typeface="Arial" pitchFamily="34" charset="-120"/>
              </a:rPr>
              <a:t>0 / 4,789</a:t>
            </a:r>
            <a:endParaRPr lang="en-US" sz="7500" dirty="0"/>
          </a:p>
        </p:txBody>
      </p:sp>
      <p:sp>
        <p:nvSpPr>
          <p:cNvPr id="13" name="Text 11"/>
          <p:cNvSpPr/>
          <p:nvPr/>
        </p:nvSpPr>
        <p:spPr>
          <a:xfrm>
            <a:off x="9530715" y="6445746"/>
            <a:ext cx="7627620" cy="392311"/>
          </a:xfrm>
          <a:prstGeom prst="rect">
            <a:avLst/>
          </a:prstGeom>
          <a:noFill/>
          <a:ln/>
        </p:spPr>
        <p:txBody>
          <a:bodyPr wrap="square" lIns="25400" tIns="25400" rIns="25400" bIns="25400" rtlCol="0" anchor="t">
            <a:normAutofit/>
          </a:bodyPr>
          <a:lstStyle/>
          <a:p>
            <a:pPr marL="0" indent="0" algn="ctr">
              <a:lnSpc>
                <a:spcPct val="132857"/>
              </a:lnSpc>
              <a:buNone/>
            </a:pPr>
            <a:r>
              <a:rPr lang="en-US" sz="1800" dirty="0">
                <a:solidFill>
                  <a:srgbClr val="1D1F20"/>
                </a:solidFill>
                <a:latin typeface="Arial" pitchFamily="34" charset="0"/>
                <a:ea typeface="Arial" pitchFamily="34" charset="-122"/>
                <a:cs typeface="Arial" pitchFamily="34" charset="-120"/>
              </a:rPr>
              <a:t>coded rows failed to classify after the fix</a:t>
            </a:r>
            <a:endParaRPr lang="en-US" sz="1800" dirty="0"/>
          </a:p>
        </p:txBody>
      </p:sp>
      <p:sp>
        <p:nvSpPr>
          <p:cNvPr id="14" name="Cloned 14"/>
          <p:cNvSpPr/>
          <p:nvPr/>
        </p:nvSpPr>
        <p:spPr>
          <a:xfrm>
            <a:off x="1047750" y="7852389"/>
            <a:ext cx="8025194" cy="923925"/>
          </a:xfrm>
          <a:prstGeom prst="rect">
            <a:avLst/>
          </a:prstGeom>
          <a:noFill/>
          <a:ln/>
        </p:spPr>
        <p:txBody>
          <a:bodyPr wrap="square" lIns="25400" tIns="25400" rIns="25400" bIns="25400" rtlCol="0" anchor="t">
            <a:normAutofit fontScale="77500" lnSpcReduction="2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Verified against a known example: isco_code 3131 → 'Technicians and Associate Professionals' — matches the very first sample record this project looked at.</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TWO</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Free Text, Cleaned Without Guessing</a:t>
            </a:r>
            <a:endParaRPr lang="en-US" sz="4650" dirty="0"/>
          </a:p>
        </p:txBody>
      </p:sp>
      <p:sp>
        <p:nvSpPr>
          <p:cNvPr id="4" name="Text 2"/>
          <p:cNvSpPr/>
          <p:nvPr/>
        </p:nvSpPr>
        <p:spPr>
          <a:xfrm>
            <a:off x="1047750" y="4282083"/>
            <a:ext cx="8827682" cy="923925"/>
          </a:xfrm>
          <a:prstGeom prst="rect">
            <a:avLst/>
          </a:prstGeom>
          <a:noFill/>
          <a:ln/>
        </p:spPr>
        <p:txBody>
          <a:bodyPr wrap="square" lIns="25400" tIns="25400" rIns="25400" bIns="25400" rtlCol="0" anchor="t">
            <a:normAutofit fontScale="925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Job titles and descriptions are typed free-hand — "Cashier", "cashier", "Cashier " are probably the same answer, entered inconsistently.</a:t>
            </a:r>
            <a:endParaRPr lang="en-US" sz="2250" dirty="0"/>
          </a:p>
        </p:txBody>
      </p:sp>
      <p:sp>
        <p:nvSpPr>
          <p:cNvPr id="5" name="Text 3"/>
          <p:cNvSpPr/>
          <p:nvPr/>
        </p:nvSpPr>
        <p:spPr>
          <a:xfrm>
            <a:off x="1047750" y="5377458"/>
            <a:ext cx="8827682" cy="1385888"/>
          </a:xfrm>
          <a:prstGeom prst="rect">
            <a:avLst/>
          </a:prstGeom>
          <a:noFill/>
          <a:ln/>
        </p:spPr>
        <p:txBody>
          <a:bodyPr wrap="square" lIns="25400" tIns="25400" rIns="25400" bIns="25400" rtlCol="0" anchor="t">
            <a:normAutofit/>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Near-duplicate values were found </a:t>
            </a:r>
            <a:r>
              <a:rPr lang="en-US" sz="2250">
                <a:solidFill>
                  <a:srgbClr val="1D1F20"/>
                </a:solidFill>
                <a:latin typeface="Arial" pitchFamily="34" charset="0"/>
                <a:ea typeface="Arial" pitchFamily="34" charset="-122"/>
                <a:cs typeface="Arial" pitchFamily="34" charset="-120"/>
              </a:rPr>
              <a:t>automatically, but </a:t>
            </a:r>
            <a:r>
              <a:rPr lang="en-US" sz="2250" dirty="0">
                <a:solidFill>
                  <a:srgbClr val="1D1F20"/>
                </a:solidFill>
                <a:latin typeface="Arial" pitchFamily="34" charset="0"/>
                <a:ea typeface="Arial" pitchFamily="34" charset="-122"/>
                <a:cs typeface="Arial" pitchFamily="34" charset="-120"/>
              </a:rPr>
              <a:t>only merged above a </a:t>
            </a:r>
            <a:r>
              <a:rPr lang="en-US" sz="2250" b="1" dirty="0">
                <a:solidFill>
                  <a:srgbClr val="1D1F20"/>
                </a:solidFill>
                <a:latin typeface="Arial" pitchFamily="34" charset="0"/>
                <a:ea typeface="Arial" pitchFamily="34" charset="-122"/>
                <a:cs typeface="Arial" pitchFamily="34" charset="-120"/>
              </a:rPr>
              <a:t>0.98 similarity </a:t>
            </a:r>
            <a:r>
              <a:rPr lang="en-US" sz="2250" dirty="0">
                <a:solidFill>
                  <a:srgbClr val="1D1F20"/>
                </a:solidFill>
                <a:latin typeface="Arial" pitchFamily="34" charset="0"/>
                <a:ea typeface="Arial" pitchFamily="34" charset="-122"/>
                <a:cs typeface="Arial" pitchFamily="34" charset="-120"/>
              </a:rPr>
              <a:t>threshold.</a:t>
            </a:r>
            <a:endParaRPr lang="en-US" sz="2250" dirty="0"/>
          </a:p>
        </p:txBody>
      </p:sp>
      <p:sp>
        <p:nvSpPr>
          <p:cNvPr id="6" name="Text 4"/>
          <p:cNvSpPr/>
          <p:nvPr/>
        </p:nvSpPr>
        <p:spPr>
          <a:xfrm>
            <a:off x="1047750" y="6934795"/>
            <a:ext cx="8827682" cy="923925"/>
          </a:xfrm>
          <a:prstGeom prst="rect">
            <a:avLst/>
          </a:prstGeom>
          <a:noFill/>
          <a:ln/>
        </p:spPr>
        <p:txBody>
          <a:bodyPr wrap="square" lIns="25400" tIns="25400" rIns="25400" bIns="25400" rtlCol="0" anchor="t">
            <a:normAutofit lnSpcReduction="1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Anything less certain stays flagged for a human to review, not auto-merged.</a:t>
            </a:r>
            <a:endParaRPr lang="en-US" sz="2250" dirty="0"/>
          </a:p>
        </p:txBody>
      </p:sp>
      <p:sp>
        <p:nvSpPr>
          <p:cNvPr id="7" name="Shape 5"/>
          <p:cNvSpPr/>
          <p:nvPr/>
        </p:nvSpPr>
        <p:spPr>
          <a:xfrm>
            <a:off x="10227915" y="5001816"/>
            <a:ext cx="7012335" cy="2099072"/>
          </a:xfrm>
          <a:prstGeom prst="rect">
            <a:avLst/>
          </a:prstGeom>
          <a:ln w="9525">
            <a:solidFill>
              <a:srgbClr val="1F1F1F">
                <a:alpha val="16000"/>
              </a:srgbClr>
            </a:solidFill>
            <a:prstDash val="solid"/>
          </a:ln>
        </p:spPr>
        <p:txBody>
          <a:bodyPr/>
          <a:lstStyle/>
          <a:p>
            <a:endParaRPr lang="en-US"/>
          </a:p>
        </p:txBody>
      </p:sp>
      <p:sp>
        <p:nvSpPr>
          <p:cNvPr id="8" name="Text 6"/>
          <p:cNvSpPr/>
          <p:nvPr/>
        </p:nvSpPr>
        <p:spPr>
          <a:xfrm>
            <a:off x="10132665" y="490656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17213014" y="490656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0" name="Text 8"/>
          <p:cNvSpPr/>
          <p:nvPr/>
        </p:nvSpPr>
        <p:spPr>
          <a:xfrm>
            <a:off x="10132665" y="6871395"/>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1" name="Text 9"/>
          <p:cNvSpPr/>
          <p:nvPr/>
        </p:nvSpPr>
        <p:spPr>
          <a:xfrm>
            <a:off x="17213014" y="6871395"/>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2" name="Text 10"/>
          <p:cNvSpPr/>
          <p:nvPr/>
        </p:nvSpPr>
        <p:spPr>
          <a:xfrm>
            <a:off x="10580340" y="5354241"/>
            <a:ext cx="6938233" cy="982861"/>
          </a:xfrm>
          <a:prstGeom prst="rect">
            <a:avLst/>
          </a:prstGeom>
          <a:noFill/>
          <a:ln/>
        </p:spPr>
        <p:txBody>
          <a:bodyPr wrap="square" lIns="25400" tIns="25400" rIns="25400" bIns="25400" rtlCol="0" anchor="t">
            <a:normAutofit/>
          </a:bodyPr>
          <a:lstStyle/>
          <a:p>
            <a:pPr marL="0" indent="0" algn="l">
              <a:lnSpc>
                <a:spcPct val="134054"/>
              </a:lnSpc>
              <a:buNone/>
            </a:pPr>
            <a:r>
              <a:rPr lang="en-US" sz="4800" b="1" dirty="0">
                <a:solidFill>
                  <a:srgbClr val="416180"/>
                </a:solidFill>
                <a:latin typeface="Arial" pitchFamily="34" charset="0"/>
                <a:ea typeface="Arial" pitchFamily="34" charset="-122"/>
                <a:cs typeface="Arial" pitchFamily="34" charset="-120"/>
              </a:rPr>
              <a:t>436 variants</a:t>
            </a:r>
            <a:endParaRPr lang="en-US" sz="4800" dirty="0"/>
          </a:p>
        </p:txBody>
      </p:sp>
      <p:sp>
        <p:nvSpPr>
          <p:cNvPr id="13" name="Text 11"/>
          <p:cNvSpPr/>
          <p:nvPr/>
        </p:nvSpPr>
        <p:spPr>
          <a:xfrm>
            <a:off x="10580340" y="6394252"/>
            <a:ext cx="6938233"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1D1F20"/>
                </a:solidFill>
                <a:latin typeface="Arial" pitchFamily="34" charset="0"/>
                <a:ea typeface="Arial" pitchFamily="34" charset="-122"/>
                <a:cs typeface="Arial" pitchFamily="34" charset="-120"/>
              </a:rPr>
              <a:t>merged into their most common form, across 648 rows</a:t>
            </a:r>
            <a:endParaRPr lang="en-US" sz="1800" dirty="0"/>
          </a:p>
        </p:txBody>
      </p:sp>
      <p:sp>
        <p:nvSpPr>
          <p:cNvPr id="14" name="Cloned 14"/>
          <p:cNvSpPr/>
          <p:nvPr/>
        </p:nvSpPr>
        <p:spPr>
          <a:xfrm>
            <a:off x="1047750" y="8074795"/>
            <a:ext cx="8827682" cy="923925"/>
          </a:xfrm>
          <a:prstGeom prst="rect">
            <a:avLst/>
          </a:prstGeom>
          <a:noFill/>
          <a:ln/>
        </p:spPr>
        <p:txBody>
          <a:bodyPr wrap="square" lIns="25400" tIns="25400" rIns="25400" bIns="25400" rtlCol="0" anchor="t">
            <a:normAutofit lnSpcReduction="1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The noisier 0.90–0.97 band stayed flag-only — real pairs there were ambiguous enough that auto-merging would have guessed wrong.</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COURSE-CORRECTION</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Self-Audit: Four Blind Spots</a:t>
            </a:r>
            <a:endParaRPr lang="en-US" sz="4650" dirty="0"/>
          </a:p>
        </p:txBody>
      </p:sp>
      <p:sp>
        <p:nvSpPr>
          <p:cNvPr id="4" name="Text 2"/>
          <p:cNvSpPr/>
          <p:nvPr/>
        </p:nvSpPr>
        <p:spPr>
          <a:xfrm>
            <a:off x="1047750" y="2120503"/>
            <a:ext cx="16678275" cy="874216"/>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1D1F20">
                    <a:alpha val="80000"/>
                  </a:srgbClr>
                </a:solidFill>
                <a:latin typeface="Arial" pitchFamily="34" charset="0"/>
                <a:ea typeface="Arial" pitchFamily="34" charset="-122"/>
                <a:cs typeface="Arial" pitchFamily="34" charset="-120"/>
              </a:rPr>
              <a:t>The standard applied to every check: </a:t>
            </a:r>
            <a:r>
              <a:rPr lang="en-US" sz="2100" i="1" dirty="0">
                <a:solidFill>
                  <a:srgbClr val="1D1F20">
                    <a:alpha val="80000"/>
                  </a:srgbClr>
                </a:solidFill>
                <a:latin typeface="Arial" pitchFamily="34" charset="0"/>
                <a:ea typeface="Arial" pitchFamily="34" charset="-122"/>
                <a:cs typeface="Arial" pitchFamily="34" charset="-120"/>
              </a:rPr>
              <a:t>if it reports "no problems," would it have caught one if it existed? </a:t>
            </a:r>
            <a:r>
              <a:rPr lang="en-US" sz="2100" dirty="0">
                <a:solidFill>
                  <a:srgbClr val="1D1F20">
                    <a:alpha val="80000"/>
                  </a:srgbClr>
                </a:solidFill>
                <a:latin typeface="Arial" pitchFamily="34" charset="0"/>
                <a:ea typeface="Arial" pitchFamily="34" charset="-122"/>
                <a:cs typeface="Arial" pitchFamily="34" charset="-120"/>
              </a:rPr>
              <a:t>Four checks failed that test — all four fixed.</a:t>
            </a:r>
            <a:endParaRPr lang="en-US" sz="2100" dirty="0"/>
          </a:p>
        </p:txBody>
      </p:sp>
      <p:sp>
        <p:nvSpPr>
          <p:cNvPr id="5" name="Shape 3"/>
          <p:cNvSpPr/>
          <p:nvPr/>
        </p:nvSpPr>
        <p:spPr>
          <a:xfrm>
            <a:off x="1047750" y="3375720"/>
            <a:ext cx="3848100" cy="6149280"/>
          </a:xfrm>
          <a:prstGeom prst="rect">
            <a:avLst/>
          </a:prstGeom>
          <a:ln w="9525">
            <a:solidFill>
              <a:srgbClr val="1F1F1F">
                <a:alpha val="16000"/>
              </a:srgbClr>
            </a:solidFill>
            <a:prstDash val="solid"/>
          </a:ln>
        </p:spPr>
        <p:txBody>
          <a:bodyPr/>
          <a:lstStyle/>
          <a:p>
            <a:endParaRPr lang="en-US"/>
          </a:p>
        </p:txBody>
      </p:sp>
      <p:sp>
        <p:nvSpPr>
          <p:cNvPr id="6" name="Text 4"/>
          <p:cNvSpPr/>
          <p:nvPr/>
        </p:nvSpPr>
        <p:spPr>
          <a:xfrm>
            <a:off x="952500"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7" name="Text 5"/>
          <p:cNvSpPr/>
          <p:nvPr/>
        </p:nvSpPr>
        <p:spPr>
          <a:xfrm>
            <a:off x="4868614"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9525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48686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0" name="Text 8"/>
          <p:cNvSpPr/>
          <p:nvPr/>
        </p:nvSpPr>
        <p:spPr>
          <a:xfrm>
            <a:off x="1304925" y="3670995"/>
            <a:ext cx="3667125" cy="805755"/>
          </a:xfrm>
          <a:prstGeom prst="rect">
            <a:avLst/>
          </a:prstGeom>
          <a:noFill/>
          <a:ln/>
        </p:spPr>
        <p:txBody>
          <a:bodyPr wrap="square" lIns="25400" tIns="25400" rIns="25400" bIns="25400" rtlCol="0" anchor="t">
            <a:normAutofit/>
          </a:bodyPr>
          <a:lstStyle/>
          <a:p>
            <a:pPr marL="0" indent="0" algn="l">
              <a:lnSpc>
                <a:spcPct val="134333"/>
              </a:lnSpc>
              <a:buNone/>
            </a:pPr>
            <a:r>
              <a:rPr lang="en-US" sz="3900" b="1" dirty="0">
                <a:solidFill>
                  <a:srgbClr val="416180"/>
                </a:solidFill>
                <a:latin typeface="Arial" pitchFamily="34" charset="0"/>
                <a:ea typeface="Arial" pitchFamily="34" charset="-122"/>
                <a:cs typeface="Arial" pitchFamily="34" charset="-120"/>
              </a:rPr>
              <a:t>01</a:t>
            </a:r>
            <a:endParaRPr lang="en-US" sz="3900" dirty="0"/>
          </a:p>
        </p:txBody>
      </p:sp>
      <p:sp>
        <p:nvSpPr>
          <p:cNvPr id="11" name="Text 9"/>
          <p:cNvSpPr/>
          <p:nvPr/>
        </p:nvSpPr>
        <p:spPr>
          <a:xfrm>
            <a:off x="1304925" y="4552950"/>
            <a:ext cx="3667125"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dirty="0">
                <a:solidFill>
                  <a:srgbClr val="1D1F20"/>
                </a:solidFill>
                <a:latin typeface="Arial" pitchFamily="34" charset="0"/>
                <a:ea typeface="Arial" pitchFamily="34" charset="-122"/>
                <a:cs typeface="Arial" pitchFamily="34" charset="-120"/>
              </a:rPr>
              <a:t>Ordering bug</a:t>
            </a:r>
            <a:endParaRPr lang="en-US" sz="1800" dirty="0"/>
          </a:p>
        </p:txBody>
      </p:sp>
      <p:sp>
        <p:nvSpPr>
          <p:cNvPr id="12" name="Text 10"/>
          <p:cNvSpPr/>
          <p:nvPr/>
        </p:nvSpPr>
        <p:spPr>
          <a:xfrm>
            <a:off x="1304925" y="5021461"/>
            <a:ext cx="3433763" cy="1959700"/>
          </a:xfrm>
          <a:prstGeom prst="rect">
            <a:avLst/>
          </a:prstGeom>
          <a:noFill/>
          <a:ln/>
        </p:spPr>
        <p:txBody>
          <a:bodyPr wrap="square" lIns="25400" tIns="25400" rIns="25400" bIns="25400" rtlCol="0" anchor="t">
            <a:normAutofit fontScale="85000" lnSpcReduction="10000"/>
          </a:bodyPr>
          <a:lstStyle/>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A consistency check ran after its own sentinel correction — it could never see the rows it was meant to flag.</a:t>
            </a:r>
            <a:endParaRPr lang="en-US" sz="1800" dirty="0"/>
          </a:p>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Fixed by: running once, deliberately, on raw data before any correction touches it.</a:t>
            </a:r>
            <a:endParaRPr lang="en-US" sz="1800" dirty="0"/>
          </a:p>
        </p:txBody>
      </p:sp>
      <p:sp>
        <p:nvSpPr>
          <p:cNvPr id="13" name="Shape 11"/>
          <p:cNvSpPr/>
          <p:nvPr/>
        </p:nvSpPr>
        <p:spPr>
          <a:xfrm>
            <a:off x="5162550" y="3375720"/>
            <a:ext cx="3848100" cy="6149280"/>
          </a:xfrm>
          <a:prstGeom prst="rect">
            <a:avLst/>
          </a:prstGeom>
          <a:ln w="9525">
            <a:solidFill>
              <a:srgbClr val="1F1F1F">
                <a:alpha val="16000"/>
              </a:srgbClr>
            </a:solidFill>
            <a:prstDash val="solid"/>
          </a:ln>
        </p:spPr>
        <p:txBody>
          <a:bodyPr/>
          <a:lstStyle/>
          <a:p>
            <a:endParaRPr lang="en-US"/>
          </a:p>
        </p:txBody>
      </p:sp>
      <p:sp>
        <p:nvSpPr>
          <p:cNvPr id="14" name="Text 12"/>
          <p:cNvSpPr/>
          <p:nvPr/>
        </p:nvSpPr>
        <p:spPr>
          <a:xfrm>
            <a:off x="5067300"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5" name="Text 13"/>
          <p:cNvSpPr/>
          <p:nvPr/>
        </p:nvSpPr>
        <p:spPr>
          <a:xfrm>
            <a:off x="8983414"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6" name="Text 14"/>
          <p:cNvSpPr/>
          <p:nvPr/>
        </p:nvSpPr>
        <p:spPr>
          <a:xfrm>
            <a:off x="50673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7" name="Text 15"/>
          <p:cNvSpPr/>
          <p:nvPr/>
        </p:nvSpPr>
        <p:spPr>
          <a:xfrm>
            <a:off x="89834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8" name="Text 16"/>
          <p:cNvSpPr/>
          <p:nvPr/>
        </p:nvSpPr>
        <p:spPr>
          <a:xfrm>
            <a:off x="5419725" y="3670995"/>
            <a:ext cx="3667125" cy="805755"/>
          </a:xfrm>
          <a:prstGeom prst="rect">
            <a:avLst/>
          </a:prstGeom>
          <a:noFill/>
          <a:ln/>
        </p:spPr>
        <p:txBody>
          <a:bodyPr wrap="square" lIns="25400" tIns="25400" rIns="25400" bIns="25400" rtlCol="0" anchor="t">
            <a:normAutofit/>
          </a:bodyPr>
          <a:lstStyle/>
          <a:p>
            <a:pPr marL="0" indent="0" algn="l">
              <a:lnSpc>
                <a:spcPct val="134333"/>
              </a:lnSpc>
              <a:buNone/>
            </a:pPr>
            <a:r>
              <a:rPr lang="en-US" sz="3900" b="1" dirty="0">
                <a:solidFill>
                  <a:srgbClr val="416180"/>
                </a:solidFill>
                <a:latin typeface="Arial" pitchFamily="34" charset="0"/>
                <a:ea typeface="Arial" pitchFamily="34" charset="-122"/>
                <a:cs typeface="Arial" pitchFamily="34" charset="-120"/>
              </a:rPr>
              <a:t>02</a:t>
            </a:r>
            <a:endParaRPr lang="en-US" sz="3900" dirty="0"/>
          </a:p>
        </p:txBody>
      </p:sp>
      <p:sp>
        <p:nvSpPr>
          <p:cNvPr id="19" name="Text 17"/>
          <p:cNvSpPr/>
          <p:nvPr/>
        </p:nvSpPr>
        <p:spPr>
          <a:xfrm>
            <a:off x="5419725" y="4552950"/>
            <a:ext cx="3667125"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dirty="0">
                <a:solidFill>
                  <a:srgbClr val="1D1F20"/>
                </a:solidFill>
                <a:latin typeface="Arial" pitchFamily="34" charset="0"/>
                <a:ea typeface="Arial" pitchFamily="34" charset="-122"/>
                <a:cs typeface="Arial" pitchFamily="34" charset="-120"/>
              </a:rPr>
              <a:t>Tautological check</a:t>
            </a:r>
            <a:endParaRPr lang="en-US" sz="1800" dirty="0"/>
          </a:p>
        </p:txBody>
      </p:sp>
      <p:sp>
        <p:nvSpPr>
          <p:cNvPr id="20" name="Text 18"/>
          <p:cNvSpPr/>
          <p:nvPr/>
        </p:nvSpPr>
        <p:spPr>
          <a:xfrm>
            <a:off x="5419725" y="5021461"/>
            <a:ext cx="3433763" cy="1959700"/>
          </a:xfrm>
          <a:prstGeom prst="rect">
            <a:avLst/>
          </a:prstGeom>
          <a:noFill/>
          <a:ln/>
        </p:spPr>
        <p:txBody>
          <a:bodyPr wrap="square" lIns="25400" tIns="25400" rIns="25400" bIns="25400" rtlCol="0" anchor="t">
            <a:normAutofit fontScale="85000" lnSpcReduction="10000"/>
          </a:bodyPr>
          <a:lstStyle/>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A computed total was compared to itself — true by construction, could never fail. Replaced with direct recomputation.</a:t>
            </a:r>
            <a:endParaRPr lang="en-US" sz="1800" dirty="0"/>
          </a:p>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Fixed by: recompute_derived_hours(), which recalculates the totals from cleaned components instead.</a:t>
            </a:r>
            <a:endParaRPr lang="en-US" sz="1800" dirty="0"/>
          </a:p>
        </p:txBody>
      </p:sp>
      <p:sp>
        <p:nvSpPr>
          <p:cNvPr id="21" name="Shape 19"/>
          <p:cNvSpPr/>
          <p:nvPr/>
        </p:nvSpPr>
        <p:spPr>
          <a:xfrm>
            <a:off x="9277350" y="3375720"/>
            <a:ext cx="3848100" cy="6149280"/>
          </a:xfrm>
          <a:prstGeom prst="rect">
            <a:avLst/>
          </a:prstGeom>
          <a:ln w="9525">
            <a:solidFill>
              <a:srgbClr val="1F1F1F">
                <a:alpha val="16000"/>
              </a:srgbClr>
            </a:solidFill>
            <a:prstDash val="solid"/>
          </a:ln>
        </p:spPr>
        <p:txBody>
          <a:bodyPr/>
          <a:lstStyle/>
          <a:p>
            <a:endParaRPr lang="en-US"/>
          </a:p>
        </p:txBody>
      </p:sp>
      <p:sp>
        <p:nvSpPr>
          <p:cNvPr id="22" name="Text 20"/>
          <p:cNvSpPr/>
          <p:nvPr/>
        </p:nvSpPr>
        <p:spPr>
          <a:xfrm>
            <a:off x="9182100"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3" name="Text 21"/>
          <p:cNvSpPr/>
          <p:nvPr/>
        </p:nvSpPr>
        <p:spPr>
          <a:xfrm>
            <a:off x="13098214"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4" name="Text 22"/>
          <p:cNvSpPr/>
          <p:nvPr/>
        </p:nvSpPr>
        <p:spPr>
          <a:xfrm>
            <a:off x="91821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5" name="Text 23"/>
          <p:cNvSpPr/>
          <p:nvPr/>
        </p:nvSpPr>
        <p:spPr>
          <a:xfrm>
            <a:off x="130982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6" name="Text 24"/>
          <p:cNvSpPr/>
          <p:nvPr/>
        </p:nvSpPr>
        <p:spPr>
          <a:xfrm>
            <a:off x="9534525" y="3670995"/>
            <a:ext cx="3667125" cy="805755"/>
          </a:xfrm>
          <a:prstGeom prst="rect">
            <a:avLst/>
          </a:prstGeom>
          <a:noFill/>
          <a:ln/>
        </p:spPr>
        <p:txBody>
          <a:bodyPr wrap="square" lIns="25400" tIns="25400" rIns="25400" bIns="25400" rtlCol="0" anchor="t">
            <a:normAutofit/>
          </a:bodyPr>
          <a:lstStyle/>
          <a:p>
            <a:pPr marL="0" indent="0" algn="l">
              <a:lnSpc>
                <a:spcPct val="134333"/>
              </a:lnSpc>
              <a:buNone/>
            </a:pPr>
            <a:r>
              <a:rPr lang="en-US" sz="3900" b="1" dirty="0">
                <a:solidFill>
                  <a:srgbClr val="416180"/>
                </a:solidFill>
                <a:latin typeface="Arial" pitchFamily="34" charset="0"/>
                <a:ea typeface="Arial" pitchFamily="34" charset="-122"/>
                <a:cs typeface="Arial" pitchFamily="34" charset="-120"/>
              </a:rPr>
              <a:t>03</a:t>
            </a:r>
            <a:endParaRPr lang="en-US" sz="3900" dirty="0"/>
          </a:p>
        </p:txBody>
      </p:sp>
      <p:sp>
        <p:nvSpPr>
          <p:cNvPr id="27" name="Text 25"/>
          <p:cNvSpPr/>
          <p:nvPr/>
        </p:nvSpPr>
        <p:spPr>
          <a:xfrm>
            <a:off x="9534525" y="4552950"/>
            <a:ext cx="3667125"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dirty="0">
                <a:solidFill>
                  <a:srgbClr val="1D1F20"/>
                </a:solidFill>
                <a:latin typeface="Arial" pitchFamily="34" charset="0"/>
                <a:ea typeface="Arial" pitchFamily="34" charset="-122"/>
                <a:cs typeface="Arial" pitchFamily="34" charset="-120"/>
              </a:rPr>
              <a:t>Sentinel not generalized</a:t>
            </a:r>
            <a:endParaRPr lang="en-US" sz="1800" dirty="0"/>
          </a:p>
        </p:txBody>
      </p:sp>
      <p:sp>
        <p:nvSpPr>
          <p:cNvPr id="28" name="Text 26"/>
          <p:cNvSpPr/>
          <p:nvPr/>
        </p:nvSpPr>
        <p:spPr>
          <a:xfrm>
            <a:off x="9534525" y="5021461"/>
            <a:ext cx="3433763" cy="1616800"/>
          </a:xfrm>
          <a:prstGeom prst="rect">
            <a:avLst/>
          </a:prstGeom>
          <a:noFill/>
          <a:ln/>
        </p:spPr>
        <p:txBody>
          <a:bodyPr wrap="square" lIns="25400" tIns="25400" rIns="25400" bIns="25400" rtlCol="0" anchor="t">
            <a:normAutofit fontScale="77500" lnSpcReduction="20000"/>
          </a:bodyPr>
          <a:lstStyle/>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The "−1" fix proven for age was never checked against hours — it was live in seven more columns.</a:t>
            </a:r>
            <a:endParaRPr lang="en-US" sz="1800" dirty="0"/>
          </a:p>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Fixed by: correct_negative_one_hours_sentinel(), generalized across all affected columns.</a:t>
            </a:r>
            <a:endParaRPr lang="en-US" sz="1800" dirty="0"/>
          </a:p>
        </p:txBody>
      </p:sp>
      <p:sp>
        <p:nvSpPr>
          <p:cNvPr id="29" name="Shape 27"/>
          <p:cNvSpPr/>
          <p:nvPr/>
        </p:nvSpPr>
        <p:spPr>
          <a:xfrm>
            <a:off x="13392150" y="3375720"/>
            <a:ext cx="3848100" cy="6149280"/>
          </a:xfrm>
          <a:prstGeom prst="rect">
            <a:avLst/>
          </a:prstGeom>
          <a:ln w="9525">
            <a:solidFill>
              <a:srgbClr val="1F1F1F">
                <a:alpha val="16000"/>
              </a:srgbClr>
            </a:solidFill>
            <a:prstDash val="solid"/>
          </a:ln>
        </p:spPr>
        <p:txBody>
          <a:bodyPr/>
          <a:lstStyle/>
          <a:p>
            <a:endParaRPr lang="en-US"/>
          </a:p>
        </p:txBody>
      </p:sp>
      <p:sp>
        <p:nvSpPr>
          <p:cNvPr id="30" name="Text 28"/>
          <p:cNvSpPr/>
          <p:nvPr/>
        </p:nvSpPr>
        <p:spPr>
          <a:xfrm>
            <a:off x="13296900"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1" name="Text 29"/>
          <p:cNvSpPr/>
          <p:nvPr/>
        </p:nvSpPr>
        <p:spPr>
          <a:xfrm>
            <a:off x="17213014" y="3280470"/>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2" name="Text 30"/>
          <p:cNvSpPr/>
          <p:nvPr/>
        </p:nvSpPr>
        <p:spPr>
          <a:xfrm>
            <a:off x="132969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3" name="Text 31"/>
          <p:cNvSpPr/>
          <p:nvPr/>
        </p:nvSpPr>
        <p:spPr>
          <a:xfrm>
            <a:off x="172130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34" name="Text 32"/>
          <p:cNvSpPr/>
          <p:nvPr/>
        </p:nvSpPr>
        <p:spPr>
          <a:xfrm>
            <a:off x="13649325" y="3670995"/>
            <a:ext cx="3667125" cy="805755"/>
          </a:xfrm>
          <a:prstGeom prst="rect">
            <a:avLst/>
          </a:prstGeom>
          <a:noFill/>
          <a:ln/>
        </p:spPr>
        <p:txBody>
          <a:bodyPr wrap="square" lIns="25400" tIns="25400" rIns="25400" bIns="25400" rtlCol="0" anchor="t">
            <a:normAutofit/>
          </a:bodyPr>
          <a:lstStyle/>
          <a:p>
            <a:pPr marL="0" indent="0" algn="l">
              <a:lnSpc>
                <a:spcPct val="134333"/>
              </a:lnSpc>
              <a:buNone/>
            </a:pPr>
            <a:r>
              <a:rPr lang="en-US" sz="3900" b="1" dirty="0">
                <a:solidFill>
                  <a:srgbClr val="416180"/>
                </a:solidFill>
                <a:latin typeface="Arial" pitchFamily="34" charset="0"/>
                <a:ea typeface="Arial" pitchFamily="34" charset="-122"/>
                <a:cs typeface="Arial" pitchFamily="34" charset="-120"/>
              </a:rPr>
              <a:t>04</a:t>
            </a:r>
            <a:endParaRPr lang="en-US" sz="3900" dirty="0"/>
          </a:p>
        </p:txBody>
      </p:sp>
      <p:sp>
        <p:nvSpPr>
          <p:cNvPr id="35" name="Text 33"/>
          <p:cNvSpPr/>
          <p:nvPr/>
        </p:nvSpPr>
        <p:spPr>
          <a:xfrm>
            <a:off x="13649325" y="4552950"/>
            <a:ext cx="3667125"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dirty="0">
                <a:solidFill>
                  <a:srgbClr val="1D1F20"/>
                </a:solidFill>
                <a:latin typeface="Arial" pitchFamily="34" charset="0"/>
                <a:ea typeface="Arial" pitchFamily="34" charset="-122"/>
                <a:cs typeface="Arial" pitchFamily="34" charset="-120"/>
              </a:rPr>
              <a:t>Wrong rows inspected</a:t>
            </a:r>
            <a:endParaRPr lang="en-US" sz="1800" dirty="0"/>
          </a:p>
        </p:txBody>
      </p:sp>
      <p:sp>
        <p:nvSpPr>
          <p:cNvPr id="36" name="Text 34"/>
          <p:cNvSpPr/>
          <p:nvPr/>
        </p:nvSpPr>
        <p:spPr>
          <a:xfrm>
            <a:off x="13649325" y="5021461"/>
            <a:ext cx="3433763" cy="1959700"/>
          </a:xfrm>
          <a:prstGeom prst="rect">
            <a:avLst/>
          </a:prstGeom>
          <a:noFill/>
          <a:ln/>
        </p:spPr>
        <p:txBody>
          <a:bodyPr wrap="square" lIns="25400" tIns="25400" rIns="25400" bIns="25400" rtlCol="0" anchor="t">
            <a:normAutofit fontScale="85000" lnSpcReduction="10000"/>
          </a:bodyPr>
          <a:lstStyle/>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A skip-logic check required an explicit "No" and missed blank answers — 23 real rows were never even inspected.</a:t>
            </a:r>
            <a:endParaRPr lang="en-US" sz="1800" dirty="0"/>
          </a:p>
          <a:p>
            <a:pPr marL="0" indent="0" algn="l">
              <a:lnSpc>
                <a:spcPct val="128571"/>
              </a:lnSpc>
              <a:buNone/>
            </a:pPr>
            <a:r>
              <a:rPr lang="en-US" sz="1800" dirty="0">
                <a:solidFill>
                  <a:srgbClr val="1D1F20">
                    <a:alpha val="85000"/>
                  </a:srgbClr>
                </a:solidFill>
                <a:latin typeface="Arial" pitchFamily="34" charset="0"/>
                <a:ea typeface="Arial" pitchFamily="34" charset="-122"/>
                <a:cs typeface="Arial" pitchFamily="34" charset="-120"/>
              </a:rPr>
              <a:t>Fixed by: treating blank as 'no evidence' and adding q2_06 to the check — 0 unexplained violations remain.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2F2F3"/>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3D8528E-8D99-D18D-DD5D-BA50FAD54F9F}"/>
              </a:ext>
            </a:extLst>
          </p:cNvPr>
          <p:cNvPicPr>
            <a:picLocks noChangeAspect="1"/>
          </p:cNvPicPr>
          <p:nvPr/>
        </p:nvPicPr>
        <p:blipFill>
          <a:blip r:embed="rId3"/>
          <a:stretch>
            <a:fillRect/>
          </a:stretch>
        </p:blipFill>
        <p:spPr>
          <a:xfrm>
            <a:off x="2606947" y="1180207"/>
            <a:ext cx="13074105" cy="4076700"/>
          </a:xfrm>
          <a:prstGeom prst="rect">
            <a:avLst/>
          </a:prstGeom>
        </p:spPr>
      </p:pic>
      <p:sp>
        <p:nvSpPr>
          <p:cNvPr id="2" name="Text 0"/>
          <p:cNvSpPr/>
          <p:nvPr/>
        </p:nvSpPr>
        <p:spPr>
          <a:xfrm>
            <a:off x="1047750" y="232470"/>
            <a:ext cx="5349582"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ONE</a:t>
            </a:r>
            <a:endParaRPr lang="en-US" sz="1800" dirty="0"/>
          </a:p>
        </p:txBody>
      </p:sp>
      <p:sp>
        <p:nvSpPr>
          <p:cNvPr id="3" name="Text 1"/>
          <p:cNvSpPr/>
          <p:nvPr/>
        </p:nvSpPr>
        <p:spPr>
          <a:xfrm>
            <a:off x="1047750" y="789385"/>
            <a:ext cx="5349582" cy="699492"/>
          </a:xfrm>
          <a:prstGeom prst="rect">
            <a:avLst/>
          </a:prstGeom>
          <a:noFill/>
          <a:ln/>
        </p:spPr>
        <p:txBody>
          <a:bodyPr wrap="square" lIns="25400" tIns="25400" rIns="25400" bIns="25400" rtlCol="0" anchor="t">
            <a:normAutofit fontScale="77500" lnSpcReduction="2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Standing Up the Pipeline</a:t>
            </a:r>
            <a:endParaRPr lang="en-US" sz="4650" dirty="0"/>
          </a:p>
        </p:txBody>
      </p:sp>
      <p:sp>
        <p:nvSpPr>
          <p:cNvPr id="10" name="Text 8"/>
          <p:cNvSpPr/>
          <p:nvPr/>
        </p:nvSpPr>
        <p:spPr>
          <a:xfrm>
            <a:off x="9353550" y="2491978"/>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1" name="Text 9"/>
          <p:cNvSpPr/>
          <p:nvPr/>
        </p:nvSpPr>
        <p:spPr>
          <a:xfrm>
            <a:off x="17213014" y="2491978"/>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2" name="Text 10"/>
          <p:cNvSpPr/>
          <p:nvPr/>
        </p:nvSpPr>
        <p:spPr>
          <a:xfrm>
            <a:off x="935355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3" name="Text 11"/>
          <p:cNvSpPr/>
          <p:nvPr/>
        </p:nvSpPr>
        <p:spPr>
          <a:xfrm>
            <a:off x="172130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grpSp>
        <p:nvGrpSpPr>
          <p:cNvPr id="22" name="Group 21">
            <a:extLst>
              <a:ext uri="{FF2B5EF4-FFF2-40B4-BE49-F238E27FC236}">
                <a16:creationId xmlns:a16="http://schemas.microsoft.com/office/drawing/2014/main" id="{2CE0C94B-1A67-7CE5-329D-8300A569F315}"/>
              </a:ext>
            </a:extLst>
          </p:cNvPr>
          <p:cNvGrpSpPr/>
          <p:nvPr/>
        </p:nvGrpSpPr>
        <p:grpSpPr>
          <a:xfrm>
            <a:off x="5176836" y="5425380"/>
            <a:ext cx="7934325" cy="4648200"/>
            <a:chOff x="1152525" y="2587228"/>
            <a:chExt cx="7911275" cy="5162550"/>
          </a:xfrm>
        </p:grpSpPr>
        <p:sp>
          <p:nvSpPr>
            <p:cNvPr id="5" name="Text 3"/>
            <p:cNvSpPr/>
            <p:nvPr/>
          </p:nvSpPr>
          <p:spPr>
            <a:xfrm>
              <a:off x="1152525" y="2587228"/>
              <a:ext cx="7911275" cy="495300"/>
            </a:xfrm>
            <a:prstGeom prst="rect">
              <a:avLst/>
            </a:prstGeom>
            <a:noFill/>
            <a:ln/>
          </p:spPr>
          <p:txBody>
            <a:bodyPr wrap="square" lIns="25400" tIns="25400" rIns="25400" bIns="25400" rtlCol="0" anchor="t">
              <a:normAutofit fontScale="92500" lnSpcReduction="10000"/>
            </a:bodyPr>
            <a:lstStyle/>
            <a:p>
              <a:pPr marL="200025" indent="-200025" algn="l">
                <a:lnSpc>
                  <a:spcPct val="141176"/>
                </a:lnSpc>
                <a:buSzPct val="100000"/>
                <a:buChar char="•"/>
                <a:tabLst>
                  <a:tab pos="200025" algn="l"/>
                </a:tabLst>
              </a:pPr>
              <a:r>
                <a:rPr lang="en-US" sz="2250" dirty="0">
                  <a:solidFill>
                    <a:srgbClr val="1D1F20"/>
                  </a:solidFill>
                  <a:latin typeface="Arial" pitchFamily="34" charset="0"/>
                  <a:ea typeface="Arial" pitchFamily="34" charset="-122"/>
                  <a:cs typeface="Arial" pitchFamily="34" charset="-120"/>
                </a:rPr>
                <a:t>Initialised the GitHub repository with regular commits</a:t>
              </a:r>
              <a:endParaRPr lang="en-US" sz="2250" dirty="0"/>
            </a:p>
          </p:txBody>
        </p:sp>
        <p:sp>
          <p:nvSpPr>
            <p:cNvPr id="6" name="Text 4"/>
            <p:cNvSpPr/>
            <p:nvPr/>
          </p:nvSpPr>
          <p:spPr>
            <a:xfrm>
              <a:off x="1152525" y="3234928"/>
              <a:ext cx="7911275" cy="514350"/>
            </a:xfrm>
            <a:prstGeom prst="rect">
              <a:avLst/>
            </a:prstGeom>
            <a:noFill/>
            <a:ln/>
          </p:spPr>
          <p:txBody>
            <a:bodyPr wrap="square" lIns="25400" tIns="25400" rIns="25400" bIns="25400" rtlCol="0" anchor="t">
              <a:normAutofit lnSpcReduction="100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Set up the folder skeleton: </a:t>
              </a:r>
              <a:r>
                <a:rPr lang="en-US" sz="2250" b="1" dirty="0">
                  <a:solidFill>
                    <a:srgbClr val="1D1F20"/>
                  </a:solidFill>
                  <a:latin typeface="Arial" pitchFamily="34" charset="0"/>
                  <a:ea typeface="Arial" pitchFamily="34" charset="-122"/>
                  <a:cs typeface="Arial" pitchFamily="34" charset="-120"/>
                </a:rPr>
                <a:t>Data / Scripts / Outputs</a:t>
              </a:r>
              <a:endParaRPr lang="en-US" sz="2250" dirty="0"/>
            </a:p>
          </p:txBody>
        </p:sp>
        <p:sp>
          <p:nvSpPr>
            <p:cNvPr id="7" name="Text 5"/>
            <p:cNvSpPr/>
            <p:nvPr/>
          </p:nvSpPr>
          <p:spPr>
            <a:xfrm>
              <a:off x="1152525" y="3901678"/>
              <a:ext cx="7911275" cy="514350"/>
            </a:xfrm>
            <a:prstGeom prst="rect">
              <a:avLst/>
            </a:prstGeom>
            <a:noFill/>
            <a:ln/>
          </p:spPr>
          <p:txBody>
            <a:bodyPr wrap="square" lIns="25400" tIns="25400" rIns="25400" bIns="25400" rtlCol="0" anchor="t">
              <a:normAutofit lnSpcReduction="100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Built </a:t>
              </a:r>
              <a:r>
                <a:rPr lang="en-US" sz="2250" b="1" dirty="0">
                  <a:solidFill>
                    <a:srgbClr val="1D1F20"/>
                  </a:solidFill>
                  <a:latin typeface="Arial" pitchFamily="34" charset="0"/>
                  <a:ea typeface="Arial" pitchFamily="34" charset="-122"/>
                  <a:cs typeface="Arial" pitchFamily="34" charset="-120"/>
                </a:rPr>
                <a:t>config.py </a:t>
              </a:r>
              <a:r>
                <a:rPr lang="en-US" sz="2250" dirty="0">
                  <a:solidFill>
                    <a:srgbClr val="1D1F20"/>
                  </a:solidFill>
                  <a:latin typeface="Arial" pitchFamily="34" charset="0"/>
                  <a:ea typeface="Arial" pitchFamily="34" charset="-122"/>
                  <a:cs typeface="Arial" pitchFamily="34" charset="-120"/>
                </a:rPr>
                <a:t>— every path the pipeline uses, in one place</a:t>
              </a:r>
              <a:endParaRPr lang="en-US" sz="2250" dirty="0"/>
            </a:p>
          </p:txBody>
        </p:sp>
        <p:sp>
          <p:nvSpPr>
            <p:cNvPr id="8" name="Text 6"/>
            <p:cNvSpPr/>
            <p:nvPr/>
          </p:nvSpPr>
          <p:spPr>
            <a:xfrm>
              <a:off x="1152525" y="4568428"/>
              <a:ext cx="7911275" cy="514350"/>
            </a:xfrm>
            <a:prstGeom prst="rect">
              <a:avLst/>
            </a:prstGeom>
            <a:noFill/>
            <a:ln/>
          </p:spPr>
          <p:txBody>
            <a:bodyPr wrap="square" lIns="25400" tIns="25400" rIns="25400" bIns="25400" rtlCol="0" anchor="t">
              <a:normAutofit lnSpcReduction="100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Built </a:t>
              </a:r>
              <a:r>
                <a:rPr lang="en-US" sz="2250" b="1" dirty="0">
                  <a:solidFill>
                    <a:srgbClr val="1D1F20"/>
                  </a:solidFill>
                  <a:latin typeface="Arial" pitchFamily="34" charset="0"/>
                  <a:ea typeface="Arial" pitchFamily="34" charset="-122"/>
                  <a:cs typeface="Arial" pitchFamily="34" charset="-120"/>
                </a:rPr>
                <a:t>ingest.py</a:t>
              </a:r>
              <a:r>
                <a:rPr lang="en-US" sz="2250" dirty="0">
                  <a:solidFill>
                    <a:srgbClr val="1D1F20"/>
                  </a:solidFill>
                  <a:latin typeface="Arial" pitchFamily="34" charset="0"/>
                  <a:ea typeface="Arial" pitchFamily="34" charset="-122"/>
                  <a:cs typeface="Arial" pitchFamily="34" charset="-120"/>
                </a:rPr>
                <a:t>, drafted the first README with Claude</a:t>
              </a:r>
              <a:endParaRPr lang="en-US" sz="2250" dirty="0"/>
            </a:p>
          </p:txBody>
        </p:sp>
        <p:sp>
          <p:nvSpPr>
            <p:cNvPr id="16" name="Cloned 16"/>
            <p:cNvSpPr/>
            <p:nvPr/>
          </p:nvSpPr>
          <p:spPr>
            <a:xfrm>
              <a:off x="1152525" y="5235178"/>
              <a:ext cx="7911275" cy="514350"/>
            </a:xfrm>
            <a:prstGeom prst="rect">
              <a:avLst/>
            </a:prstGeom>
            <a:noFill/>
            <a:ln/>
          </p:spPr>
          <p:txBody>
            <a:bodyPr wrap="square" lIns="25400" tIns="25400" rIns="25400" bIns="25400" rtlCol="0" anchor="t">
              <a:normAutofit lnSpcReduction="100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Recovered from a git history-rewrite incident — no data lost</a:t>
              </a:r>
              <a:endParaRPr lang="en-US" sz="2250" dirty="0"/>
            </a:p>
          </p:txBody>
        </p:sp>
        <p:sp>
          <p:nvSpPr>
            <p:cNvPr id="17" name="Cloned 17"/>
            <p:cNvSpPr/>
            <p:nvPr/>
          </p:nvSpPr>
          <p:spPr>
            <a:xfrm>
              <a:off x="1152525" y="5901928"/>
              <a:ext cx="7911275" cy="514350"/>
            </a:xfrm>
            <a:prstGeom prst="rect">
              <a:avLst/>
            </a:prstGeom>
            <a:noFill/>
            <a:ln/>
          </p:spPr>
          <p:txBody>
            <a:bodyPr wrap="square" lIns="25400" tIns="25400" rIns="25400" bIns="25400" rtlCol="0" anchor="t">
              <a:normAutofit lnSpcReduction="100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Verified: dtype coercion introduced zero new NaNs</a:t>
              </a:r>
              <a:endParaRPr lang="en-US" sz="2250" dirty="0"/>
            </a:p>
          </p:txBody>
        </p:sp>
        <p:sp>
          <p:nvSpPr>
            <p:cNvPr id="18" name="Cloned 18"/>
            <p:cNvSpPr/>
            <p:nvPr/>
          </p:nvSpPr>
          <p:spPr>
            <a:xfrm>
              <a:off x="1152525" y="6568678"/>
              <a:ext cx="7911275" cy="514350"/>
            </a:xfrm>
            <a:prstGeom prst="rect">
              <a:avLst/>
            </a:prstGeom>
            <a:noFill/>
            <a:ln/>
          </p:spPr>
          <p:txBody>
            <a:bodyPr wrap="square" lIns="25400" tIns="25400" rIns="25400" bIns="25400" rtlCol="0" anchor="t">
              <a:normAutofit lnSpcReduction="100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Reset to a bare skeleton mid-week, then rebuilt it cleaner</a:t>
              </a:r>
              <a:endParaRPr lang="en-US" sz="2250" dirty="0"/>
            </a:p>
          </p:txBody>
        </p:sp>
        <p:sp>
          <p:nvSpPr>
            <p:cNvPr id="19" name="Cloned 19"/>
            <p:cNvSpPr/>
            <p:nvPr/>
          </p:nvSpPr>
          <p:spPr>
            <a:xfrm>
              <a:off x="1152525" y="7235428"/>
              <a:ext cx="7911275" cy="514350"/>
            </a:xfrm>
            <a:prstGeom prst="rect">
              <a:avLst/>
            </a:prstGeom>
            <a:noFill/>
            <a:ln/>
          </p:spPr>
          <p:txBody>
            <a:bodyPr wrap="square" lIns="25400" tIns="25400" rIns="25400" bIns="25400" rtlCol="0" anchor="t">
              <a:normAutofit fontScale="92500"/>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Fixed markdownlint warnings in the README before merging</a:t>
              </a:r>
              <a:endParaRPr lang="en-US" sz="225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ONE</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First Diagnostics</a:t>
            </a:r>
            <a:endParaRPr lang="en-US" sz="4650" dirty="0"/>
          </a:p>
        </p:txBody>
      </p:sp>
      <p:sp>
        <p:nvSpPr>
          <p:cNvPr id="4" name="Text 2"/>
          <p:cNvSpPr/>
          <p:nvPr/>
        </p:nvSpPr>
        <p:spPr>
          <a:xfrm>
            <a:off x="1047750" y="2577703"/>
            <a:ext cx="5657850" cy="628650"/>
          </a:xfrm>
          <a:prstGeom prst="rect">
            <a:avLst/>
          </a:prstGeom>
          <a:noFill/>
          <a:ln/>
        </p:spPr>
        <p:txBody>
          <a:bodyPr wrap="square" lIns="25400" tIns="25400" rIns="25400" bIns="25400" rtlCol="0" anchor="t">
            <a:normAutofit/>
          </a:bodyPr>
          <a:lstStyle/>
          <a:p>
            <a:pPr marL="0" indent="0" algn="l">
              <a:lnSpc>
                <a:spcPct val="137778"/>
              </a:lnSpc>
              <a:buNone/>
            </a:pPr>
            <a:r>
              <a:rPr lang="en-US" sz="3000" b="1" dirty="0">
                <a:solidFill>
                  <a:srgbClr val="416180"/>
                </a:solidFill>
                <a:latin typeface="Arial" pitchFamily="34" charset="0"/>
                <a:ea typeface="Arial" pitchFamily="34" charset="-122"/>
                <a:cs typeface="Arial" pitchFamily="34" charset="-120"/>
              </a:rPr>
              <a:t>Missingness</a:t>
            </a:r>
            <a:endParaRPr lang="en-US" sz="3000" dirty="0"/>
          </a:p>
        </p:txBody>
      </p:sp>
      <p:sp>
        <p:nvSpPr>
          <p:cNvPr id="5" name="Text 3"/>
          <p:cNvSpPr/>
          <p:nvPr/>
        </p:nvSpPr>
        <p:spPr>
          <a:xfrm>
            <a:off x="1047750" y="3301603"/>
            <a:ext cx="5297805" cy="1688250"/>
          </a:xfrm>
          <a:prstGeom prst="rect">
            <a:avLst/>
          </a:prstGeom>
          <a:noFill/>
          <a:ln/>
        </p:spPr>
        <p:txBody>
          <a:bodyPr wrap="square" lIns="25400" tIns="25400" rIns="25400" bIns="25400" rtlCol="0" anchor="t">
            <a:normAutofit fontScale="92500" lnSpcReduction="20000"/>
          </a:bodyPr>
          <a:lstStyle/>
          <a:p>
            <a:pPr marL="0" indent="0" algn="l">
              <a:lnSpc>
                <a:spcPct val="131250"/>
              </a:lnSpc>
              <a:buNone/>
            </a:pPr>
            <a:r>
              <a:rPr lang="en-US" sz="2100" dirty="0">
                <a:solidFill>
                  <a:srgbClr val="1D1F20"/>
                </a:solidFill>
                <a:latin typeface="Arial" pitchFamily="34" charset="0"/>
                <a:ea typeface="Arial" pitchFamily="34" charset="-122"/>
                <a:cs typeface="Arial" pitchFamily="34" charset="-120"/>
              </a:rPr>
              <a:t>Percent missing per column across both datasets, worst first — the starting map of where attention is needed.</a:t>
            </a:r>
            <a:endParaRPr lang="en-US" sz="2100" dirty="0"/>
          </a:p>
          <a:p>
            <a:pPr marL="0" indent="0" algn="l">
              <a:lnSpc>
                <a:spcPct val="131250"/>
              </a:lnSpc>
              <a:buNone/>
            </a:pPr>
            <a:r>
              <a:rPr lang="en-US" sz="2100" dirty="0">
                <a:solidFill>
                  <a:srgbClr val="1D1F20"/>
                </a:solidFill>
                <a:latin typeface="Arial" pitchFamily="34" charset="0"/>
                <a:ea typeface="Arial" pitchFamily="34" charset="-122"/>
                <a:cs typeface="Arial" pitchFamily="34" charset="-120"/>
              </a:rPr>
              <a:t>q1_15/16 turned out structurally intended, not a gap.</a:t>
            </a:r>
            <a:endParaRPr lang="en-US" sz="2100" dirty="0"/>
          </a:p>
        </p:txBody>
      </p:sp>
      <p:sp>
        <p:nvSpPr>
          <p:cNvPr id="6" name="Text 4"/>
          <p:cNvSpPr/>
          <p:nvPr/>
        </p:nvSpPr>
        <p:spPr>
          <a:xfrm>
            <a:off x="6572250" y="2577703"/>
            <a:ext cx="5657850" cy="628650"/>
          </a:xfrm>
          <a:prstGeom prst="rect">
            <a:avLst/>
          </a:prstGeom>
          <a:noFill/>
          <a:ln/>
        </p:spPr>
        <p:txBody>
          <a:bodyPr wrap="square" lIns="25400" tIns="25400" rIns="25400" bIns="25400" rtlCol="0" anchor="t">
            <a:normAutofit/>
          </a:bodyPr>
          <a:lstStyle/>
          <a:p>
            <a:pPr marL="0" indent="0" algn="l">
              <a:lnSpc>
                <a:spcPct val="137778"/>
              </a:lnSpc>
              <a:buNone/>
            </a:pPr>
            <a:r>
              <a:rPr lang="en-US" sz="3000" b="1" dirty="0">
                <a:solidFill>
                  <a:srgbClr val="416180"/>
                </a:solidFill>
                <a:latin typeface="Arial" pitchFamily="34" charset="0"/>
                <a:ea typeface="Arial" pitchFamily="34" charset="-122"/>
                <a:cs typeface="Arial" pitchFamily="34" charset="-120"/>
              </a:rPr>
              <a:t>Duplicates &amp; range</a:t>
            </a:r>
            <a:endParaRPr lang="en-US" sz="3000" dirty="0"/>
          </a:p>
        </p:txBody>
      </p:sp>
      <p:sp>
        <p:nvSpPr>
          <p:cNvPr id="7" name="Text 5"/>
          <p:cNvSpPr/>
          <p:nvPr/>
        </p:nvSpPr>
        <p:spPr>
          <a:xfrm>
            <a:off x="6572250" y="3301603"/>
            <a:ext cx="5297805" cy="1688250"/>
          </a:xfrm>
          <a:prstGeom prst="rect">
            <a:avLst/>
          </a:prstGeom>
          <a:noFill/>
          <a:ln/>
        </p:spPr>
        <p:txBody>
          <a:bodyPr wrap="square" lIns="25400" tIns="25400" rIns="25400" bIns="25400" rtlCol="0" anchor="t">
            <a:normAutofit fontScale="92500" lnSpcReduction="20000"/>
          </a:bodyPr>
          <a:lstStyle/>
          <a:p>
            <a:pPr marL="0" indent="0" algn="l">
              <a:lnSpc>
                <a:spcPct val="131250"/>
              </a:lnSpc>
              <a:buNone/>
            </a:pPr>
            <a:r>
              <a:rPr lang="en-US" sz="2100" dirty="0">
                <a:solidFill>
                  <a:srgbClr val="1D1F20"/>
                </a:solidFill>
                <a:latin typeface="Arial" pitchFamily="34" charset="0"/>
                <a:ea typeface="Arial" pitchFamily="34" charset="-122"/>
                <a:cs typeface="Arial" pitchFamily="34" charset="-120"/>
              </a:rPr>
              <a:t>Checked the natural person key for duplicates, and flagged age, weight and hours values outside a plausible range.</a:t>
            </a:r>
            <a:endParaRPr lang="en-US" sz="2100" dirty="0"/>
          </a:p>
          <a:p>
            <a:pPr marL="0" indent="0" algn="l">
              <a:lnSpc>
                <a:spcPct val="131250"/>
              </a:lnSpc>
              <a:buNone/>
            </a:pPr>
            <a:r>
              <a:rPr lang="en-US" sz="2100" dirty="0">
                <a:solidFill>
                  <a:srgbClr val="1D1F20"/>
                </a:solidFill>
                <a:latin typeface="Arial" pitchFamily="34" charset="0"/>
                <a:ea typeface="Arial" pitchFamily="34" charset="-122"/>
                <a:cs typeface="Arial" pitchFamily="34" charset="-120"/>
              </a:rPr>
              <a:t>Zero duplicates found; every flag traces to the −1 sentinel.</a:t>
            </a:r>
            <a:endParaRPr lang="en-US" sz="2100" dirty="0"/>
          </a:p>
        </p:txBody>
      </p:sp>
      <p:sp>
        <p:nvSpPr>
          <p:cNvPr id="8" name="Text 6"/>
          <p:cNvSpPr/>
          <p:nvPr/>
        </p:nvSpPr>
        <p:spPr>
          <a:xfrm>
            <a:off x="12096750" y="2577703"/>
            <a:ext cx="5657850" cy="628650"/>
          </a:xfrm>
          <a:prstGeom prst="rect">
            <a:avLst/>
          </a:prstGeom>
          <a:noFill/>
          <a:ln/>
        </p:spPr>
        <p:txBody>
          <a:bodyPr wrap="square" lIns="25400" tIns="25400" rIns="25400" bIns="25400" rtlCol="0" anchor="t">
            <a:normAutofit/>
          </a:bodyPr>
          <a:lstStyle/>
          <a:p>
            <a:pPr marL="0" indent="0" algn="l">
              <a:lnSpc>
                <a:spcPct val="137778"/>
              </a:lnSpc>
              <a:buNone/>
            </a:pPr>
            <a:r>
              <a:rPr lang="en-US" sz="3000" b="1" dirty="0">
                <a:solidFill>
                  <a:srgbClr val="416180"/>
                </a:solidFill>
                <a:latin typeface="Arial" pitchFamily="34" charset="0"/>
                <a:ea typeface="Arial" pitchFamily="34" charset="-122"/>
                <a:cs typeface="Arial" pitchFamily="34" charset="-120"/>
              </a:rPr>
              <a:t>Distributions</a:t>
            </a:r>
            <a:endParaRPr lang="en-US" sz="3000" dirty="0"/>
          </a:p>
        </p:txBody>
      </p:sp>
      <p:sp>
        <p:nvSpPr>
          <p:cNvPr id="9" name="Text 7"/>
          <p:cNvSpPr/>
          <p:nvPr/>
        </p:nvSpPr>
        <p:spPr>
          <a:xfrm>
            <a:off x="12096750" y="3301603"/>
            <a:ext cx="5297805" cy="1688250"/>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1D1F20"/>
                </a:solidFill>
                <a:latin typeface="Arial" pitchFamily="34" charset="0"/>
                <a:ea typeface="Arial" pitchFamily="34" charset="-122"/>
                <a:cs typeface="Arial" pitchFamily="34" charset="-120"/>
              </a:rPr>
              <a:t>A first look at sex, age group and employment status, before any value was touched.</a:t>
            </a:r>
            <a:endParaRPr lang="en-US" sz="2100" dirty="0"/>
          </a:p>
          <a:p>
            <a:pPr marL="0" indent="0" algn="l">
              <a:lnSpc>
                <a:spcPct val="131250"/>
              </a:lnSpc>
              <a:buNone/>
            </a:pPr>
            <a:r>
              <a:rPr lang="en-US" sz="2100" dirty="0">
                <a:solidFill>
                  <a:srgbClr val="1D1F20"/>
                </a:solidFill>
                <a:latin typeface="Arial" pitchFamily="34" charset="0"/>
                <a:ea typeface="Arial" pitchFamily="34" charset="-122"/>
                <a:cs typeface="Arial" pitchFamily="34" charset="-120"/>
              </a:rPr>
              <a:t>Sex splits 51.1% / 48.9%; Employee status leads at 66.2%.</a:t>
            </a:r>
            <a:endParaRPr lang="en-US" sz="2100" dirty="0"/>
          </a:p>
        </p:txBody>
      </p:sp>
      <p:sp>
        <p:nvSpPr>
          <p:cNvPr id="10" name="Shape 8"/>
          <p:cNvSpPr/>
          <p:nvPr/>
        </p:nvSpPr>
        <p:spPr>
          <a:xfrm>
            <a:off x="1047750" y="8350000"/>
            <a:ext cx="16192500" cy="9525"/>
          </a:xfrm>
          <a:prstGeom prst="rect">
            <a:avLst/>
          </a:prstGeom>
          <a:solidFill>
            <a:srgbClr val="1F1F1F">
              <a:alpha val="16000"/>
            </a:srgbClr>
          </a:solidFill>
          <a:ln/>
        </p:spPr>
        <p:txBody>
          <a:bodyPr/>
          <a:lstStyle/>
          <a:p>
            <a:endParaRPr lang="en-US"/>
          </a:p>
        </p:txBody>
      </p:sp>
      <p:sp>
        <p:nvSpPr>
          <p:cNvPr id="11" name="Text 9"/>
          <p:cNvSpPr/>
          <p:nvPr/>
        </p:nvSpPr>
        <p:spPr>
          <a:xfrm>
            <a:off x="1047750" y="8664325"/>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1D1F20">
                    <a:alpha val="75000"/>
                  </a:srgbClr>
                </a:solidFill>
                <a:latin typeface="Arial" pitchFamily="34" charset="0"/>
                <a:ea typeface="Arial" pitchFamily="34" charset="-122"/>
                <a:cs typeface="Arial" pitchFamily="34" charset="-120"/>
              </a:rPr>
              <a:t>Ground rule for the whole project: diagnostics only report. They never change a single value.</a:t>
            </a:r>
            <a:endParaRPr lang="en-US" sz="1800" dirty="0"/>
          </a:p>
        </p:txBody>
      </p:sp>
      <p:sp>
        <p:nvSpPr>
          <p:cNvPr id="12" name="Cloned 12"/>
          <p:cNvSpPr/>
          <p:nvPr/>
        </p:nvSpPr>
        <p:spPr>
          <a:xfrm>
            <a:off x="1047750" y="5450000"/>
            <a:ext cx="1619250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READ ONLY, VERIFIED FIRST</a:t>
            </a:r>
            <a:endParaRPr lang="en-US" sz="1800" dirty="0"/>
          </a:p>
        </p:txBody>
      </p:sp>
      <p:sp>
        <p:nvSpPr>
          <p:cNvPr id="13" name="Cloned 13"/>
          <p:cNvSpPr/>
          <p:nvPr/>
        </p:nvSpPr>
        <p:spPr>
          <a:xfrm>
            <a:off x="1047750" y="6092311"/>
            <a:ext cx="16192500" cy="514350"/>
          </a:xfrm>
          <a:prstGeom prst="rect">
            <a:avLst/>
          </a:prstGeom>
          <a:noFill/>
          <a:ln/>
        </p:spPr>
        <p:txBody>
          <a:bodyPr wrap="square" lIns="25400" tIns="25400" rIns="25400" bIns="25400" rtlCol="0" anchor="t">
            <a:normAutofit/>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No date-parsing check run — neither public dataset carries a real date field.</a:t>
            </a:r>
            <a:endParaRPr lang="en-US" sz="2250" dirty="0"/>
          </a:p>
        </p:txBody>
      </p:sp>
      <p:sp>
        <p:nvSpPr>
          <p:cNvPr id="14" name="Cloned 14"/>
          <p:cNvSpPr/>
          <p:nvPr/>
        </p:nvSpPr>
        <p:spPr>
          <a:xfrm>
            <a:off x="1047750" y="6778111"/>
            <a:ext cx="16192500" cy="514350"/>
          </a:xfrm>
          <a:prstGeom prst="rect">
            <a:avLst/>
          </a:prstGeom>
          <a:noFill/>
          <a:ln/>
        </p:spPr>
        <p:txBody>
          <a:bodyPr wrap="square" lIns="25400" tIns="25400" rIns="25400" bIns="25400" rtlCol="0" anchor="t">
            <a:normAutofit/>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Corrected an early assumption: category columns hold resolved label text already, not numeric codes.</a:t>
            </a:r>
            <a:endParaRPr lang="en-US" sz="2250" dirty="0"/>
          </a:p>
        </p:txBody>
      </p:sp>
      <p:sp>
        <p:nvSpPr>
          <p:cNvPr id="15" name="Cloned 15"/>
          <p:cNvSpPr/>
          <p:nvPr/>
        </p:nvSpPr>
        <p:spPr>
          <a:xfrm>
            <a:off x="1047750" y="7463911"/>
            <a:ext cx="16192500" cy="514350"/>
          </a:xfrm>
          <a:prstGeom prst="rect">
            <a:avLst/>
          </a:prstGeom>
          <a:noFill/>
          <a:ln/>
        </p:spPr>
        <p:txBody>
          <a:bodyPr wrap="square" lIns="25400" tIns="25400" rIns="25400" bIns="25400" rtlCol="0" anchor="t">
            <a:normAutofit/>
          </a:bodyPr>
          <a:lstStyle/>
          <a:p>
            <a:pPr marL="200025" indent="-200025" algn="l">
              <a:lnSpc>
                <a:spcPct val="141176"/>
              </a:lnSpc>
              <a:buSzPct val="100000"/>
              <a:buChar char="•"/>
            </a:pPr>
            <a:r>
              <a:rPr lang="en-US" sz="2250" dirty="0">
                <a:solidFill>
                  <a:srgbClr val="1D1F20"/>
                </a:solidFill>
                <a:latin typeface="Arial" pitchFamily="34" charset="0"/>
                <a:ea typeface="Arial" pitchFamily="34" charset="-122"/>
                <a:cs typeface="Arial" pitchFamily="34" charset="-120"/>
              </a:rPr>
              <a:t>Every diagnostic here is regenerated by rerunning ingest → diagnose — never hand-edited.</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ONE</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Six Charts, One Dataset</a:t>
            </a:r>
            <a:endParaRPr lang="en-US" sz="4650" dirty="0"/>
          </a:p>
        </p:txBody>
      </p:sp>
      <p:sp>
        <p:nvSpPr>
          <p:cNvPr id="4" name="Shape 2"/>
          <p:cNvSpPr/>
          <p:nvPr/>
        </p:nvSpPr>
        <p:spPr>
          <a:xfrm>
            <a:off x="1047750" y="2501503"/>
            <a:ext cx="5168801" cy="6364486"/>
          </a:xfrm>
          <a:prstGeom prst="rect">
            <a:avLst/>
          </a:prstGeom>
          <a:ln w="9525">
            <a:solidFill>
              <a:srgbClr val="1F1F1F">
                <a:alpha val="16000"/>
              </a:srgbClr>
            </a:solidFill>
            <a:prstDash val="solid"/>
          </a:ln>
        </p:spPr>
        <p:txBody>
          <a:bodyPr/>
          <a:lstStyle/>
          <a:p>
            <a:endParaRPr lang="en-US"/>
          </a:p>
        </p:txBody>
      </p:sp>
      <p:sp>
        <p:nvSpPr>
          <p:cNvPr id="5" name="Text 3"/>
          <p:cNvSpPr/>
          <p:nvPr/>
        </p:nvSpPr>
        <p:spPr>
          <a:xfrm>
            <a:off x="952500"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6" name="Text 4"/>
          <p:cNvSpPr/>
          <p:nvPr/>
        </p:nvSpPr>
        <p:spPr>
          <a:xfrm>
            <a:off x="6189315"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7" name="Text 5"/>
          <p:cNvSpPr/>
          <p:nvPr/>
        </p:nvSpPr>
        <p:spPr>
          <a:xfrm>
            <a:off x="952500" y="863649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6189315" y="863649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pic>
        <p:nvPicPr>
          <p:cNvPr id="9" name="Image 0" descr="preencoded.png"/>
          <p:cNvPicPr>
            <a:picLocks noChangeAspect="1"/>
          </p:cNvPicPr>
          <p:nvPr/>
        </p:nvPicPr>
        <p:blipFill>
          <a:blip r:embed="rId3"/>
          <a:stretch>
            <a:fillRect/>
          </a:stretch>
        </p:blipFill>
        <p:spPr>
          <a:xfrm>
            <a:off x="1247775" y="3868192"/>
            <a:ext cx="4768751" cy="3631109"/>
          </a:xfrm>
          <a:prstGeom prst="rect">
            <a:avLst/>
          </a:prstGeom>
        </p:spPr>
      </p:pic>
      <p:sp>
        <p:nvSpPr>
          <p:cNvPr id="10" name="Shape 7"/>
          <p:cNvSpPr/>
          <p:nvPr/>
        </p:nvSpPr>
        <p:spPr>
          <a:xfrm>
            <a:off x="6559451" y="2501503"/>
            <a:ext cx="5168950" cy="6364486"/>
          </a:xfrm>
          <a:prstGeom prst="rect">
            <a:avLst/>
          </a:prstGeom>
          <a:ln w="9525">
            <a:solidFill>
              <a:srgbClr val="1F1F1F">
                <a:alpha val="16000"/>
              </a:srgbClr>
            </a:solidFill>
            <a:prstDash val="solid"/>
          </a:ln>
        </p:spPr>
        <p:txBody>
          <a:bodyPr/>
          <a:lstStyle/>
          <a:p>
            <a:endParaRPr lang="en-US"/>
          </a:p>
        </p:txBody>
      </p:sp>
      <p:sp>
        <p:nvSpPr>
          <p:cNvPr id="11" name="Text 8"/>
          <p:cNvSpPr/>
          <p:nvPr/>
        </p:nvSpPr>
        <p:spPr>
          <a:xfrm>
            <a:off x="6464201"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2" name="Text 9"/>
          <p:cNvSpPr/>
          <p:nvPr/>
        </p:nvSpPr>
        <p:spPr>
          <a:xfrm>
            <a:off x="11701165"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3" name="Text 10"/>
          <p:cNvSpPr/>
          <p:nvPr/>
        </p:nvSpPr>
        <p:spPr>
          <a:xfrm>
            <a:off x="6464201" y="863649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4" name="Text 11"/>
          <p:cNvSpPr/>
          <p:nvPr/>
        </p:nvSpPr>
        <p:spPr>
          <a:xfrm>
            <a:off x="11701165" y="863649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pic>
        <p:nvPicPr>
          <p:cNvPr id="15" name="Image 1" descr="preencoded.png"/>
          <p:cNvPicPr>
            <a:picLocks noChangeAspect="1"/>
          </p:cNvPicPr>
          <p:nvPr/>
        </p:nvPicPr>
        <p:blipFill>
          <a:blip r:embed="rId4"/>
          <a:stretch>
            <a:fillRect/>
          </a:stretch>
        </p:blipFill>
        <p:spPr>
          <a:xfrm>
            <a:off x="6759476" y="3868043"/>
            <a:ext cx="4768900" cy="3631257"/>
          </a:xfrm>
          <a:prstGeom prst="rect">
            <a:avLst/>
          </a:prstGeom>
        </p:spPr>
      </p:pic>
      <p:sp>
        <p:nvSpPr>
          <p:cNvPr id="16" name="Shape 12"/>
          <p:cNvSpPr/>
          <p:nvPr/>
        </p:nvSpPr>
        <p:spPr>
          <a:xfrm>
            <a:off x="12071300" y="2501503"/>
            <a:ext cx="5168950" cy="6364486"/>
          </a:xfrm>
          <a:prstGeom prst="rect">
            <a:avLst/>
          </a:prstGeom>
          <a:ln w="9525">
            <a:solidFill>
              <a:srgbClr val="1F1F1F">
                <a:alpha val="16000"/>
              </a:srgbClr>
            </a:solidFill>
            <a:prstDash val="solid"/>
          </a:ln>
        </p:spPr>
        <p:txBody>
          <a:bodyPr/>
          <a:lstStyle/>
          <a:p>
            <a:endParaRPr lang="en-US"/>
          </a:p>
        </p:txBody>
      </p:sp>
      <p:sp>
        <p:nvSpPr>
          <p:cNvPr id="17" name="Text 13"/>
          <p:cNvSpPr/>
          <p:nvPr/>
        </p:nvSpPr>
        <p:spPr>
          <a:xfrm>
            <a:off x="11976050"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8" name="Text 14"/>
          <p:cNvSpPr/>
          <p:nvPr/>
        </p:nvSpPr>
        <p:spPr>
          <a:xfrm>
            <a:off x="17213014"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9" name="Text 15"/>
          <p:cNvSpPr/>
          <p:nvPr/>
        </p:nvSpPr>
        <p:spPr>
          <a:xfrm>
            <a:off x="11976050" y="863649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0" name="Text 16"/>
          <p:cNvSpPr/>
          <p:nvPr/>
        </p:nvSpPr>
        <p:spPr>
          <a:xfrm>
            <a:off x="17213014" y="8636496"/>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pic>
        <p:nvPicPr>
          <p:cNvPr id="21" name="Image 2" descr="preencoded.png"/>
          <p:cNvPicPr>
            <a:picLocks noChangeAspect="1"/>
          </p:cNvPicPr>
          <p:nvPr/>
        </p:nvPicPr>
        <p:blipFill>
          <a:blip r:embed="rId5"/>
          <a:stretch>
            <a:fillRect/>
          </a:stretch>
        </p:blipFill>
        <p:spPr>
          <a:xfrm>
            <a:off x="12271325" y="4201567"/>
            <a:ext cx="4768900" cy="2964210"/>
          </a:xfrm>
          <a:prstGeom prst="rect">
            <a:avLst/>
          </a:prstGeom>
        </p:spPr>
      </p:pic>
      <p:sp>
        <p:nvSpPr>
          <p:cNvPr id="22" name="Text 17"/>
          <p:cNvSpPr/>
          <p:nvPr/>
        </p:nvSpPr>
        <p:spPr>
          <a:xfrm>
            <a:off x="1047750" y="9170789"/>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dirty="0">
                <a:solidFill>
                  <a:srgbClr val="1D1F20">
                    <a:alpha val="75000"/>
                  </a:srgbClr>
                </a:solidFill>
                <a:latin typeface="Arial" pitchFamily="34" charset="0"/>
                <a:ea typeface="Arial" pitchFamily="34" charset="-122"/>
                <a:cs typeface="Arial" pitchFamily="34" charset="-120"/>
              </a:rPr>
              <a:t>visualize.py renders six distributions straight from the diagnostics numbers — no separate recalculation, so the charts and the report can never disagree.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2F3"/>
        </a:solidFill>
        <a:effectLst/>
      </p:bgPr>
    </p:bg>
    <p:spTree>
      <p:nvGrpSpPr>
        <p:cNvPr id="1" name="">
          <a:extLst>
            <a:ext uri="{FF2B5EF4-FFF2-40B4-BE49-F238E27FC236}">
              <a16:creationId xmlns:a16="http://schemas.microsoft.com/office/drawing/2014/main" id="{AA0376BC-B8D6-A448-E5DF-C10E8693F6F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9EC169-3F9C-09F5-919E-4E2DA02B4EAC}"/>
              </a:ext>
            </a:extLst>
          </p:cNvPr>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WEEK TWO</a:t>
            </a:r>
            <a:endParaRPr lang="en-US" sz="1800" dirty="0"/>
          </a:p>
        </p:txBody>
      </p:sp>
      <p:sp>
        <p:nvSpPr>
          <p:cNvPr id="3" name="Text 1">
            <a:extLst>
              <a:ext uri="{FF2B5EF4-FFF2-40B4-BE49-F238E27FC236}">
                <a16:creationId xmlns:a16="http://schemas.microsoft.com/office/drawing/2014/main" id="{D6895CE2-6D72-8D19-5CB1-0545E18D45D4}"/>
              </a:ext>
            </a:extLst>
          </p:cNvPr>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The Problem Inventory</a:t>
            </a:r>
            <a:endParaRPr lang="en-US" sz="4650" dirty="0"/>
          </a:p>
        </p:txBody>
      </p:sp>
      <p:sp>
        <p:nvSpPr>
          <p:cNvPr id="4" name="Text 2">
            <a:extLst>
              <a:ext uri="{FF2B5EF4-FFF2-40B4-BE49-F238E27FC236}">
                <a16:creationId xmlns:a16="http://schemas.microsoft.com/office/drawing/2014/main" id="{0523E9C1-9E4C-720A-D034-4D7AC949231B}"/>
              </a:ext>
            </a:extLst>
          </p:cNvPr>
          <p:cNvSpPr/>
          <p:nvPr/>
        </p:nvSpPr>
        <p:spPr>
          <a:xfrm>
            <a:off x="1047750" y="2234803"/>
            <a:ext cx="15697200" cy="864691"/>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1D1F20">
                    <a:alpha val="80000"/>
                  </a:srgbClr>
                </a:solidFill>
                <a:latin typeface="Arial" pitchFamily="34" charset="0"/>
                <a:ea typeface="Arial" pitchFamily="34" charset="-122"/>
                <a:cs typeface="Arial" pitchFamily="34" charset="-120"/>
              </a:rPr>
              <a:t>Before fixing anything, a written and counted account of what's actually wrong — six variables, cross-referenced against what the cleaning script does about each.</a:t>
            </a:r>
            <a:endParaRPr lang="en-US" sz="2100" dirty="0"/>
          </a:p>
        </p:txBody>
      </p:sp>
      <p:sp>
        <p:nvSpPr>
          <p:cNvPr id="5" name="Shape 3">
            <a:extLst>
              <a:ext uri="{FF2B5EF4-FFF2-40B4-BE49-F238E27FC236}">
                <a16:creationId xmlns:a16="http://schemas.microsoft.com/office/drawing/2014/main" id="{49242C9F-EFF1-1F7D-443A-4B34FEBE305B}"/>
              </a:ext>
            </a:extLst>
          </p:cNvPr>
          <p:cNvSpPr/>
          <p:nvPr/>
        </p:nvSpPr>
        <p:spPr>
          <a:xfrm>
            <a:off x="1047750" y="4058543"/>
            <a:ext cx="2694384" cy="9525"/>
          </a:xfrm>
          <a:prstGeom prst="rect">
            <a:avLst/>
          </a:prstGeom>
          <a:solidFill>
            <a:srgbClr val="1F1F1F">
              <a:alpha val="16000"/>
            </a:srgbClr>
          </a:solidFill>
          <a:ln/>
        </p:spPr>
        <p:txBody>
          <a:bodyPr/>
          <a:lstStyle/>
          <a:p>
            <a:endParaRPr lang="en-US"/>
          </a:p>
        </p:txBody>
      </p:sp>
      <p:sp>
        <p:nvSpPr>
          <p:cNvPr id="6" name="Text 4">
            <a:extLst>
              <a:ext uri="{FF2B5EF4-FFF2-40B4-BE49-F238E27FC236}">
                <a16:creationId xmlns:a16="http://schemas.microsoft.com/office/drawing/2014/main" id="{44657883-7249-5A6F-8363-73E96D9CD126}"/>
              </a:ext>
            </a:extLst>
          </p:cNvPr>
          <p:cNvSpPr/>
          <p:nvPr/>
        </p:nvSpPr>
        <p:spPr>
          <a:xfrm>
            <a:off x="1200150" y="3575745"/>
            <a:ext cx="2470416"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dirty="0">
                <a:solidFill>
                  <a:srgbClr val="416180"/>
                </a:solidFill>
                <a:latin typeface="Arial" pitchFamily="34" charset="0"/>
                <a:ea typeface="Arial" pitchFamily="34" charset="-122"/>
                <a:cs typeface="Arial" pitchFamily="34" charset="-120"/>
              </a:rPr>
              <a:t>VARIABLE</a:t>
            </a:r>
            <a:endParaRPr lang="en-US" sz="1800" dirty="0"/>
          </a:p>
        </p:txBody>
      </p:sp>
      <p:sp>
        <p:nvSpPr>
          <p:cNvPr id="7" name="Shape 5">
            <a:extLst>
              <a:ext uri="{FF2B5EF4-FFF2-40B4-BE49-F238E27FC236}">
                <a16:creationId xmlns:a16="http://schemas.microsoft.com/office/drawing/2014/main" id="{4C1807E7-0440-136F-3D85-3C28BC70833E}"/>
              </a:ext>
            </a:extLst>
          </p:cNvPr>
          <p:cNvSpPr/>
          <p:nvPr/>
        </p:nvSpPr>
        <p:spPr>
          <a:xfrm>
            <a:off x="3742134" y="4058543"/>
            <a:ext cx="11338620" cy="9525"/>
          </a:xfrm>
          <a:prstGeom prst="rect">
            <a:avLst/>
          </a:prstGeom>
          <a:solidFill>
            <a:srgbClr val="1F1F1F">
              <a:alpha val="16000"/>
            </a:srgbClr>
          </a:solidFill>
          <a:ln/>
        </p:spPr>
        <p:txBody>
          <a:bodyPr/>
          <a:lstStyle/>
          <a:p>
            <a:endParaRPr lang="en-US"/>
          </a:p>
        </p:txBody>
      </p:sp>
      <p:sp>
        <p:nvSpPr>
          <p:cNvPr id="8" name="Text 6">
            <a:extLst>
              <a:ext uri="{FF2B5EF4-FFF2-40B4-BE49-F238E27FC236}">
                <a16:creationId xmlns:a16="http://schemas.microsoft.com/office/drawing/2014/main" id="{3FC9D98D-C86E-559C-81F8-B1A5D7C5A8BA}"/>
              </a:ext>
            </a:extLst>
          </p:cNvPr>
          <p:cNvSpPr/>
          <p:nvPr/>
        </p:nvSpPr>
        <p:spPr>
          <a:xfrm>
            <a:off x="3894534" y="3575745"/>
            <a:ext cx="11373978"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dirty="0">
                <a:solidFill>
                  <a:srgbClr val="416180"/>
                </a:solidFill>
                <a:latin typeface="Arial" pitchFamily="34" charset="0"/>
                <a:ea typeface="Arial" pitchFamily="34" charset="-122"/>
                <a:cs typeface="Arial" pitchFamily="34" charset="-120"/>
              </a:rPr>
              <a:t>ISSUE</a:t>
            </a:r>
            <a:endParaRPr lang="en-US" sz="1800" dirty="0"/>
          </a:p>
        </p:txBody>
      </p:sp>
      <p:sp>
        <p:nvSpPr>
          <p:cNvPr id="9" name="Shape 7">
            <a:extLst>
              <a:ext uri="{FF2B5EF4-FFF2-40B4-BE49-F238E27FC236}">
                <a16:creationId xmlns:a16="http://schemas.microsoft.com/office/drawing/2014/main" id="{82DB6C66-A019-98A6-145E-FEF0C35A7857}"/>
              </a:ext>
            </a:extLst>
          </p:cNvPr>
          <p:cNvSpPr/>
          <p:nvPr/>
        </p:nvSpPr>
        <p:spPr>
          <a:xfrm>
            <a:off x="15080754" y="4058543"/>
            <a:ext cx="2159496" cy="9525"/>
          </a:xfrm>
          <a:prstGeom prst="rect">
            <a:avLst/>
          </a:prstGeom>
          <a:solidFill>
            <a:srgbClr val="1F1F1F">
              <a:alpha val="16000"/>
            </a:srgbClr>
          </a:solidFill>
          <a:ln/>
        </p:spPr>
        <p:txBody>
          <a:bodyPr/>
          <a:lstStyle/>
          <a:p>
            <a:endParaRPr lang="en-US"/>
          </a:p>
        </p:txBody>
      </p:sp>
      <p:sp>
        <p:nvSpPr>
          <p:cNvPr id="10" name="Text 8">
            <a:extLst>
              <a:ext uri="{FF2B5EF4-FFF2-40B4-BE49-F238E27FC236}">
                <a16:creationId xmlns:a16="http://schemas.microsoft.com/office/drawing/2014/main" id="{C780FEBF-5A68-AE0D-F5E2-037B8F8902F3}"/>
              </a:ext>
            </a:extLst>
          </p:cNvPr>
          <p:cNvSpPr/>
          <p:nvPr/>
        </p:nvSpPr>
        <p:spPr>
          <a:xfrm>
            <a:off x="15233154" y="3575745"/>
            <a:ext cx="1930896" cy="387548"/>
          </a:xfrm>
          <a:prstGeom prst="rect">
            <a:avLst/>
          </a:prstGeom>
          <a:noFill/>
          <a:ln/>
        </p:spPr>
        <p:txBody>
          <a:bodyPr wrap="square" lIns="25400" tIns="25400" rIns="25400" bIns="25400" rtlCol="0" anchor="ctr">
            <a:normAutofit/>
          </a:bodyPr>
          <a:lstStyle/>
          <a:p>
            <a:pPr marL="0" indent="0" algn="l">
              <a:lnSpc>
                <a:spcPct val="132857"/>
              </a:lnSpc>
              <a:buNone/>
            </a:pPr>
            <a:r>
              <a:rPr lang="en-US" sz="1800" b="1" kern="0" spc="108" dirty="0">
                <a:solidFill>
                  <a:srgbClr val="416180"/>
                </a:solidFill>
                <a:latin typeface="Arial" pitchFamily="34" charset="0"/>
                <a:ea typeface="Arial" pitchFamily="34" charset="-122"/>
                <a:cs typeface="Arial" pitchFamily="34" charset="-120"/>
              </a:rPr>
              <a:t>COUNT</a:t>
            </a:r>
            <a:endParaRPr lang="en-US" sz="1800" dirty="0"/>
          </a:p>
        </p:txBody>
      </p:sp>
      <p:sp>
        <p:nvSpPr>
          <p:cNvPr id="11" name="Shape 9">
            <a:extLst>
              <a:ext uri="{FF2B5EF4-FFF2-40B4-BE49-F238E27FC236}">
                <a16:creationId xmlns:a16="http://schemas.microsoft.com/office/drawing/2014/main" id="{260FA832-1205-1075-222B-4F14FC822FAB}"/>
              </a:ext>
            </a:extLst>
          </p:cNvPr>
          <p:cNvSpPr/>
          <p:nvPr/>
        </p:nvSpPr>
        <p:spPr>
          <a:xfrm>
            <a:off x="1047750" y="5151388"/>
            <a:ext cx="2694384" cy="9525"/>
          </a:xfrm>
          <a:prstGeom prst="rect">
            <a:avLst/>
          </a:prstGeom>
          <a:solidFill>
            <a:srgbClr val="1F1F1F">
              <a:alpha val="16000"/>
            </a:srgbClr>
          </a:solidFill>
          <a:ln/>
        </p:spPr>
        <p:txBody>
          <a:bodyPr/>
          <a:lstStyle/>
          <a:p>
            <a:endParaRPr lang="en-US"/>
          </a:p>
        </p:txBody>
      </p:sp>
      <p:sp>
        <p:nvSpPr>
          <p:cNvPr id="12" name="Text 10">
            <a:extLst>
              <a:ext uri="{FF2B5EF4-FFF2-40B4-BE49-F238E27FC236}">
                <a16:creationId xmlns:a16="http://schemas.microsoft.com/office/drawing/2014/main" id="{40080B3E-7B59-D89A-6D6D-17AEC5E77C9D}"/>
              </a:ext>
            </a:extLst>
          </p:cNvPr>
          <p:cNvSpPr/>
          <p:nvPr/>
        </p:nvSpPr>
        <p:spPr>
          <a:xfrm>
            <a:off x="1200150" y="4220468"/>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Age</a:t>
            </a:r>
            <a:endParaRPr lang="en-US" sz="1950" dirty="0"/>
          </a:p>
        </p:txBody>
      </p:sp>
      <p:sp>
        <p:nvSpPr>
          <p:cNvPr id="13" name="Shape 11">
            <a:extLst>
              <a:ext uri="{FF2B5EF4-FFF2-40B4-BE49-F238E27FC236}">
                <a16:creationId xmlns:a16="http://schemas.microsoft.com/office/drawing/2014/main" id="{9CB8A3CF-D7AD-11FD-094F-8B770393BC0F}"/>
              </a:ext>
            </a:extLst>
          </p:cNvPr>
          <p:cNvSpPr/>
          <p:nvPr/>
        </p:nvSpPr>
        <p:spPr>
          <a:xfrm>
            <a:off x="3742134" y="5151388"/>
            <a:ext cx="11338620" cy="9525"/>
          </a:xfrm>
          <a:prstGeom prst="rect">
            <a:avLst/>
          </a:prstGeom>
          <a:solidFill>
            <a:srgbClr val="1F1F1F">
              <a:alpha val="16000"/>
            </a:srgbClr>
          </a:solidFill>
          <a:ln/>
        </p:spPr>
        <p:txBody>
          <a:bodyPr/>
          <a:lstStyle/>
          <a:p>
            <a:endParaRPr lang="en-US"/>
          </a:p>
        </p:txBody>
      </p:sp>
      <p:sp>
        <p:nvSpPr>
          <p:cNvPr id="14" name="Text 12">
            <a:extLst>
              <a:ext uri="{FF2B5EF4-FFF2-40B4-BE49-F238E27FC236}">
                <a16:creationId xmlns:a16="http://schemas.microsoft.com/office/drawing/2014/main" id="{51AF79DB-9D0D-FF7F-FAC7-BD997EB85858}"/>
              </a:ext>
            </a:extLst>
          </p:cNvPr>
          <p:cNvSpPr/>
          <p:nvPr/>
        </p:nvSpPr>
        <p:spPr>
          <a:xfrm>
            <a:off x="3894534" y="4220468"/>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 don't-know sentinel</a:t>
            </a:r>
            <a:endParaRPr lang="en-US" sz="1950" dirty="0"/>
          </a:p>
        </p:txBody>
      </p:sp>
      <p:sp>
        <p:nvSpPr>
          <p:cNvPr id="15" name="Shape 13">
            <a:extLst>
              <a:ext uri="{FF2B5EF4-FFF2-40B4-BE49-F238E27FC236}">
                <a16:creationId xmlns:a16="http://schemas.microsoft.com/office/drawing/2014/main" id="{337DF658-A1A1-ECC2-966C-D933F878402F}"/>
              </a:ext>
            </a:extLst>
          </p:cNvPr>
          <p:cNvSpPr/>
          <p:nvPr/>
        </p:nvSpPr>
        <p:spPr>
          <a:xfrm>
            <a:off x="15080754" y="5151388"/>
            <a:ext cx="2159496" cy="9525"/>
          </a:xfrm>
          <a:prstGeom prst="rect">
            <a:avLst/>
          </a:prstGeom>
          <a:solidFill>
            <a:srgbClr val="1F1F1F">
              <a:alpha val="16000"/>
            </a:srgbClr>
          </a:solidFill>
          <a:ln/>
        </p:spPr>
        <p:txBody>
          <a:bodyPr/>
          <a:lstStyle/>
          <a:p>
            <a:endParaRPr lang="en-US"/>
          </a:p>
        </p:txBody>
      </p:sp>
      <p:sp>
        <p:nvSpPr>
          <p:cNvPr id="16" name="Text 14">
            <a:extLst>
              <a:ext uri="{FF2B5EF4-FFF2-40B4-BE49-F238E27FC236}">
                <a16:creationId xmlns:a16="http://schemas.microsoft.com/office/drawing/2014/main" id="{CC095D4D-71B1-2901-D606-017DD07FA479}"/>
              </a:ext>
            </a:extLst>
          </p:cNvPr>
          <p:cNvSpPr/>
          <p:nvPr/>
        </p:nvSpPr>
        <p:spPr>
          <a:xfrm>
            <a:off x="15233154" y="4220468"/>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12 rows</a:t>
            </a:r>
            <a:endParaRPr lang="en-US" sz="1950" dirty="0"/>
          </a:p>
        </p:txBody>
      </p:sp>
      <p:sp>
        <p:nvSpPr>
          <p:cNvPr id="17" name="Shape 15">
            <a:extLst>
              <a:ext uri="{FF2B5EF4-FFF2-40B4-BE49-F238E27FC236}">
                <a16:creationId xmlns:a16="http://schemas.microsoft.com/office/drawing/2014/main" id="{BC9CC4BE-6464-2844-13D8-589AA24CA2D9}"/>
              </a:ext>
            </a:extLst>
          </p:cNvPr>
          <p:cNvSpPr/>
          <p:nvPr/>
        </p:nvSpPr>
        <p:spPr>
          <a:xfrm>
            <a:off x="1047750" y="6244233"/>
            <a:ext cx="2694384" cy="9525"/>
          </a:xfrm>
          <a:prstGeom prst="rect">
            <a:avLst/>
          </a:prstGeom>
          <a:solidFill>
            <a:srgbClr val="1F1F1F">
              <a:alpha val="16000"/>
            </a:srgbClr>
          </a:solidFill>
          <a:ln/>
        </p:spPr>
        <p:txBody>
          <a:bodyPr/>
          <a:lstStyle/>
          <a:p>
            <a:endParaRPr lang="en-US"/>
          </a:p>
        </p:txBody>
      </p:sp>
      <p:sp>
        <p:nvSpPr>
          <p:cNvPr id="18" name="Text 16">
            <a:extLst>
              <a:ext uri="{FF2B5EF4-FFF2-40B4-BE49-F238E27FC236}">
                <a16:creationId xmlns:a16="http://schemas.microsoft.com/office/drawing/2014/main" id="{473F20CF-CCDA-65D0-783B-AB2362D91B94}"/>
              </a:ext>
            </a:extLst>
          </p:cNvPr>
          <p:cNvSpPr/>
          <p:nvPr/>
        </p:nvSpPr>
        <p:spPr>
          <a:xfrm>
            <a:off x="1200150" y="5313313"/>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Hours worked</a:t>
            </a:r>
            <a:endParaRPr lang="en-US" sz="1950" dirty="0"/>
          </a:p>
        </p:txBody>
      </p:sp>
      <p:sp>
        <p:nvSpPr>
          <p:cNvPr id="19" name="Shape 17">
            <a:extLst>
              <a:ext uri="{FF2B5EF4-FFF2-40B4-BE49-F238E27FC236}">
                <a16:creationId xmlns:a16="http://schemas.microsoft.com/office/drawing/2014/main" id="{9B551857-1E9F-DCD6-3F4D-C753F51DEDF4}"/>
              </a:ext>
            </a:extLst>
          </p:cNvPr>
          <p:cNvSpPr/>
          <p:nvPr/>
        </p:nvSpPr>
        <p:spPr>
          <a:xfrm>
            <a:off x="3742134" y="6244233"/>
            <a:ext cx="11338620" cy="9525"/>
          </a:xfrm>
          <a:prstGeom prst="rect">
            <a:avLst/>
          </a:prstGeom>
          <a:solidFill>
            <a:srgbClr val="1F1F1F">
              <a:alpha val="16000"/>
            </a:srgbClr>
          </a:solidFill>
          <a:ln/>
        </p:spPr>
        <p:txBody>
          <a:bodyPr/>
          <a:lstStyle/>
          <a:p>
            <a:endParaRPr lang="en-US"/>
          </a:p>
        </p:txBody>
      </p:sp>
      <p:sp>
        <p:nvSpPr>
          <p:cNvPr id="20" name="Text 18">
            <a:extLst>
              <a:ext uri="{FF2B5EF4-FFF2-40B4-BE49-F238E27FC236}">
                <a16:creationId xmlns:a16="http://schemas.microsoft.com/office/drawing/2014/main" id="{2E9BDC0E-8170-3EB5-D9C9-823546249BE6}"/>
              </a:ext>
            </a:extLst>
          </p:cNvPr>
          <p:cNvSpPr/>
          <p:nvPr/>
        </p:nvSpPr>
        <p:spPr>
          <a:xfrm>
            <a:off x="3894534" y="5313313"/>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"99" top-code, plus the "−1" sentinel in 8 more columns</a:t>
            </a:r>
            <a:endParaRPr lang="en-US" sz="1950" dirty="0"/>
          </a:p>
        </p:txBody>
      </p:sp>
      <p:sp>
        <p:nvSpPr>
          <p:cNvPr id="21" name="Shape 19">
            <a:extLst>
              <a:ext uri="{FF2B5EF4-FFF2-40B4-BE49-F238E27FC236}">
                <a16:creationId xmlns:a16="http://schemas.microsoft.com/office/drawing/2014/main" id="{D3F0D947-671A-F1F9-E8E7-FC0AA90948AC}"/>
              </a:ext>
            </a:extLst>
          </p:cNvPr>
          <p:cNvSpPr/>
          <p:nvPr/>
        </p:nvSpPr>
        <p:spPr>
          <a:xfrm>
            <a:off x="15080754" y="6244233"/>
            <a:ext cx="2159496" cy="9525"/>
          </a:xfrm>
          <a:prstGeom prst="rect">
            <a:avLst/>
          </a:prstGeom>
          <a:solidFill>
            <a:srgbClr val="1F1F1F">
              <a:alpha val="16000"/>
            </a:srgbClr>
          </a:solidFill>
          <a:ln/>
        </p:spPr>
        <p:txBody>
          <a:bodyPr/>
          <a:lstStyle/>
          <a:p>
            <a:endParaRPr lang="en-US"/>
          </a:p>
        </p:txBody>
      </p:sp>
      <p:sp>
        <p:nvSpPr>
          <p:cNvPr id="22" name="Text 20">
            <a:extLst>
              <a:ext uri="{FF2B5EF4-FFF2-40B4-BE49-F238E27FC236}">
                <a16:creationId xmlns:a16="http://schemas.microsoft.com/office/drawing/2014/main" id="{5C0DB2B1-C711-CB0F-459E-FEB69D0155FF}"/>
              </a:ext>
            </a:extLst>
          </p:cNvPr>
          <p:cNvSpPr/>
          <p:nvPr/>
        </p:nvSpPr>
        <p:spPr>
          <a:xfrm>
            <a:off x="15233154" y="5313313"/>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88 + ~110 rows</a:t>
            </a:r>
            <a:endParaRPr lang="en-US" sz="1950" dirty="0"/>
          </a:p>
        </p:txBody>
      </p:sp>
      <p:sp>
        <p:nvSpPr>
          <p:cNvPr id="23" name="Shape 21">
            <a:extLst>
              <a:ext uri="{FF2B5EF4-FFF2-40B4-BE49-F238E27FC236}">
                <a16:creationId xmlns:a16="http://schemas.microsoft.com/office/drawing/2014/main" id="{7A39A058-6B64-444E-AF63-07234F4463EC}"/>
              </a:ext>
            </a:extLst>
          </p:cNvPr>
          <p:cNvSpPr/>
          <p:nvPr/>
        </p:nvSpPr>
        <p:spPr>
          <a:xfrm>
            <a:off x="1047750" y="7337078"/>
            <a:ext cx="2694384" cy="9525"/>
          </a:xfrm>
          <a:prstGeom prst="rect">
            <a:avLst/>
          </a:prstGeom>
          <a:solidFill>
            <a:srgbClr val="1F1F1F">
              <a:alpha val="16000"/>
            </a:srgbClr>
          </a:solidFill>
          <a:ln/>
        </p:spPr>
        <p:txBody>
          <a:bodyPr/>
          <a:lstStyle/>
          <a:p>
            <a:endParaRPr lang="en-US"/>
          </a:p>
        </p:txBody>
      </p:sp>
      <p:sp>
        <p:nvSpPr>
          <p:cNvPr id="24" name="Text 22">
            <a:extLst>
              <a:ext uri="{FF2B5EF4-FFF2-40B4-BE49-F238E27FC236}">
                <a16:creationId xmlns:a16="http://schemas.microsoft.com/office/drawing/2014/main" id="{43309DEE-E328-D88C-0FAB-5037CAADCDFB}"/>
              </a:ext>
            </a:extLst>
          </p:cNvPr>
          <p:cNvSpPr/>
          <p:nvPr/>
        </p:nvSpPr>
        <p:spPr>
          <a:xfrm>
            <a:off x="1200150" y="6406158"/>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Industry (ISIC)</a:t>
            </a:r>
            <a:endParaRPr lang="en-US" sz="1950" dirty="0"/>
          </a:p>
        </p:txBody>
      </p:sp>
      <p:sp>
        <p:nvSpPr>
          <p:cNvPr id="25" name="Shape 23">
            <a:extLst>
              <a:ext uri="{FF2B5EF4-FFF2-40B4-BE49-F238E27FC236}">
                <a16:creationId xmlns:a16="http://schemas.microsoft.com/office/drawing/2014/main" id="{E6E9C535-B76D-143D-8C5E-F0BC46C6ED7B}"/>
              </a:ext>
            </a:extLst>
          </p:cNvPr>
          <p:cNvSpPr/>
          <p:nvPr/>
        </p:nvSpPr>
        <p:spPr>
          <a:xfrm>
            <a:off x="3742134" y="7337078"/>
            <a:ext cx="11338620" cy="9525"/>
          </a:xfrm>
          <a:prstGeom prst="rect">
            <a:avLst/>
          </a:prstGeom>
          <a:solidFill>
            <a:srgbClr val="1F1F1F">
              <a:alpha val="16000"/>
            </a:srgbClr>
          </a:solidFill>
          <a:ln/>
        </p:spPr>
        <p:txBody>
          <a:bodyPr/>
          <a:lstStyle/>
          <a:p>
            <a:endParaRPr lang="en-US"/>
          </a:p>
        </p:txBody>
      </p:sp>
      <p:sp>
        <p:nvSpPr>
          <p:cNvPr id="26" name="Text 24">
            <a:extLst>
              <a:ext uri="{FF2B5EF4-FFF2-40B4-BE49-F238E27FC236}">
                <a16:creationId xmlns:a16="http://schemas.microsoft.com/office/drawing/2014/main" id="{203F343C-5AE0-D10F-7927-EE8F6D69FFB2}"/>
              </a:ext>
            </a:extLst>
          </p:cNvPr>
          <p:cNvSpPr/>
          <p:nvPr/>
        </p:nvSpPr>
        <p:spPr>
          <a:xfrm>
            <a:off x="3894534" y="6406158"/>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leading zero stripped on export</a:t>
            </a:r>
            <a:endParaRPr lang="en-US" sz="1950" dirty="0"/>
          </a:p>
        </p:txBody>
      </p:sp>
      <p:sp>
        <p:nvSpPr>
          <p:cNvPr id="27" name="Shape 25">
            <a:extLst>
              <a:ext uri="{FF2B5EF4-FFF2-40B4-BE49-F238E27FC236}">
                <a16:creationId xmlns:a16="http://schemas.microsoft.com/office/drawing/2014/main" id="{C21865E1-926F-D35B-FF46-3961FD2EA580}"/>
              </a:ext>
            </a:extLst>
          </p:cNvPr>
          <p:cNvSpPr/>
          <p:nvPr/>
        </p:nvSpPr>
        <p:spPr>
          <a:xfrm>
            <a:off x="15080754" y="7337078"/>
            <a:ext cx="2159496" cy="9525"/>
          </a:xfrm>
          <a:prstGeom prst="rect">
            <a:avLst/>
          </a:prstGeom>
          <a:solidFill>
            <a:srgbClr val="1F1F1F">
              <a:alpha val="16000"/>
            </a:srgbClr>
          </a:solidFill>
          <a:ln/>
        </p:spPr>
        <p:txBody>
          <a:bodyPr/>
          <a:lstStyle/>
          <a:p>
            <a:endParaRPr lang="en-US"/>
          </a:p>
        </p:txBody>
      </p:sp>
      <p:sp>
        <p:nvSpPr>
          <p:cNvPr id="28" name="Text 26">
            <a:extLst>
              <a:ext uri="{FF2B5EF4-FFF2-40B4-BE49-F238E27FC236}">
                <a16:creationId xmlns:a16="http://schemas.microsoft.com/office/drawing/2014/main" id="{055C364D-D92E-2498-CD54-A35FD30CEB2B}"/>
              </a:ext>
            </a:extLst>
          </p:cNvPr>
          <p:cNvSpPr/>
          <p:nvPr/>
        </p:nvSpPr>
        <p:spPr>
          <a:xfrm>
            <a:off x="15233154" y="6406158"/>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206 rows</a:t>
            </a:r>
            <a:endParaRPr lang="en-US" sz="1950" dirty="0"/>
          </a:p>
        </p:txBody>
      </p:sp>
      <p:sp>
        <p:nvSpPr>
          <p:cNvPr id="29" name="Shape 27">
            <a:extLst>
              <a:ext uri="{FF2B5EF4-FFF2-40B4-BE49-F238E27FC236}">
                <a16:creationId xmlns:a16="http://schemas.microsoft.com/office/drawing/2014/main" id="{29440DCF-2EE5-11BF-E2B3-8AC39601220C}"/>
              </a:ext>
            </a:extLst>
          </p:cNvPr>
          <p:cNvSpPr/>
          <p:nvPr/>
        </p:nvSpPr>
        <p:spPr>
          <a:xfrm>
            <a:off x="1047750" y="8429923"/>
            <a:ext cx="2694384" cy="9525"/>
          </a:xfrm>
          <a:prstGeom prst="rect">
            <a:avLst/>
          </a:prstGeom>
          <a:solidFill>
            <a:srgbClr val="1F1F1F">
              <a:alpha val="16000"/>
            </a:srgbClr>
          </a:solidFill>
          <a:ln/>
        </p:spPr>
        <p:txBody>
          <a:bodyPr/>
          <a:lstStyle/>
          <a:p>
            <a:endParaRPr lang="en-US"/>
          </a:p>
        </p:txBody>
      </p:sp>
      <p:sp>
        <p:nvSpPr>
          <p:cNvPr id="30" name="Text 28">
            <a:extLst>
              <a:ext uri="{FF2B5EF4-FFF2-40B4-BE49-F238E27FC236}">
                <a16:creationId xmlns:a16="http://schemas.microsoft.com/office/drawing/2014/main" id="{75773F21-13B4-8F24-1246-9BDCA5C370EA}"/>
              </a:ext>
            </a:extLst>
          </p:cNvPr>
          <p:cNvSpPr/>
          <p:nvPr/>
        </p:nvSpPr>
        <p:spPr>
          <a:xfrm>
            <a:off x="1200150" y="7499003"/>
            <a:ext cx="247041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Occupation (ISCO)</a:t>
            </a:r>
            <a:endParaRPr lang="en-US" sz="1950" dirty="0"/>
          </a:p>
        </p:txBody>
      </p:sp>
      <p:sp>
        <p:nvSpPr>
          <p:cNvPr id="31" name="Shape 29">
            <a:extLst>
              <a:ext uri="{FF2B5EF4-FFF2-40B4-BE49-F238E27FC236}">
                <a16:creationId xmlns:a16="http://schemas.microsoft.com/office/drawing/2014/main" id="{6D8F8FFF-2442-C831-10BC-3A9B7A10064D}"/>
              </a:ext>
            </a:extLst>
          </p:cNvPr>
          <p:cNvSpPr/>
          <p:nvPr/>
        </p:nvSpPr>
        <p:spPr>
          <a:xfrm>
            <a:off x="3742134" y="8429923"/>
            <a:ext cx="11338620" cy="9525"/>
          </a:xfrm>
          <a:prstGeom prst="rect">
            <a:avLst/>
          </a:prstGeom>
          <a:solidFill>
            <a:srgbClr val="1F1F1F">
              <a:alpha val="16000"/>
            </a:srgbClr>
          </a:solidFill>
          <a:ln/>
        </p:spPr>
        <p:txBody>
          <a:bodyPr/>
          <a:lstStyle/>
          <a:p>
            <a:endParaRPr lang="en-US"/>
          </a:p>
        </p:txBody>
      </p:sp>
      <p:sp>
        <p:nvSpPr>
          <p:cNvPr id="32" name="Text 30">
            <a:extLst>
              <a:ext uri="{FF2B5EF4-FFF2-40B4-BE49-F238E27FC236}">
                <a16:creationId xmlns:a16="http://schemas.microsoft.com/office/drawing/2014/main" id="{3C6DAB3E-A5A0-119E-1C25-EC32858982FA}"/>
              </a:ext>
            </a:extLst>
          </p:cNvPr>
          <p:cNvSpPr/>
          <p:nvPr/>
        </p:nvSpPr>
        <p:spPr>
          <a:xfrm>
            <a:off x="3894534" y="7499003"/>
            <a:ext cx="11373978"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non-4-digit codes, same pattern</a:t>
            </a:r>
            <a:endParaRPr lang="en-US" sz="1950" dirty="0"/>
          </a:p>
        </p:txBody>
      </p:sp>
      <p:sp>
        <p:nvSpPr>
          <p:cNvPr id="33" name="Shape 31">
            <a:extLst>
              <a:ext uri="{FF2B5EF4-FFF2-40B4-BE49-F238E27FC236}">
                <a16:creationId xmlns:a16="http://schemas.microsoft.com/office/drawing/2014/main" id="{9548134C-A382-DADF-D3F5-4A26FC06CBF9}"/>
              </a:ext>
            </a:extLst>
          </p:cNvPr>
          <p:cNvSpPr/>
          <p:nvPr/>
        </p:nvSpPr>
        <p:spPr>
          <a:xfrm>
            <a:off x="15080754" y="8429923"/>
            <a:ext cx="2159496" cy="9525"/>
          </a:xfrm>
          <a:prstGeom prst="rect">
            <a:avLst/>
          </a:prstGeom>
          <a:solidFill>
            <a:srgbClr val="1F1F1F">
              <a:alpha val="16000"/>
            </a:srgbClr>
          </a:solidFill>
          <a:ln/>
        </p:spPr>
        <p:txBody>
          <a:bodyPr/>
          <a:lstStyle/>
          <a:p>
            <a:endParaRPr lang="en-US"/>
          </a:p>
        </p:txBody>
      </p:sp>
      <p:sp>
        <p:nvSpPr>
          <p:cNvPr id="34" name="Text 32">
            <a:extLst>
              <a:ext uri="{FF2B5EF4-FFF2-40B4-BE49-F238E27FC236}">
                <a16:creationId xmlns:a16="http://schemas.microsoft.com/office/drawing/2014/main" id="{1B87F55A-360A-E58E-FBBB-CB686BA20566}"/>
              </a:ext>
            </a:extLst>
          </p:cNvPr>
          <p:cNvSpPr/>
          <p:nvPr/>
        </p:nvSpPr>
        <p:spPr>
          <a:xfrm>
            <a:off x="15233154" y="7499003"/>
            <a:ext cx="1930896" cy="816620"/>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12 rows</a:t>
            </a:r>
            <a:endParaRPr lang="en-US" sz="1950" dirty="0"/>
          </a:p>
        </p:txBody>
      </p:sp>
      <p:sp>
        <p:nvSpPr>
          <p:cNvPr id="35" name="Text 33">
            <a:extLst>
              <a:ext uri="{FF2B5EF4-FFF2-40B4-BE49-F238E27FC236}">
                <a16:creationId xmlns:a16="http://schemas.microsoft.com/office/drawing/2014/main" id="{5CDFA285-C95F-2FA4-660F-2B80A6619B15}"/>
              </a:ext>
            </a:extLst>
          </p:cNvPr>
          <p:cNvSpPr/>
          <p:nvPr/>
        </p:nvSpPr>
        <p:spPr>
          <a:xfrm>
            <a:off x="1200150" y="8591848"/>
            <a:ext cx="2470416" cy="818852"/>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panelid</a:t>
            </a:r>
            <a:endParaRPr lang="en-US" sz="1950" dirty="0"/>
          </a:p>
        </p:txBody>
      </p:sp>
      <p:sp>
        <p:nvSpPr>
          <p:cNvPr id="36" name="Text 34">
            <a:extLst>
              <a:ext uri="{FF2B5EF4-FFF2-40B4-BE49-F238E27FC236}">
                <a16:creationId xmlns:a16="http://schemas.microsoft.com/office/drawing/2014/main" id="{FF83A119-ABD4-76CF-A19F-FD1D65CDD02E}"/>
              </a:ext>
            </a:extLst>
          </p:cNvPr>
          <p:cNvSpPr/>
          <p:nvPr/>
        </p:nvSpPr>
        <p:spPr>
          <a:xfrm>
            <a:off x="3894534" y="8591848"/>
            <a:ext cx="11373978" cy="818852"/>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named like a unique ID, only 18 distinct values — flagged so it's never used as a join key</a:t>
            </a:r>
            <a:endParaRPr lang="en-US" sz="1950" dirty="0"/>
          </a:p>
        </p:txBody>
      </p:sp>
      <p:sp>
        <p:nvSpPr>
          <p:cNvPr id="37" name="Text 35">
            <a:extLst>
              <a:ext uri="{FF2B5EF4-FFF2-40B4-BE49-F238E27FC236}">
                <a16:creationId xmlns:a16="http://schemas.microsoft.com/office/drawing/2014/main" id="{C2CF0099-489C-CF54-2D3F-CBCA2681E7EE}"/>
              </a:ext>
            </a:extLst>
          </p:cNvPr>
          <p:cNvSpPr/>
          <p:nvPr/>
        </p:nvSpPr>
        <p:spPr>
          <a:xfrm>
            <a:off x="15233154" y="8591848"/>
            <a:ext cx="1930896" cy="818852"/>
          </a:xfrm>
          <a:prstGeom prst="rect">
            <a:avLst/>
          </a:prstGeom>
          <a:noFill/>
          <a:ln/>
        </p:spPr>
        <p:txBody>
          <a:bodyPr wrap="square" lIns="25400" tIns="25400" rIns="25400" bIns="25400" rtlCol="0" anchor="ctr">
            <a:normAutofit/>
          </a:bodyPr>
          <a:lstStyle/>
          <a:p>
            <a:pPr marL="0" indent="0" algn="l">
              <a:lnSpc>
                <a:spcPct val="130000"/>
              </a:lnSpc>
              <a:buNone/>
            </a:pPr>
            <a:r>
              <a:rPr lang="en-US" sz="1950" dirty="0">
                <a:solidFill>
                  <a:srgbClr val="1D1F20"/>
                </a:solidFill>
                <a:latin typeface="Arial" pitchFamily="34" charset="0"/>
                <a:ea typeface="Arial" pitchFamily="34" charset="-122"/>
                <a:cs typeface="Arial" pitchFamily="34" charset="-120"/>
              </a:rPr>
              <a:t>13,853 rows</a:t>
            </a:r>
            <a:endParaRPr lang="en-US" sz="1950" dirty="0"/>
          </a:p>
        </p:txBody>
      </p:sp>
    </p:spTree>
    <p:extLst>
      <p:ext uri="{BB962C8B-B14F-4D97-AF65-F5344CB8AC3E}">
        <p14:creationId xmlns:p14="http://schemas.microsoft.com/office/powerpoint/2010/main" val="2008319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FINDINGS</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What the Data Shows</a:t>
            </a:r>
            <a:endParaRPr lang="en-US" sz="4650" dirty="0"/>
          </a:p>
        </p:txBody>
      </p:sp>
      <p:sp>
        <p:nvSpPr>
          <p:cNvPr id="4" name="Shape 2"/>
          <p:cNvSpPr/>
          <p:nvPr/>
        </p:nvSpPr>
        <p:spPr>
          <a:xfrm>
            <a:off x="1047750" y="2501503"/>
            <a:ext cx="8893820" cy="7023497"/>
          </a:xfrm>
          <a:prstGeom prst="rect">
            <a:avLst/>
          </a:prstGeom>
          <a:ln w="9525">
            <a:solidFill>
              <a:srgbClr val="1F1F1F">
                <a:alpha val="16000"/>
              </a:srgbClr>
            </a:solidFill>
            <a:prstDash val="solid"/>
          </a:ln>
        </p:spPr>
        <p:txBody>
          <a:bodyPr/>
          <a:lstStyle/>
          <a:p>
            <a:endParaRPr lang="en-US"/>
          </a:p>
        </p:txBody>
      </p:sp>
      <p:sp>
        <p:nvSpPr>
          <p:cNvPr id="5" name="Text 3"/>
          <p:cNvSpPr/>
          <p:nvPr/>
        </p:nvSpPr>
        <p:spPr>
          <a:xfrm>
            <a:off x="952500"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6" name="Text 4"/>
          <p:cNvSpPr/>
          <p:nvPr/>
        </p:nvSpPr>
        <p:spPr>
          <a:xfrm>
            <a:off x="9914334" y="24062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7" name="Text 5"/>
          <p:cNvSpPr/>
          <p:nvPr/>
        </p:nvSpPr>
        <p:spPr>
          <a:xfrm>
            <a:off x="9525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991433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pic>
        <p:nvPicPr>
          <p:cNvPr id="9" name="Image 0" descr="preencoded.png"/>
          <p:cNvPicPr>
            <a:picLocks noChangeAspect="1"/>
          </p:cNvPicPr>
          <p:nvPr/>
        </p:nvPicPr>
        <p:blipFill>
          <a:blip r:embed="rId3"/>
          <a:stretch>
            <a:fillRect/>
          </a:stretch>
        </p:blipFill>
        <p:spPr>
          <a:xfrm>
            <a:off x="1247775" y="4115544"/>
            <a:ext cx="8493770" cy="3795415"/>
          </a:xfrm>
          <a:prstGeom prst="rect">
            <a:avLst/>
          </a:prstGeom>
        </p:spPr>
      </p:pic>
      <p:sp>
        <p:nvSpPr>
          <p:cNvPr id="10" name="Shape 7"/>
          <p:cNvSpPr/>
          <p:nvPr/>
        </p:nvSpPr>
        <p:spPr>
          <a:xfrm>
            <a:off x="10398770" y="3437632"/>
            <a:ext cx="6841331" cy="3808065"/>
          </a:xfrm>
          <a:prstGeom prst="rect">
            <a:avLst/>
          </a:prstGeom>
          <a:ln w="9525">
            <a:solidFill>
              <a:srgbClr val="1F1F1F">
                <a:alpha val="16000"/>
              </a:srgbClr>
            </a:solidFill>
            <a:prstDash val="solid"/>
          </a:ln>
        </p:spPr>
        <p:txBody>
          <a:bodyPr/>
          <a:lstStyle/>
          <a:p>
            <a:endParaRPr lang="en-US"/>
          </a:p>
        </p:txBody>
      </p:sp>
      <p:sp>
        <p:nvSpPr>
          <p:cNvPr id="11" name="Text 8"/>
          <p:cNvSpPr/>
          <p:nvPr/>
        </p:nvSpPr>
        <p:spPr>
          <a:xfrm>
            <a:off x="10303520" y="3342382"/>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2" name="Text 9"/>
          <p:cNvSpPr/>
          <p:nvPr/>
        </p:nvSpPr>
        <p:spPr>
          <a:xfrm>
            <a:off x="17212866" y="3342382"/>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3" name="Text 10"/>
          <p:cNvSpPr/>
          <p:nvPr/>
        </p:nvSpPr>
        <p:spPr>
          <a:xfrm>
            <a:off x="10303520" y="7016204"/>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4" name="Text 11"/>
          <p:cNvSpPr/>
          <p:nvPr/>
        </p:nvSpPr>
        <p:spPr>
          <a:xfrm>
            <a:off x="17212866" y="7016204"/>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pic>
        <p:nvPicPr>
          <p:cNvPr id="15" name="Image 1" descr="preencoded.png"/>
          <p:cNvPicPr>
            <a:picLocks noChangeAspect="1"/>
          </p:cNvPicPr>
          <p:nvPr/>
        </p:nvPicPr>
        <p:blipFill>
          <a:blip r:embed="rId4"/>
          <a:stretch>
            <a:fillRect/>
          </a:stretch>
        </p:blipFill>
        <p:spPr>
          <a:xfrm>
            <a:off x="10636895" y="3675757"/>
            <a:ext cx="6365081" cy="3331815"/>
          </a:xfrm>
          <a:prstGeom prst="rect">
            <a:avLst/>
          </a:prstGeom>
        </p:spPr>
      </p:pic>
      <p:sp>
        <p:nvSpPr>
          <p:cNvPr id="16" name="Text 12"/>
          <p:cNvSpPr/>
          <p:nvPr/>
        </p:nvSpPr>
        <p:spPr>
          <a:xfrm>
            <a:off x="10398770" y="7550497"/>
            <a:ext cx="7046571" cy="1626325"/>
          </a:xfrm>
          <a:prstGeom prst="rect">
            <a:avLst/>
          </a:prstGeom>
          <a:noFill/>
          <a:ln/>
        </p:spPr>
        <p:txBody>
          <a:bodyPr wrap="square" lIns="25400" tIns="25400" rIns="25400" bIns="25400" rtlCol="0" anchor="t">
            <a:normAutofit fontScale="92500" lnSpcReduction="10000"/>
          </a:bodyPr>
          <a:lstStyle/>
          <a:p>
            <a:pPr marL="0" indent="0" algn="l">
              <a:lnSpc>
                <a:spcPct val="128571"/>
              </a:lnSpc>
              <a:buNone/>
            </a:pPr>
            <a:r>
              <a:rPr lang="en-US" sz="1800" dirty="0">
                <a:solidFill>
                  <a:srgbClr val="1D1F20"/>
                </a:solidFill>
                <a:latin typeface="Arial" pitchFamily="34" charset="0"/>
                <a:ea typeface="Arial" pitchFamily="34" charset="-122"/>
                <a:cs typeface="Arial" pitchFamily="34" charset="-120"/>
              </a:rPr>
              <a:t>Service and sales roles, and elementary occupations, are the two largest groups. The work week centers on </a:t>
            </a:r>
            <a:r>
              <a:rPr lang="en-US" sz="1800" b="1" dirty="0">
                <a:solidFill>
                  <a:srgbClr val="1D1F20"/>
                </a:solidFill>
                <a:latin typeface="Arial" pitchFamily="34" charset="0"/>
                <a:ea typeface="Arial" pitchFamily="34" charset="-122"/>
                <a:cs typeface="Arial" pitchFamily="34" charset="-120"/>
              </a:rPr>
              <a:t>44.5 hours </a:t>
            </a:r>
            <a:r>
              <a:rPr lang="en-US" sz="1800" dirty="0">
                <a:solidFill>
                  <a:srgbClr val="1D1F20"/>
                </a:solidFill>
                <a:latin typeface="Arial" pitchFamily="34" charset="0"/>
                <a:ea typeface="Arial" pitchFamily="34" charset="-122"/>
                <a:cs typeface="Arial" pitchFamily="34" charset="-120"/>
              </a:rPr>
              <a:t>, with a visible spike at the standard 40-hour week.</a:t>
            </a:r>
            <a:endParaRPr lang="en-US" sz="1800" dirty="0"/>
          </a:p>
          <a:p>
            <a:pPr marL="0" indent="0" algn="l">
              <a:lnSpc>
                <a:spcPct val="128571"/>
              </a:lnSpc>
              <a:buNone/>
            </a:pPr>
            <a:r>
              <a:rPr lang="en-US" sz="1800" dirty="0">
                <a:solidFill>
                  <a:srgbClr val="1D1F20"/>
                </a:solidFill>
                <a:latin typeface="Arial" pitchFamily="34" charset="0"/>
                <a:ea typeface="Arial" pitchFamily="34" charset="-122"/>
                <a:cs typeface="Arial" pitchFamily="34" charset="-120"/>
              </a:rPr>
              <a:t>Occupation and industry codes are fully resolved for every coded row (4,789/4,789) — the leading-zero fix from earlier holds up at scale.</a:t>
            </a:r>
            <a:endParaRPr lang="en-US" sz="1800" dirty="0"/>
          </a:p>
        </p:txBody>
      </p:sp>
      <p:sp>
        <p:nvSpPr>
          <p:cNvPr id="17" name="Cloned 17"/>
          <p:cNvSpPr/>
          <p:nvPr/>
        </p:nvSpPr>
        <p:spPr>
          <a:xfrm>
            <a:off x="1247775" y="3570000"/>
            <a:ext cx="849377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OCCUPATION MIX (ISCO MAJOR GROUP)</a:t>
            </a:r>
            <a:endParaRPr lang="en-US" sz="1800" dirty="0"/>
          </a:p>
        </p:txBody>
      </p:sp>
      <p:sp>
        <p:nvSpPr>
          <p:cNvPr id="18" name="Cloned 18"/>
          <p:cNvSpPr/>
          <p:nvPr/>
        </p:nvSpPr>
        <p:spPr>
          <a:xfrm>
            <a:off x="10398770" y="2900000"/>
            <a:ext cx="6841331"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HOURS WORKED DISTRIBUTION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CREDIT</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Tools &amp; Teammates</a:t>
            </a:r>
            <a:endParaRPr lang="en-US" sz="4650" dirty="0"/>
          </a:p>
        </p:txBody>
      </p:sp>
      <p:sp>
        <p:nvSpPr>
          <p:cNvPr id="4" name="Shape 2"/>
          <p:cNvSpPr/>
          <p:nvPr/>
        </p:nvSpPr>
        <p:spPr>
          <a:xfrm>
            <a:off x="1047750" y="2577703"/>
            <a:ext cx="5143500" cy="6947297"/>
          </a:xfrm>
          <a:prstGeom prst="rect">
            <a:avLst/>
          </a:prstGeom>
          <a:ln w="9525">
            <a:solidFill>
              <a:srgbClr val="1F1F1F">
                <a:alpha val="16000"/>
              </a:srgbClr>
            </a:solidFill>
            <a:prstDash val="solid"/>
          </a:ln>
        </p:spPr>
        <p:txBody>
          <a:bodyPr/>
          <a:lstStyle/>
          <a:p>
            <a:endParaRPr lang="en-US"/>
          </a:p>
        </p:txBody>
      </p:sp>
      <p:sp>
        <p:nvSpPr>
          <p:cNvPr id="5" name="Text 3"/>
          <p:cNvSpPr/>
          <p:nvPr/>
        </p:nvSpPr>
        <p:spPr>
          <a:xfrm>
            <a:off x="952500"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6" name="Text 4"/>
          <p:cNvSpPr/>
          <p:nvPr/>
        </p:nvSpPr>
        <p:spPr>
          <a:xfrm>
            <a:off x="6164014"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7" name="Text 5"/>
          <p:cNvSpPr/>
          <p:nvPr/>
        </p:nvSpPr>
        <p:spPr>
          <a:xfrm>
            <a:off x="9525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61640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1400175" y="2930128"/>
            <a:ext cx="4882515"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1D1F20"/>
                </a:solidFill>
                <a:latin typeface="Arial" pitchFamily="34" charset="0"/>
                <a:ea typeface="Arial" pitchFamily="34" charset="-122"/>
                <a:cs typeface="Arial" pitchFamily="34" charset="-120"/>
              </a:rPr>
              <a:t>Imran &amp; Nic</a:t>
            </a:r>
            <a:endParaRPr lang="en-US" sz="2250" dirty="0"/>
          </a:p>
        </p:txBody>
      </p:sp>
      <p:sp>
        <p:nvSpPr>
          <p:cNvPr id="10" name="Text 8"/>
          <p:cNvSpPr/>
          <p:nvPr/>
        </p:nvSpPr>
        <p:spPr>
          <a:xfrm>
            <a:off x="1400175" y="3506391"/>
            <a:ext cx="4571810" cy="2381075"/>
          </a:xfrm>
          <a:prstGeom prst="rect">
            <a:avLst/>
          </a:prstGeom>
          <a:noFill/>
          <a:ln/>
        </p:spPr>
        <p:txBody>
          <a:bodyPr wrap="square" lIns="25400" tIns="25400" rIns="25400" bIns="25400" rtlCol="0" anchor="t">
            <a:normAutofit fontScale="92500" lnSpcReduction="20000"/>
          </a:bodyPr>
          <a:lstStyle/>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Worked through the cleaning script's logic together — the sentinel corrections and validation rules were built as a team.</a:t>
            </a:r>
            <a:endParaRPr lang="en-US" sz="1650" dirty="0"/>
          </a:p>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Together we built the −1 age-sentinel correction and the flag-only checks for hours, skip-logic and monetary outliers.</a:t>
            </a:r>
            <a:endParaRPr lang="en-US" sz="1650" dirty="0"/>
          </a:p>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Reviewed the free-text consolidation threshold together too — checked by eye before trusting any auto-merge.</a:t>
            </a:r>
            <a:endParaRPr lang="en-US" sz="1650" dirty="0"/>
          </a:p>
        </p:txBody>
      </p:sp>
      <p:sp>
        <p:nvSpPr>
          <p:cNvPr id="11" name="Shape 9"/>
          <p:cNvSpPr/>
          <p:nvPr/>
        </p:nvSpPr>
        <p:spPr>
          <a:xfrm>
            <a:off x="6572250" y="2577703"/>
            <a:ext cx="5143500" cy="6947297"/>
          </a:xfrm>
          <a:prstGeom prst="rect">
            <a:avLst/>
          </a:prstGeom>
          <a:ln w="9525">
            <a:solidFill>
              <a:srgbClr val="1F1F1F">
                <a:alpha val="16000"/>
              </a:srgbClr>
            </a:solidFill>
            <a:prstDash val="solid"/>
          </a:ln>
        </p:spPr>
        <p:txBody>
          <a:bodyPr/>
          <a:lstStyle/>
          <a:p>
            <a:endParaRPr lang="en-US"/>
          </a:p>
        </p:txBody>
      </p:sp>
      <p:sp>
        <p:nvSpPr>
          <p:cNvPr id="12" name="Text 10"/>
          <p:cNvSpPr/>
          <p:nvPr/>
        </p:nvSpPr>
        <p:spPr>
          <a:xfrm>
            <a:off x="6477000"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3" name="Text 11"/>
          <p:cNvSpPr/>
          <p:nvPr/>
        </p:nvSpPr>
        <p:spPr>
          <a:xfrm>
            <a:off x="11688514"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4" name="Text 12"/>
          <p:cNvSpPr/>
          <p:nvPr/>
        </p:nvSpPr>
        <p:spPr>
          <a:xfrm>
            <a:off x="64770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5" name="Text 13"/>
          <p:cNvSpPr/>
          <p:nvPr/>
        </p:nvSpPr>
        <p:spPr>
          <a:xfrm>
            <a:off x="116885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6" name="Text 14"/>
          <p:cNvSpPr/>
          <p:nvPr/>
        </p:nvSpPr>
        <p:spPr>
          <a:xfrm>
            <a:off x="6924675" y="2930128"/>
            <a:ext cx="4882515"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1D1F20"/>
                </a:solidFill>
                <a:latin typeface="Arial" pitchFamily="34" charset="0"/>
                <a:ea typeface="Arial" pitchFamily="34" charset="-122"/>
                <a:cs typeface="Arial" pitchFamily="34" charset="-120"/>
              </a:rPr>
              <a:t>Claude</a:t>
            </a:r>
            <a:endParaRPr lang="en-US" sz="2250" dirty="0"/>
          </a:p>
        </p:txBody>
      </p:sp>
      <p:sp>
        <p:nvSpPr>
          <p:cNvPr id="17" name="Text 15"/>
          <p:cNvSpPr/>
          <p:nvPr/>
        </p:nvSpPr>
        <p:spPr>
          <a:xfrm>
            <a:off x="6924675" y="3506391"/>
            <a:ext cx="4571810" cy="2695400"/>
          </a:xfrm>
          <a:prstGeom prst="rect">
            <a:avLst/>
          </a:prstGeom>
          <a:noFill/>
          <a:ln/>
        </p:spPr>
        <p:txBody>
          <a:bodyPr wrap="square" lIns="25400" tIns="25400" rIns="25400" bIns="25400" rtlCol="0" anchor="t">
            <a:normAutofit fontScale="92500"/>
          </a:bodyPr>
          <a:lstStyle/>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Drafted the README, the problem-inventory scaffolding and the free-text consolidation logic — every suggestion checked against real examples before it was trusted.</a:t>
            </a:r>
            <a:endParaRPr lang="en-US" sz="1650" dirty="0"/>
          </a:p>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Also caught two real rendering bugs by looking at the charts, and ran the self-audit that found four checks which could never have caught a real problem.</a:t>
            </a:r>
            <a:endParaRPr lang="en-US" sz="1650" dirty="0"/>
          </a:p>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Co-authored the design spec and plan docs that scoped each phase before any code was written.</a:t>
            </a:r>
            <a:endParaRPr lang="en-US" sz="1650" dirty="0"/>
          </a:p>
        </p:txBody>
      </p:sp>
      <p:sp>
        <p:nvSpPr>
          <p:cNvPr id="18" name="Shape 16"/>
          <p:cNvSpPr/>
          <p:nvPr/>
        </p:nvSpPr>
        <p:spPr>
          <a:xfrm>
            <a:off x="12096750" y="2577703"/>
            <a:ext cx="5143500" cy="6947297"/>
          </a:xfrm>
          <a:prstGeom prst="rect">
            <a:avLst/>
          </a:prstGeom>
          <a:ln w="9525">
            <a:solidFill>
              <a:srgbClr val="1F1F1F">
                <a:alpha val="16000"/>
              </a:srgbClr>
            </a:solidFill>
            <a:prstDash val="solid"/>
          </a:ln>
        </p:spPr>
        <p:txBody>
          <a:bodyPr/>
          <a:lstStyle/>
          <a:p>
            <a:endParaRPr lang="en-US"/>
          </a:p>
        </p:txBody>
      </p:sp>
      <p:sp>
        <p:nvSpPr>
          <p:cNvPr id="19" name="Text 17"/>
          <p:cNvSpPr/>
          <p:nvPr/>
        </p:nvSpPr>
        <p:spPr>
          <a:xfrm>
            <a:off x="12001500"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0" name="Text 18"/>
          <p:cNvSpPr/>
          <p:nvPr/>
        </p:nvSpPr>
        <p:spPr>
          <a:xfrm>
            <a:off x="17213014"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1" name="Text 19"/>
          <p:cNvSpPr/>
          <p:nvPr/>
        </p:nvSpPr>
        <p:spPr>
          <a:xfrm>
            <a:off x="120015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2" name="Text 20"/>
          <p:cNvSpPr/>
          <p:nvPr/>
        </p:nvSpPr>
        <p:spPr>
          <a:xfrm>
            <a:off x="172130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23" name="Text 21"/>
          <p:cNvSpPr/>
          <p:nvPr/>
        </p:nvSpPr>
        <p:spPr>
          <a:xfrm>
            <a:off x="12449175" y="2930128"/>
            <a:ext cx="4882515" cy="481012"/>
          </a:xfrm>
          <a:prstGeom prst="rect">
            <a:avLst/>
          </a:prstGeom>
          <a:noFill/>
          <a:ln/>
        </p:spPr>
        <p:txBody>
          <a:bodyPr wrap="square" lIns="25400" tIns="25400" rIns="25400" bIns="25400" rtlCol="0" anchor="t">
            <a:normAutofit/>
          </a:bodyPr>
          <a:lstStyle/>
          <a:p>
            <a:pPr marL="0" indent="0" algn="l">
              <a:lnSpc>
                <a:spcPct val="136765"/>
              </a:lnSpc>
              <a:buNone/>
            </a:pPr>
            <a:r>
              <a:rPr lang="en-US" sz="2250" b="1" dirty="0">
                <a:solidFill>
                  <a:srgbClr val="1D1F20"/>
                </a:solidFill>
                <a:latin typeface="Arial" pitchFamily="34" charset="0"/>
                <a:ea typeface="Arial" pitchFamily="34" charset="-122"/>
                <a:cs typeface="Arial" pitchFamily="34" charset="-120"/>
              </a:rPr>
              <a:t>Python toolchain</a:t>
            </a:r>
            <a:endParaRPr lang="en-US" sz="2250" dirty="0"/>
          </a:p>
        </p:txBody>
      </p:sp>
      <p:sp>
        <p:nvSpPr>
          <p:cNvPr id="24" name="Text 22"/>
          <p:cNvSpPr/>
          <p:nvPr/>
        </p:nvSpPr>
        <p:spPr>
          <a:xfrm>
            <a:off x="12449175" y="3506391"/>
            <a:ext cx="4571810" cy="2390600"/>
          </a:xfrm>
          <a:prstGeom prst="rect">
            <a:avLst/>
          </a:prstGeom>
          <a:noFill/>
          <a:ln/>
        </p:spPr>
        <p:txBody>
          <a:bodyPr wrap="square" lIns="25400" tIns="25400" rIns="25400" bIns="25400" rtlCol="0" anchor="t">
            <a:normAutofit/>
          </a:bodyPr>
          <a:lstStyle/>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pandas for the pipeline, rapidfuzz for near-duplicate detection, one command ( run_pipeline.py) to run it end to end.</a:t>
            </a:r>
            <a:endParaRPr lang="en-US" sz="1650" dirty="0"/>
          </a:p>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Plus openpyxl for the ISCO structure file, and python-docx for these weekly reports.</a:t>
            </a:r>
            <a:endParaRPr lang="en-US" sz="1650" dirty="0"/>
          </a:p>
          <a:p>
            <a:pPr marL="0" indent="0" algn="l">
              <a:lnSpc>
                <a:spcPct val="126923"/>
              </a:lnSpc>
              <a:buNone/>
            </a:pPr>
            <a:r>
              <a:rPr lang="en-US" sz="1650" dirty="0">
                <a:solidFill>
                  <a:srgbClr val="1D1F20">
                    <a:alpha val="85000"/>
                  </a:srgbClr>
                </a:solidFill>
                <a:latin typeface="Arial" pitchFamily="34" charset="0"/>
                <a:ea typeface="Arial" pitchFamily="34" charset="-122"/>
                <a:cs typeface="Arial" pitchFamily="34" charset="-120"/>
              </a:rPr>
              <a:t>One command, run_pipeline.py, chains every stage end to end — the brief's core requirement.</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252" dirty="0">
                <a:solidFill>
                  <a:srgbClr val="416180"/>
                </a:solidFill>
                <a:latin typeface="Arial" pitchFamily="34" charset="0"/>
                <a:ea typeface="Arial" pitchFamily="34" charset="-122"/>
                <a:cs typeface="Arial" pitchFamily="34" charset="-120"/>
              </a:rPr>
              <a:t>LOOKING AHEAD</a:t>
            </a:r>
            <a:endParaRPr lang="en-US" sz="1800" dirty="0"/>
          </a:p>
        </p:txBody>
      </p:sp>
      <p:sp>
        <p:nvSpPr>
          <p:cNvPr id="3" name="Text 1"/>
          <p:cNvSpPr/>
          <p:nvPr/>
        </p:nvSpPr>
        <p:spPr>
          <a:xfrm>
            <a:off x="1047750" y="1382911"/>
            <a:ext cx="17811750" cy="699492"/>
          </a:xfrm>
          <a:prstGeom prst="rect">
            <a:avLst/>
          </a:prstGeom>
          <a:noFill/>
          <a:ln/>
        </p:spPr>
        <p:txBody>
          <a:bodyPr wrap="square" lIns="25400" tIns="25400" rIns="25400" bIns="25400" rtlCol="0" anchor="t">
            <a:normAutofit lnSpcReduction="10000"/>
          </a:bodyPr>
          <a:lstStyle/>
          <a:p>
            <a:pPr marL="0" indent="0" algn="l">
              <a:lnSpc>
                <a:spcPct val="97803"/>
              </a:lnSpc>
              <a:buNone/>
            </a:pPr>
            <a:r>
              <a:rPr lang="en-US" sz="4650" b="1" kern="0" spc="-70" dirty="0">
                <a:solidFill>
                  <a:srgbClr val="1D1F20"/>
                </a:solidFill>
                <a:latin typeface="Arial" pitchFamily="34" charset="0"/>
                <a:ea typeface="Arial" pitchFamily="34" charset="-122"/>
                <a:cs typeface="Arial" pitchFamily="34" charset="-120"/>
              </a:rPr>
              <a:t>Next: Imputation</a:t>
            </a:r>
            <a:endParaRPr lang="en-US" sz="4650" dirty="0"/>
          </a:p>
        </p:txBody>
      </p:sp>
      <p:sp>
        <p:nvSpPr>
          <p:cNvPr id="4" name="Shape 2"/>
          <p:cNvSpPr/>
          <p:nvPr/>
        </p:nvSpPr>
        <p:spPr>
          <a:xfrm>
            <a:off x="1047750" y="2577703"/>
            <a:ext cx="7791450" cy="6947297"/>
          </a:xfrm>
          <a:prstGeom prst="rect">
            <a:avLst/>
          </a:prstGeom>
          <a:ln w="9525">
            <a:solidFill>
              <a:srgbClr val="1F1F1F">
                <a:alpha val="16000"/>
              </a:srgbClr>
            </a:solidFill>
            <a:prstDash val="solid"/>
          </a:ln>
        </p:spPr>
        <p:txBody>
          <a:bodyPr/>
          <a:lstStyle/>
          <a:p>
            <a:endParaRPr lang="en-US"/>
          </a:p>
        </p:txBody>
      </p:sp>
      <p:sp>
        <p:nvSpPr>
          <p:cNvPr id="5" name="Text 3"/>
          <p:cNvSpPr/>
          <p:nvPr/>
        </p:nvSpPr>
        <p:spPr>
          <a:xfrm>
            <a:off x="952500"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6" name="Text 4"/>
          <p:cNvSpPr/>
          <p:nvPr/>
        </p:nvSpPr>
        <p:spPr>
          <a:xfrm>
            <a:off x="8811964"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7" name="Text 5"/>
          <p:cNvSpPr/>
          <p:nvPr/>
        </p:nvSpPr>
        <p:spPr>
          <a:xfrm>
            <a:off x="95250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8" name="Text 6"/>
          <p:cNvSpPr/>
          <p:nvPr/>
        </p:nvSpPr>
        <p:spPr>
          <a:xfrm>
            <a:off x="881196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9" name="Text 7"/>
          <p:cNvSpPr/>
          <p:nvPr/>
        </p:nvSpPr>
        <p:spPr>
          <a:xfrm>
            <a:off x="1476375" y="3006328"/>
            <a:ext cx="762762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80" dirty="0">
                <a:solidFill>
                  <a:srgbClr val="416180"/>
                </a:solidFill>
                <a:latin typeface="Arial" pitchFamily="34" charset="0"/>
                <a:ea typeface="Arial" pitchFamily="34" charset="-122"/>
                <a:cs typeface="Arial" pitchFamily="34" charset="-120"/>
              </a:rPr>
              <a:t>THE PLAN</a:t>
            </a:r>
            <a:endParaRPr lang="en-US" sz="1800" dirty="0"/>
          </a:p>
        </p:txBody>
      </p:sp>
      <p:sp>
        <p:nvSpPr>
          <p:cNvPr id="10" name="Text 8"/>
          <p:cNvSpPr/>
          <p:nvPr/>
        </p:nvSpPr>
        <p:spPr>
          <a:xfrm>
            <a:off x="1476375" y="3531989"/>
            <a:ext cx="7142226" cy="2766838"/>
          </a:xfrm>
          <a:prstGeom prst="rect">
            <a:avLst/>
          </a:prstGeom>
          <a:noFill/>
          <a:ln/>
        </p:spPr>
        <p:txBody>
          <a:bodyPr wrap="square" lIns="25400" tIns="25400" rIns="25400" bIns="25400" rtlCol="0" anchor="t">
            <a:normAutofit fontScale="85000" lnSpcReduction="2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Learn and apply imputation methods — mean, median, mode — to the incidental missingness the diagnostics have already separated out from structural skips.</a:t>
            </a:r>
            <a:endParaRPr lang="en-US" sz="2250" dirty="0"/>
          </a:p>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classify_missingness() already separated structural skips (100% explained by 7 documented gates) from incidental gaps — only the incidental share gets imputed.</a:t>
            </a:r>
            <a:endParaRPr lang="en-US" sz="2250" dirty="0"/>
          </a:p>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Mean/median for numeric fields, mode for categorical — chosen per-column, not blanket-applied.</a:t>
            </a:r>
            <a:endParaRPr lang="en-US" sz="2250" dirty="0"/>
          </a:p>
        </p:txBody>
      </p:sp>
      <p:sp>
        <p:nvSpPr>
          <p:cNvPr id="11" name="Shape 9"/>
          <p:cNvSpPr/>
          <p:nvPr/>
        </p:nvSpPr>
        <p:spPr>
          <a:xfrm>
            <a:off x="9448800" y="2577703"/>
            <a:ext cx="7791450" cy="6947297"/>
          </a:xfrm>
          <a:prstGeom prst="rect">
            <a:avLst/>
          </a:prstGeom>
          <a:ln w="9525">
            <a:solidFill>
              <a:srgbClr val="1F1F1F">
                <a:alpha val="16000"/>
              </a:srgbClr>
            </a:solidFill>
            <a:prstDash val="solid"/>
          </a:ln>
        </p:spPr>
        <p:txBody>
          <a:bodyPr/>
          <a:lstStyle/>
          <a:p>
            <a:endParaRPr lang="en-US"/>
          </a:p>
        </p:txBody>
      </p:sp>
      <p:sp>
        <p:nvSpPr>
          <p:cNvPr id="12" name="Text 10"/>
          <p:cNvSpPr/>
          <p:nvPr/>
        </p:nvSpPr>
        <p:spPr>
          <a:xfrm>
            <a:off x="9353550"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3" name="Text 11"/>
          <p:cNvSpPr/>
          <p:nvPr/>
        </p:nvSpPr>
        <p:spPr>
          <a:xfrm>
            <a:off x="17213014" y="2482453"/>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4" name="Text 12"/>
          <p:cNvSpPr/>
          <p:nvPr/>
        </p:nvSpPr>
        <p:spPr>
          <a:xfrm>
            <a:off x="9353550"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5" name="Text 13"/>
          <p:cNvSpPr/>
          <p:nvPr/>
        </p:nvSpPr>
        <p:spPr>
          <a:xfrm>
            <a:off x="17213014" y="9295507"/>
            <a:ext cx="19868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dirty="0">
                <a:solidFill>
                  <a:srgbClr val="1D1F20">
                    <a:alpha val="50000"/>
                  </a:srgbClr>
                </a:solidFill>
                <a:latin typeface="Arial" pitchFamily="34" charset="0"/>
                <a:ea typeface="Arial" pitchFamily="34" charset="-122"/>
                <a:cs typeface="Arial" pitchFamily="34" charset="-120"/>
              </a:rPr>
              <a:t>+</a:t>
            </a:r>
            <a:endParaRPr lang="en-US" sz="1650" dirty="0"/>
          </a:p>
        </p:txBody>
      </p:sp>
      <p:sp>
        <p:nvSpPr>
          <p:cNvPr id="16" name="Text 14"/>
          <p:cNvSpPr/>
          <p:nvPr/>
        </p:nvSpPr>
        <p:spPr>
          <a:xfrm>
            <a:off x="9877425" y="3006328"/>
            <a:ext cx="762762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kern="0" spc="180" dirty="0">
                <a:solidFill>
                  <a:srgbClr val="416180"/>
                </a:solidFill>
                <a:latin typeface="Arial" pitchFamily="34" charset="0"/>
                <a:ea typeface="Arial" pitchFamily="34" charset="-122"/>
                <a:cs typeface="Arial" pitchFamily="34" charset="-120"/>
              </a:rPr>
              <a:t>THE OPEN ITEM</a:t>
            </a:r>
            <a:endParaRPr lang="en-US" sz="1800" dirty="0"/>
          </a:p>
        </p:txBody>
      </p:sp>
      <p:sp>
        <p:nvSpPr>
          <p:cNvPr id="17" name="Text 15"/>
          <p:cNvSpPr/>
          <p:nvPr/>
        </p:nvSpPr>
        <p:spPr>
          <a:xfrm>
            <a:off x="9877425" y="3531989"/>
            <a:ext cx="7142226" cy="2766838"/>
          </a:xfrm>
          <a:prstGeom prst="rect">
            <a:avLst/>
          </a:prstGeom>
          <a:noFill/>
          <a:ln/>
        </p:spPr>
        <p:txBody>
          <a:bodyPr wrap="square" lIns="25400" tIns="25400" rIns="25400" bIns="25400" rtlCol="0" anchor="t">
            <a:normAutofit fontScale="92500" lnSpcReduction="20000"/>
          </a:bodyPr>
          <a:lstStyle/>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Still waiting on the evaluating office's assigned cleaning-scope variables — not a blocker so far, since the pipeline runs against the full dataset either way.</a:t>
            </a:r>
            <a:endParaRPr lang="en-US" sz="2250" dirty="0"/>
          </a:p>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If scope arrives later, it'll change which columns get flagged for cleaning, not how the pipeline itself runs.</a:t>
            </a:r>
            <a:endParaRPr lang="en-US" sz="2250" dirty="0"/>
          </a:p>
          <a:p>
            <a:pPr marL="0" indent="0" algn="l">
              <a:lnSpc>
                <a:spcPct val="136765"/>
              </a:lnSpc>
              <a:buNone/>
            </a:pPr>
            <a:r>
              <a:rPr lang="en-US" sz="2250" dirty="0">
                <a:solidFill>
                  <a:srgbClr val="1D1F20"/>
                </a:solidFill>
                <a:latin typeface="Arial" pitchFamily="34" charset="0"/>
                <a:ea typeface="Arial" pitchFamily="34" charset="-122"/>
                <a:cs typeface="Arial" pitchFamily="34" charset="-120"/>
              </a:rPr>
              <a:t>In the meantime, the self-audit habit continues — assume a clean check is broken until proven otherwise.</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574</TotalTime>
  <Words>4101</Words>
  <Application>Microsoft Office PowerPoint</Application>
  <PresentationFormat>Custom</PresentationFormat>
  <Paragraphs>367</Paragraphs>
  <Slides>19</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Baqir Elcock (Work Study Student)</cp:lastModifiedBy>
  <cp:revision>25</cp:revision>
  <dcterms:created xsi:type="dcterms:W3CDTF">2026-08-17T10:30:45Z</dcterms:created>
  <dcterms:modified xsi:type="dcterms:W3CDTF">2026-08-21T03:42:58Z</dcterms:modified>
</cp:coreProperties>
</file>